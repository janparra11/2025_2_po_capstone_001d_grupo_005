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8288000" cy="10287000"/>
  <p:notesSz cx="6858000" cy="9144000"/>
  <p:embeddedFontLst>
    <p:embeddedFont>
      <p:font typeface="Codec Pro" panose="020B0604020202020204" charset="0"/>
      <p:regular r:id="rId22"/>
    </p:embeddedFont>
    <p:embeddedFont>
      <p:font typeface="Codec Pro Bold" panose="020B0604020202020204" charset="0"/>
      <p:regular r:id="rId23"/>
    </p:embeddedFont>
    <p:embeddedFont>
      <p:font typeface="Codec Pro Ultra-Bold" panose="020B0604020202020204" charset="0"/>
      <p:regular r:id="rId24"/>
    </p:embeddedFont>
    <p:embeddedFont>
      <p:font typeface="Open Sans" panose="020B0606030504020204" pitchFamily="34" charset="0"/>
      <p:regular r:id="rId25"/>
    </p:embeddedFont>
    <p:embeddedFont>
      <p:font typeface="Open Sans Bold" panose="020B0604020202020204" charset="0"/>
      <p:regular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12" Type="http://schemas.openxmlformats.org/officeDocument/2006/relationships/image" Target="../media/image13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svg"/><Relationship Id="rId10" Type="http://schemas.openxmlformats.org/officeDocument/2006/relationships/image" Target="../media/image11.sv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png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png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30.png"/><Relationship Id="rId7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31.png"/><Relationship Id="rId7" Type="http://schemas.openxmlformats.org/officeDocument/2006/relationships/image" Target="../media/image29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32.png"/><Relationship Id="rId7" Type="http://schemas.openxmlformats.org/officeDocument/2006/relationships/image" Target="../media/image30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33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33.png"/><Relationship Id="rId7" Type="http://schemas.openxmlformats.org/officeDocument/2006/relationships/image" Target="../media/image31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svg"/><Relationship Id="rId7" Type="http://schemas.openxmlformats.org/officeDocument/2006/relationships/image" Target="../media/image41.sv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.png"/><Relationship Id="rId5" Type="http://schemas.openxmlformats.org/officeDocument/2006/relationships/image" Target="../media/image39.svg"/><Relationship Id="rId4" Type="http://schemas.openxmlformats.org/officeDocument/2006/relationships/image" Target="../media/image3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sv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sv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4473314" y="3362833"/>
            <a:ext cx="11004028" cy="11004028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709156" y="-3873534"/>
            <a:ext cx="6992743" cy="6992743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067784" y="-1310077"/>
            <a:ext cx="3572442" cy="3572442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7839938" y="8754618"/>
            <a:ext cx="3572442" cy="3572442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Freeform 14"/>
          <p:cNvSpPr/>
          <p:nvPr/>
        </p:nvSpPr>
        <p:spPr>
          <a:xfrm>
            <a:off x="1237868" y="1915025"/>
            <a:ext cx="5665973" cy="6456949"/>
          </a:xfrm>
          <a:custGeom>
            <a:avLst/>
            <a:gdLst/>
            <a:ahLst/>
            <a:cxnLst/>
            <a:rect l="l" t="t" r="r" b="b"/>
            <a:pathLst>
              <a:path w="5665973" h="6456949">
                <a:moveTo>
                  <a:pt x="0" y="0"/>
                </a:moveTo>
                <a:lnTo>
                  <a:pt x="5665973" y="0"/>
                </a:lnTo>
                <a:lnTo>
                  <a:pt x="5665973" y="6456950"/>
                </a:lnTo>
                <a:lnTo>
                  <a:pt x="0" y="64569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5" name="TextBox 15"/>
          <p:cNvSpPr txBox="1"/>
          <p:nvPr/>
        </p:nvSpPr>
        <p:spPr>
          <a:xfrm>
            <a:off x="7347030" y="3066619"/>
            <a:ext cx="9703103" cy="30632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60"/>
              </a:lnSpc>
            </a:pPr>
            <a:r>
              <a:rPr lang="en-US" sz="6400" b="1">
                <a:solidFill>
                  <a:srgbClr val="000000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Plataforma de Gestión Digital para el Ingreso de Vehículos al Taller – PepsiCo Chile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347030" y="6358472"/>
            <a:ext cx="8929922" cy="15380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8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Integrantes: </a:t>
            </a:r>
          </a:p>
          <a:p>
            <a:pPr marL="604521" lvl="1" indent="-302261" algn="l">
              <a:lnSpc>
                <a:spcPts val="3024"/>
              </a:lnSpc>
              <a:buFont typeface="Arial"/>
              <a:buChar char="•"/>
            </a:pPr>
            <a:r>
              <a:rPr lang="en-US" sz="28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Tihare Maldonado</a:t>
            </a:r>
          </a:p>
          <a:p>
            <a:pPr marL="604521" lvl="1" indent="-302261" algn="l">
              <a:lnSpc>
                <a:spcPts val="3024"/>
              </a:lnSpc>
              <a:buFont typeface="Arial"/>
              <a:buChar char="•"/>
            </a:pPr>
            <a:r>
              <a:rPr lang="en-US" sz="28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Janis Montecino</a:t>
            </a:r>
          </a:p>
          <a:p>
            <a:pPr marL="604521" lvl="1" indent="-302261" algn="l">
              <a:lnSpc>
                <a:spcPts val="3024"/>
              </a:lnSpc>
              <a:buFont typeface="Arial"/>
              <a:buChar char="•"/>
            </a:pPr>
            <a:r>
              <a:rPr lang="en-US" sz="28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Matías Morales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-5772023" y="1820000"/>
            <a:ext cx="11903008" cy="6647001"/>
            <a:chOff x="0" y="0"/>
            <a:chExt cx="3134949" cy="175065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134949" cy="1750651"/>
            </a:xfrm>
            <a:custGeom>
              <a:avLst/>
              <a:gdLst/>
              <a:ahLst/>
              <a:cxnLst/>
              <a:rect l="l" t="t" r="r" b="b"/>
              <a:pathLst>
                <a:path w="3134949" h="1750651">
                  <a:moveTo>
                    <a:pt x="1567474" y="0"/>
                  </a:moveTo>
                  <a:cubicBezTo>
                    <a:pt x="701782" y="0"/>
                    <a:pt x="0" y="391896"/>
                    <a:pt x="0" y="875325"/>
                  </a:cubicBezTo>
                  <a:cubicBezTo>
                    <a:pt x="0" y="1358754"/>
                    <a:pt x="701782" y="1750651"/>
                    <a:pt x="1567474" y="1750651"/>
                  </a:cubicBezTo>
                  <a:cubicBezTo>
                    <a:pt x="2433166" y="1750651"/>
                    <a:pt x="3134949" y="1358754"/>
                    <a:pt x="3134949" y="875325"/>
                  </a:cubicBezTo>
                  <a:cubicBezTo>
                    <a:pt x="3134949" y="391896"/>
                    <a:pt x="2433166" y="0"/>
                    <a:pt x="1567474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293901" y="126023"/>
              <a:ext cx="2547146" cy="14605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2700000">
            <a:off x="1029216" y="3683031"/>
            <a:ext cx="2699495" cy="2857725"/>
            <a:chOff x="0" y="0"/>
            <a:chExt cx="527860" cy="558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27860" cy="558800"/>
            </a:xfrm>
            <a:custGeom>
              <a:avLst/>
              <a:gdLst/>
              <a:ahLst/>
              <a:cxnLst/>
              <a:rect l="l" t="t" r="r" b="b"/>
              <a:pathLst>
                <a:path w="527860" h="558800">
                  <a:moveTo>
                    <a:pt x="0" y="558800"/>
                  </a:moveTo>
                  <a:cubicBezTo>
                    <a:pt x="0" y="411634"/>
                    <a:pt x="56306" y="267731"/>
                    <a:pt x="154607" y="163669"/>
                  </a:cubicBezTo>
                  <a:cubicBezTo>
                    <a:pt x="252907" y="59606"/>
                    <a:pt x="388842" y="0"/>
                    <a:pt x="527860" y="0"/>
                  </a:cubicBezTo>
                  <a:lnTo>
                    <a:pt x="527860" y="285081"/>
                  </a:lnTo>
                  <a:cubicBezTo>
                    <a:pt x="459763" y="285081"/>
                    <a:pt x="393179" y="314278"/>
                    <a:pt x="345027" y="365251"/>
                  </a:cubicBezTo>
                  <a:cubicBezTo>
                    <a:pt x="296877" y="416225"/>
                    <a:pt x="269296" y="486712"/>
                    <a:pt x="269296" y="558800"/>
                  </a:cubicBezTo>
                  <a:lnTo>
                    <a:pt x="0" y="558800"/>
                  </a:lnTo>
                  <a:close/>
                </a:path>
              </a:pathLst>
            </a:custGeom>
            <a:gradFill rotWithShape="1">
              <a:gsLst>
                <a:gs pos="0">
                  <a:srgbClr val="7CCE6B">
                    <a:alpha val="100000"/>
                  </a:srgbClr>
                </a:gs>
                <a:gs pos="100000">
                  <a:srgbClr val="D8FFD0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19968" y="88900"/>
              <a:ext cx="287923" cy="342900"/>
            </a:xfrm>
            <a:prstGeom prst="rect">
              <a:avLst/>
            </a:prstGeom>
          </p:spPr>
          <p:txBody>
            <a:bodyPr lIns="47591" tIns="47591" rIns="47591" bIns="47591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8100000">
            <a:off x="3878569" y="4613088"/>
            <a:ext cx="2800289" cy="2847169"/>
            <a:chOff x="0" y="0"/>
            <a:chExt cx="558800" cy="568155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58800" cy="568155"/>
            </a:xfrm>
            <a:custGeom>
              <a:avLst/>
              <a:gdLst/>
              <a:ahLst/>
              <a:cxnLst/>
              <a:rect l="l" t="t" r="r" b="b"/>
              <a:pathLst>
                <a:path w="558800" h="568155">
                  <a:moveTo>
                    <a:pt x="0" y="568155"/>
                  </a:moveTo>
                  <a:cubicBezTo>
                    <a:pt x="0" y="418525"/>
                    <a:pt x="59606" y="272213"/>
                    <a:pt x="163669" y="166409"/>
                  </a:cubicBezTo>
                  <a:cubicBezTo>
                    <a:pt x="267731" y="60604"/>
                    <a:pt x="411634" y="0"/>
                    <a:pt x="558800" y="0"/>
                  </a:cubicBezTo>
                  <a:lnTo>
                    <a:pt x="558800" y="289853"/>
                  </a:lnTo>
                  <a:cubicBezTo>
                    <a:pt x="486712" y="289853"/>
                    <a:pt x="416225" y="319539"/>
                    <a:pt x="365251" y="371365"/>
                  </a:cubicBezTo>
                  <a:cubicBezTo>
                    <a:pt x="314278" y="423193"/>
                    <a:pt x="285081" y="494860"/>
                    <a:pt x="285081" y="568155"/>
                  </a:cubicBezTo>
                  <a:lnTo>
                    <a:pt x="0" y="568155"/>
                  </a:lnTo>
                  <a:close/>
                </a:path>
              </a:pathLst>
            </a:custGeom>
            <a:gradFill rotWithShape="1">
              <a:gsLst>
                <a:gs pos="0">
                  <a:srgbClr val="7CCE6B">
                    <a:alpha val="100000"/>
                  </a:srgbClr>
                </a:gs>
                <a:gs pos="100000">
                  <a:srgbClr val="D8FFD0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s-CL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27000" y="91026"/>
              <a:ext cx="304800" cy="348003"/>
            </a:xfrm>
            <a:prstGeom prst="rect">
              <a:avLst/>
            </a:prstGeom>
          </p:spPr>
          <p:txBody>
            <a:bodyPr lIns="47591" tIns="47591" rIns="47591" bIns="47591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8100000">
            <a:off x="9748708" y="4544101"/>
            <a:ext cx="2800289" cy="2864745"/>
            <a:chOff x="0" y="0"/>
            <a:chExt cx="558800" cy="571662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58800" cy="571662"/>
            </a:xfrm>
            <a:custGeom>
              <a:avLst/>
              <a:gdLst/>
              <a:ahLst/>
              <a:cxnLst/>
              <a:rect l="l" t="t" r="r" b="b"/>
              <a:pathLst>
                <a:path w="558800" h="571662">
                  <a:moveTo>
                    <a:pt x="0" y="571662"/>
                  </a:moveTo>
                  <a:cubicBezTo>
                    <a:pt x="0" y="421109"/>
                    <a:pt x="59606" y="273894"/>
                    <a:pt x="163669" y="167436"/>
                  </a:cubicBezTo>
                  <a:cubicBezTo>
                    <a:pt x="267731" y="60978"/>
                    <a:pt x="411634" y="0"/>
                    <a:pt x="558800" y="0"/>
                  </a:cubicBezTo>
                  <a:lnTo>
                    <a:pt x="558800" y="291643"/>
                  </a:lnTo>
                  <a:cubicBezTo>
                    <a:pt x="486712" y="291643"/>
                    <a:pt x="416225" y="321512"/>
                    <a:pt x="365251" y="373658"/>
                  </a:cubicBezTo>
                  <a:cubicBezTo>
                    <a:pt x="314278" y="425805"/>
                    <a:pt x="285081" y="497915"/>
                    <a:pt x="285081" y="571662"/>
                  </a:cubicBezTo>
                  <a:lnTo>
                    <a:pt x="0" y="571662"/>
                  </a:lnTo>
                  <a:close/>
                </a:path>
              </a:pathLst>
            </a:custGeom>
            <a:gradFill rotWithShape="1">
              <a:gsLst>
                <a:gs pos="0">
                  <a:srgbClr val="FF6767">
                    <a:alpha val="100000"/>
                  </a:srgbClr>
                </a:gs>
                <a:gs pos="100000">
                  <a:srgbClr val="FFD1D1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s-CL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27000" y="91823"/>
              <a:ext cx="304800" cy="349916"/>
            </a:xfrm>
            <a:prstGeom prst="rect">
              <a:avLst/>
            </a:prstGeom>
          </p:spPr>
          <p:txBody>
            <a:bodyPr lIns="47591" tIns="47591" rIns="47591" bIns="47591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 rot="2700000">
            <a:off x="6825756" y="3597302"/>
            <a:ext cx="2791813" cy="2863893"/>
            <a:chOff x="0" y="0"/>
            <a:chExt cx="544736" cy="5588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44736" cy="558800"/>
            </a:xfrm>
            <a:custGeom>
              <a:avLst/>
              <a:gdLst/>
              <a:ahLst/>
              <a:cxnLst/>
              <a:rect l="l" t="t" r="r" b="b"/>
              <a:pathLst>
                <a:path w="544736" h="558800">
                  <a:moveTo>
                    <a:pt x="0" y="558800"/>
                  </a:moveTo>
                  <a:cubicBezTo>
                    <a:pt x="0" y="411634"/>
                    <a:pt x="58106" y="267731"/>
                    <a:pt x="159549" y="163669"/>
                  </a:cubicBezTo>
                  <a:cubicBezTo>
                    <a:pt x="260993" y="59606"/>
                    <a:pt x="401273" y="0"/>
                    <a:pt x="544736" y="0"/>
                  </a:cubicBezTo>
                  <a:lnTo>
                    <a:pt x="544736" y="285081"/>
                  </a:lnTo>
                  <a:cubicBezTo>
                    <a:pt x="474462" y="285081"/>
                    <a:pt x="405749" y="314278"/>
                    <a:pt x="356058" y="365251"/>
                  </a:cubicBezTo>
                  <a:cubicBezTo>
                    <a:pt x="306368" y="416225"/>
                    <a:pt x="277906" y="486712"/>
                    <a:pt x="277906" y="558800"/>
                  </a:cubicBezTo>
                  <a:lnTo>
                    <a:pt x="0" y="558800"/>
                  </a:lnTo>
                  <a:close/>
                </a:path>
              </a:pathLst>
            </a:custGeom>
            <a:gradFill rotWithShape="1">
              <a:gsLst>
                <a:gs pos="0">
                  <a:srgbClr val="FFDA6A">
                    <a:alpha val="100000"/>
                  </a:srgbClr>
                </a:gs>
                <a:gs pos="100000">
                  <a:srgbClr val="FFF7DE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s-CL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23804" y="88900"/>
              <a:ext cx="297129" cy="342900"/>
            </a:xfrm>
            <a:prstGeom prst="rect">
              <a:avLst/>
            </a:prstGeom>
          </p:spPr>
          <p:txBody>
            <a:bodyPr lIns="47591" tIns="47591" rIns="47591" bIns="47591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 rot="2700000">
            <a:off x="12686344" y="3547693"/>
            <a:ext cx="2803741" cy="2857725"/>
            <a:chOff x="0" y="0"/>
            <a:chExt cx="548244" cy="5588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548244" cy="558800"/>
            </a:xfrm>
            <a:custGeom>
              <a:avLst/>
              <a:gdLst/>
              <a:ahLst/>
              <a:cxnLst/>
              <a:rect l="l" t="t" r="r" b="b"/>
              <a:pathLst>
                <a:path w="548244" h="558800">
                  <a:moveTo>
                    <a:pt x="0" y="558800"/>
                  </a:moveTo>
                  <a:cubicBezTo>
                    <a:pt x="0" y="411634"/>
                    <a:pt x="58480" y="267731"/>
                    <a:pt x="160577" y="163669"/>
                  </a:cubicBezTo>
                  <a:cubicBezTo>
                    <a:pt x="262674" y="59606"/>
                    <a:pt x="403858" y="0"/>
                    <a:pt x="548244" y="0"/>
                  </a:cubicBezTo>
                  <a:lnTo>
                    <a:pt x="548244" y="285081"/>
                  </a:lnTo>
                  <a:cubicBezTo>
                    <a:pt x="477518" y="285081"/>
                    <a:pt x="408362" y="314278"/>
                    <a:pt x="358351" y="365251"/>
                  </a:cubicBezTo>
                  <a:cubicBezTo>
                    <a:pt x="308341" y="416225"/>
                    <a:pt x="279695" y="486712"/>
                    <a:pt x="279695" y="558800"/>
                  </a:cubicBezTo>
                  <a:lnTo>
                    <a:pt x="0" y="558800"/>
                  </a:lnTo>
                  <a:close/>
                </a:path>
              </a:pathLst>
            </a:custGeom>
            <a:gradFill rotWithShape="1">
              <a:gsLst>
                <a:gs pos="0">
                  <a:srgbClr val="FF6767">
                    <a:alpha val="100000"/>
                  </a:srgbClr>
                </a:gs>
                <a:gs pos="100000">
                  <a:srgbClr val="FFD1D1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s-CL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24601" y="88900"/>
              <a:ext cx="299042" cy="342900"/>
            </a:xfrm>
            <a:prstGeom prst="rect">
              <a:avLst/>
            </a:prstGeom>
          </p:spPr>
          <p:txBody>
            <a:bodyPr lIns="47591" tIns="47591" rIns="47591" bIns="47591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20" name="Freeform 20"/>
          <p:cNvSpPr/>
          <p:nvPr/>
        </p:nvSpPr>
        <p:spPr>
          <a:xfrm>
            <a:off x="6969955" y="4575504"/>
            <a:ext cx="2503415" cy="907488"/>
          </a:xfrm>
          <a:custGeom>
            <a:avLst/>
            <a:gdLst/>
            <a:ahLst/>
            <a:cxnLst/>
            <a:rect l="l" t="t" r="r" b="b"/>
            <a:pathLst>
              <a:path w="2503415" h="907488">
                <a:moveTo>
                  <a:pt x="0" y="0"/>
                </a:moveTo>
                <a:lnTo>
                  <a:pt x="2503414" y="0"/>
                </a:lnTo>
                <a:lnTo>
                  <a:pt x="2503414" y="907488"/>
                </a:lnTo>
                <a:lnTo>
                  <a:pt x="0" y="90748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1" name="Freeform 21"/>
          <p:cNvSpPr/>
          <p:nvPr/>
        </p:nvSpPr>
        <p:spPr>
          <a:xfrm>
            <a:off x="1155945" y="4658149"/>
            <a:ext cx="2503415" cy="907488"/>
          </a:xfrm>
          <a:custGeom>
            <a:avLst/>
            <a:gdLst/>
            <a:ahLst/>
            <a:cxnLst/>
            <a:rect l="l" t="t" r="r" b="b"/>
            <a:pathLst>
              <a:path w="2503415" h="907488">
                <a:moveTo>
                  <a:pt x="0" y="0"/>
                </a:moveTo>
                <a:lnTo>
                  <a:pt x="2503415" y="0"/>
                </a:lnTo>
                <a:lnTo>
                  <a:pt x="2503415" y="907488"/>
                </a:lnTo>
                <a:lnTo>
                  <a:pt x="0" y="90748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2" name="Freeform 22"/>
          <p:cNvSpPr/>
          <p:nvPr/>
        </p:nvSpPr>
        <p:spPr>
          <a:xfrm flipV="1">
            <a:off x="4027006" y="5522729"/>
            <a:ext cx="2503415" cy="907488"/>
          </a:xfrm>
          <a:custGeom>
            <a:avLst/>
            <a:gdLst/>
            <a:ahLst/>
            <a:cxnLst/>
            <a:rect l="l" t="t" r="r" b="b"/>
            <a:pathLst>
              <a:path w="2503415" h="907488">
                <a:moveTo>
                  <a:pt x="0" y="907488"/>
                </a:moveTo>
                <a:lnTo>
                  <a:pt x="2503414" y="907488"/>
                </a:lnTo>
                <a:lnTo>
                  <a:pt x="2503414" y="0"/>
                </a:lnTo>
                <a:lnTo>
                  <a:pt x="0" y="0"/>
                </a:lnTo>
                <a:lnTo>
                  <a:pt x="0" y="907488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3" name="Freeform 23"/>
          <p:cNvSpPr/>
          <p:nvPr/>
        </p:nvSpPr>
        <p:spPr>
          <a:xfrm flipV="1">
            <a:off x="9969614" y="5504137"/>
            <a:ext cx="2503415" cy="907488"/>
          </a:xfrm>
          <a:custGeom>
            <a:avLst/>
            <a:gdLst/>
            <a:ahLst/>
            <a:cxnLst/>
            <a:rect l="l" t="t" r="r" b="b"/>
            <a:pathLst>
              <a:path w="2503415" h="907488">
                <a:moveTo>
                  <a:pt x="0" y="907488"/>
                </a:moveTo>
                <a:lnTo>
                  <a:pt x="2503414" y="907488"/>
                </a:lnTo>
                <a:lnTo>
                  <a:pt x="2503414" y="0"/>
                </a:lnTo>
                <a:lnTo>
                  <a:pt x="0" y="0"/>
                </a:lnTo>
                <a:lnTo>
                  <a:pt x="0" y="907488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4" name="Freeform 24"/>
          <p:cNvSpPr/>
          <p:nvPr/>
        </p:nvSpPr>
        <p:spPr>
          <a:xfrm>
            <a:off x="13609667" y="4181645"/>
            <a:ext cx="1153874" cy="1322492"/>
          </a:xfrm>
          <a:custGeom>
            <a:avLst/>
            <a:gdLst/>
            <a:ahLst/>
            <a:cxnLst/>
            <a:rect l="l" t="t" r="r" b="b"/>
            <a:pathLst>
              <a:path w="1153874" h="1322492">
                <a:moveTo>
                  <a:pt x="0" y="0"/>
                </a:moveTo>
                <a:lnTo>
                  <a:pt x="1153875" y="0"/>
                </a:lnTo>
                <a:lnTo>
                  <a:pt x="1153875" y="1322492"/>
                </a:lnTo>
                <a:lnTo>
                  <a:pt x="0" y="132249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25" name="Group 25"/>
          <p:cNvGrpSpPr/>
          <p:nvPr/>
        </p:nvGrpSpPr>
        <p:grpSpPr>
          <a:xfrm>
            <a:off x="1766249" y="2180645"/>
            <a:ext cx="1282806" cy="1282806"/>
            <a:chOff x="0" y="0"/>
            <a:chExt cx="1710409" cy="1710409"/>
          </a:xfrm>
        </p:grpSpPr>
        <p:grpSp>
          <p:nvGrpSpPr>
            <p:cNvPr id="26" name="Group 26"/>
            <p:cNvGrpSpPr/>
            <p:nvPr/>
          </p:nvGrpSpPr>
          <p:grpSpPr>
            <a:xfrm>
              <a:off x="0" y="0"/>
              <a:ext cx="1710409" cy="1710409"/>
              <a:chOff x="0" y="0"/>
              <a:chExt cx="812800" cy="812800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7ED957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29" name="Freeform 29"/>
            <p:cNvSpPr/>
            <p:nvPr/>
          </p:nvSpPr>
          <p:spPr>
            <a:xfrm>
              <a:off x="387547" y="321501"/>
              <a:ext cx="935315" cy="1067406"/>
            </a:xfrm>
            <a:custGeom>
              <a:avLst/>
              <a:gdLst/>
              <a:ahLst/>
              <a:cxnLst/>
              <a:rect l="l" t="t" r="r" b="b"/>
              <a:pathLst>
                <a:path w="935315" h="1067406">
                  <a:moveTo>
                    <a:pt x="0" y="0"/>
                  </a:moveTo>
                  <a:lnTo>
                    <a:pt x="935315" y="0"/>
                  </a:lnTo>
                  <a:lnTo>
                    <a:pt x="935315" y="1067407"/>
                  </a:lnTo>
                  <a:lnTo>
                    <a:pt x="0" y="10674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4637310" y="7722267"/>
            <a:ext cx="1282806" cy="1282806"/>
            <a:chOff x="0" y="0"/>
            <a:chExt cx="1710409" cy="1710409"/>
          </a:xfrm>
        </p:grpSpPr>
        <p:grpSp>
          <p:nvGrpSpPr>
            <p:cNvPr id="31" name="Group 31"/>
            <p:cNvGrpSpPr/>
            <p:nvPr/>
          </p:nvGrpSpPr>
          <p:grpSpPr>
            <a:xfrm>
              <a:off x="0" y="0"/>
              <a:ext cx="1710409" cy="1710409"/>
              <a:chOff x="0" y="0"/>
              <a:chExt cx="812800" cy="81280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7ED957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34" name="Freeform 34"/>
            <p:cNvSpPr/>
            <p:nvPr/>
          </p:nvSpPr>
          <p:spPr>
            <a:xfrm>
              <a:off x="329852" y="329852"/>
              <a:ext cx="1050705" cy="1050705"/>
            </a:xfrm>
            <a:custGeom>
              <a:avLst/>
              <a:gdLst/>
              <a:ahLst/>
              <a:cxnLst/>
              <a:rect l="l" t="t" r="r" b="b"/>
              <a:pathLst>
                <a:path w="1050705" h="1050705">
                  <a:moveTo>
                    <a:pt x="0" y="0"/>
                  </a:moveTo>
                  <a:lnTo>
                    <a:pt x="1050705" y="0"/>
                  </a:lnTo>
                  <a:lnTo>
                    <a:pt x="1050705" y="1050705"/>
                  </a:lnTo>
                  <a:lnTo>
                    <a:pt x="0" y="1050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7580259" y="2155445"/>
            <a:ext cx="1282806" cy="1282806"/>
            <a:chOff x="0" y="0"/>
            <a:chExt cx="1710409" cy="1710409"/>
          </a:xfrm>
        </p:grpSpPr>
        <p:grpSp>
          <p:nvGrpSpPr>
            <p:cNvPr id="36" name="Group 36"/>
            <p:cNvGrpSpPr/>
            <p:nvPr/>
          </p:nvGrpSpPr>
          <p:grpSpPr>
            <a:xfrm>
              <a:off x="0" y="0"/>
              <a:ext cx="1710409" cy="1710409"/>
              <a:chOff x="0" y="0"/>
              <a:chExt cx="812800" cy="812800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BD59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39" name="Freeform 39"/>
            <p:cNvSpPr/>
            <p:nvPr/>
          </p:nvSpPr>
          <p:spPr>
            <a:xfrm>
              <a:off x="283310" y="369095"/>
              <a:ext cx="1143788" cy="972220"/>
            </a:xfrm>
            <a:custGeom>
              <a:avLst/>
              <a:gdLst/>
              <a:ahLst/>
              <a:cxnLst/>
              <a:rect l="l" t="t" r="r" b="b"/>
              <a:pathLst>
                <a:path w="1143788" h="972220">
                  <a:moveTo>
                    <a:pt x="0" y="0"/>
                  </a:moveTo>
                  <a:lnTo>
                    <a:pt x="1143788" y="0"/>
                  </a:lnTo>
                  <a:lnTo>
                    <a:pt x="1143788" y="972219"/>
                  </a:lnTo>
                  <a:lnTo>
                    <a:pt x="0" y="9722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40" name="AutoShape 40"/>
          <p:cNvSpPr/>
          <p:nvPr/>
        </p:nvSpPr>
        <p:spPr>
          <a:xfrm>
            <a:off x="5274326" y="6863702"/>
            <a:ext cx="4387" cy="858565"/>
          </a:xfrm>
          <a:prstGeom prst="line">
            <a:avLst/>
          </a:prstGeom>
          <a:ln w="38100" cap="flat">
            <a:gradFill>
              <a:gsLst>
                <a:gs pos="0">
                  <a:srgbClr val="226214">
                    <a:alpha val="100000"/>
                  </a:srgbClr>
                </a:gs>
                <a:gs pos="100000">
                  <a:srgbClr val="43CC25">
                    <a:alpha val="100000"/>
                  </a:srgbClr>
                </a:gs>
              </a:gsLst>
              <a:lin ang="5400000"/>
            </a:gra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es-CL"/>
          </a:p>
        </p:txBody>
      </p:sp>
      <p:sp>
        <p:nvSpPr>
          <p:cNvPr id="41" name="AutoShape 41"/>
          <p:cNvSpPr/>
          <p:nvPr/>
        </p:nvSpPr>
        <p:spPr>
          <a:xfrm flipV="1">
            <a:off x="2405943" y="3463452"/>
            <a:ext cx="1710" cy="834499"/>
          </a:xfrm>
          <a:prstGeom prst="line">
            <a:avLst/>
          </a:prstGeom>
          <a:ln w="38100" cap="flat">
            <a:gradFill>
              <a:gsLst>
                <a:gs pos="0">
                  <a:srgbClr val="226214">
                    <a:alpha val="100000"/>
                  </a:srgbClr>
                </a:gs>
                <a:gs pos="100000">
                  <a:srgbClr val="43CC25">
                    <a:alpha val="100000"/>
                  </a:srgbClr>
                </a:gs>
              </a:gsLst>
              <a:lin ang="5400000"/>
            </a:gra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es-CL"/>
          </a:p>
        </p:txBody>
      </p:sp>
      <p:sp>
        <p:nvSpPr>
          <p:cNvPr id="42" name="AutoShape 42"/>
          <p:cNvSpPr/>
          <p:nvPr/>
        </p:nvSpPr>
        <p:spPr>
          <a:xfrm flipH="1">
            <a:off x="11148853" y="6805971"/>
            <a:ext cx="265" cy="873985"/>
          </a:xfrm>
          <a:prstGeom prst="line">
            <a:avLst/>
          </a:prstGeom>
          <a:ln w="38100" cap="flat">
            <a:gradFill>
              <a:gsLst>
                <a:gs pos="0">
                  <a:srgbClr val="731919">
                    <a:alpha val="100000"/>
                  </a:srgbClr>
                </a:gs>
                <a:gs pos="100000">
                  <a:srgbClr val="E52B2B">
                    <a:alpha val="100000"/>
                  </a:srgbClr>
                </a:gs>
              </a:gsLst>
              <a:lin ang="5400000"/>
            </a:gra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es-CL"/>
          </a:p>
        </p:txBody>
      </p:sp>
      <p:sp>
        <p:nvSpPr>
          <p:cNvPr id="43" name="AutoShape 43"/>
          <p:cNvSpPr/>
          <p:nvPr/>
        </p:nvSpPr>
        <p:spPr>
          <a:xfrm flipV="1">
            <a:off x="8220525" y="3438252"/>
            <a:ext cx="1137" cy="762911"/>
          </a:xfrm>
          <a:prstGeom prst="line">
            <a:avLst/>
          </a:prstGeom>
          <a:ln w="38100" cap="flat">
            <a:gradFill>
              <a:gsLst>
                <a:gs pos="0">
                  <a:srgbClr val="997300">
                    <a:alpha val="100000"/>
                  </a:srgbClr>
                </a:gs>
                <a:gs pos="100000">
                  <a:srgbClr val="FFC000">
                    <a:alpha val="100000"/>
                  </a:srgbClr>
                </a:gs>
              </a:gsLst>
              <a:lin ang="5400000"/>
            </a:gra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es-CL"/>
          </a:p>
        </p:txBody>
      </p:sp>
      <p:sp>
        <p:nvSpPr>
          <p:cNvPr id="44" name="AutoShape 44"/>
          <p:cNvSpPr/>
          <p:nvPr/>
        </p:nvSpPr>
        <p:spPr>
          <a:xfrm flipV="1">
            <a:off x="14087833" y="3397180"/>
            <a:ext cx="0" cy="750364"/>
          </a:xfrm>
          <a:prstGeom prst="line">
            <a:avLst/>
          </a:prstGeom>
          <a:ln w="38100" cap="flat">
            <a:gradFill>
              <a:gsLst>
                <a:gs pos="0">
                  <a:srgbClr val="731919">
                    <a:alpha val="100000"/>
                  </a:srgbClr>
                </a:gs>
                <a:gs pos="100000">
                  <a:srgbClr val="E52B2B">
                    <a:alpha val="100000"/>
                  </a:srgbClr>
                </a:gs>
              </a:gsLst>
              <a:lin ang="5400000"/>
            </a:gra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es-CL"/>
          </a:p>
        </p:txBody>
      </p:sp>
      <p:grpSp>
        <p:nvGrpSpPr>
          <p:cNvPr id="45" name="Group 45"/>
          <p:cNvGrpSpPr/>
          <p:nvPr/>
        </p:nvGrpSpPr>
        <p:grpSpPr>
          <a:xfrm>
            <a:off x="13446430" y="2114374"/>
            <a:ext cx="1282806" cy="1282806"/>
            <a:chOff x="0" y="0"/>
            <a:chExt cx="1710409" cy="1710409"/>
          </a:xfrm>
        </p:grpSpPr>
        <p:grpSp>
          <p:nvGrpSpPr>
            <p:cNvPr id="46" name="Group 46"/>
            <p:cNvGrpSpPr/>
            <p:nvPr/>
          </p:nvGrpSpPr>
          <p:grpSpPr>
            <a:xfrm>
              <a:off x="0" y="0"/>
              <a:ext cx="1710409" cy="1710409"/>
              <a:chOff x="0" y="0"/>
              <a:chExt cx="812800" cy="812800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E6161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49" name="Freeform 49"/>
            <p:cNvSpPr/>
            <p:nvPr/>
          </p:nvSpPr>
          <p:spPr>
            <a:xfrm>
              <a:off x="254779" y="254779"/>
              <a:ext cx="1200851" cy="1200851"/>
            </a:xfrm>
            <a:custGeom>
              <a:avLst/>
              <a:gdLst/>
              <a:ahLst/>
              <a:cxnLst/>
              <a:rect l="l" t="t" r="r" b="b"/>
              <a:pathLst>
                <a:path w="1200851" h="1200851">
                  <a:moveTo>
                    <a:pt x="0" y="0"/>
                  </a:moveTo>
                  <a:lnTo>
                    <a:pt x="1200851" y="0"/>
                  </a:lnTo>
                  <a:lnTo>
                    <a:pt x="1200851" y="1200851"/>
                  </a:lnTo>
                  <a:lnTo>
                    <a:pt x="0" y="12008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10507449" y="7679956"/>
            <a:ext cx="1282806" cy="1282806"/>
            <a:chOff x="0" y="0"/>
            <a:chExt cx="1710409" cy="1710409"/>
          </a:xfrm>
        </p:grpSpPr>
        <p:grpSp>
          <p:nvGrpSpPr>
            <p:cNvPr id="51" name="Group 51"/>
            <p:cNvGrpSpPr/>
            <p:nvPr/>
          </p:nvGrpSpPr>
          <p:grpSpPr>
            <a:xfrm>
              <a:off x="0" y="0"/>
              <a:ext cx="1710409" cy="1710409"/>
              <a:chOff x="0" y="0"/>
              <a:chExt cx="812800" cy="812800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E6161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54" name="Freeform 54"/>
            <p:cNvSpPr/>
            <p:nvPr/>
          </p:nvSpPr>
          <p:spPr>
            <a:xfrm>
              <a:off x="267800" y="265986"/>
              <a:ext cx="1174809" cy="1174809"/>
            </a:xfrm>
            <a:custGeom>
              <a:avLst/>
              <a:gdLst/>
              <a:ahLst/>
              <a:cxnLst/>
              <a:rect l="l" t="t" r="r" b="b"/>
              <a:pathLst>
                <a:path w="1174809" h="1174809">
                  <a:moveTo>
                    <a:pt x="0" y="0"/>
                  </a:moveTo>
                  <a:lnTo>
                    <a:pt x="1174809" y="0"/>
                  </a:lnTo>
                  <a:lnTo>
                    <a:pt x="1174809" y="1174808"/>
                  </a:lnTo>
                  <a:lnTo>
                    <a:pt x="0" y="11748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55" name="TextBox 55"/>
          <p:cNvSpPr txBox="1"/>
          <p:nvPr/>
        </p:nvSpPr>
        <p:spPr>
          <a:xfrm>
            <a:off x="6058352" y="7674642"/>
            <a:ext cx="2445775" cy="510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04"/>
              </a:lnSpc>
            </a:pPr>
            <a:r>
              <a:rPr lang="en-US" sz="1499" b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Fase 2 – Análisis y Diseño (Completa)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6058352" y="8236790"/>
            <a:ext cx="3087609" cy="1324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1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2.1 Especificación de Requerimientos (ERS)</a:t>
            </a:r>
          </a:p>
          <a:p>
            <a:pPr algn="l">
              <a:lnSpc>
                <a:spcPts val="1540"/>
              </a:lnSpc>
            </a:pPr>
            <a:r>
              <a:rPr lang="en-US" sz="11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2.2 Elaborar los Casos de uso </a:t>
            </a:r>
          </a:p>
          <a:p>
            <a:pPr algn="l">
              <a:lnSpc>
                <a:spcPts val="1540"/>
              </a:lnSpc>
            </a:pPr>
            <a:r>
              <a:rPr lang="en-US" sz="11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2.3 Documento de los Casos de uso</a:t>
            </a:r>
          </a:p>
          <a:p>
            <a:pPr algn="l">
              <a:lnSpc>
                <a:spcPts val="1540"/>
              </a:lnSpc>
            </a:pPr>
            <a:r>
              <a:rPr lang="en-US" sz="11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2.4 Diagrama de clases</a:t>
            </a:r>
          </a:p>
          <a:p>
            <a:pPr algn="l">
              <a:lnSpc>
                <a:spcPts val="1540"/>
              </a:lnSpc>
            </a:pPr>
            <a:r>
              <a:rPr lang="en-US" sz="11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2.5 Modelos de Datos y Arquitectura</a:t>
            </a:r>
          </a:p>
          <a:p>
            <a:pPr algn="l">
              <a:lnSpc>
                <a:spcPts val="1540"/>
              </a:lnSpc>
            </a:pPr>
            <a:r>
              <a:rPr lang="en-US" sz="11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2.6 Mockups</a:t>
            </a:r>
          </a:p>
          <a:p>
            <a:pPr algn="l">
              <a:lnSpc>
                <a:spcPts val="1540"/>
              </a:lnSpc>
            </a:pPr>
            <a:r>
              <a:rPr lang="en-US" sz="11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2.7 Entregable asociado: Prototipos validados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3139214" y="2189928"/>
            <a:ext cx="2624268" cy="510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04"/>
              </a:lnSpc>
            </a:pPr>
            <a:r>
              <a:rPr lang="en-US" sz="1499" b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Fase 1 – Planificación Inicial (Completa)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3139214" y="2736727"/>
            <a:ext cx="2780902" cy="943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1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1.1 Acta de Constitución del Proyecto</a:t>
            </a:r>
          </a:p>
          <a:p>
            <a:pPr algn="l">
              <a:lnSpc>
                <a:spcPts val="1540"/>
              </a:lnSpc>
            </a:pPr>
            <a:r>
              <a:rPr lang="en-US" sz="11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1.2 EDT y Diccionario</a:t>
            </a:r>
          </a:p>
          <a:p>
            <a:pPr algn="l">
              <a:lnSpc>
                <a:spcPts val="1540"/>
              </a:lnSpc>
            </a:pPr>
            <a:r>
              <a:rPr lang="en-US" sz="11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1.4 Matriz de Responsabilidades (RACI)</a:t>
            </a:r>
          </a:p>
          <a:p>
            <a:pPr algn="l">
              <a:lnSpc>
                <a:spcPts val="1540"/>
              </a:lnSpc>
            </a:pPr>
            <a:r>
              <a:rPr lang="en-US" sz="11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1.5 Matriz de Riesgos inicial</a:t>
            </a:r>
          </a:p>
          <a:p>
            <a:pPr algn="l">
              <a:lnSpc>
                <a:spcPts val="1540"/>
              </a:lnSpc>
            </a:pPr>
            <a:r>
              <a:rPr lang="en-US" sz="11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1.6 Plan de Pruebas Inicial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11914081" y="7674642"/>
            <a:ext cx="2815156" cy="510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04"/>
              </a:lnSpc>
            </a:pPr>
            <a:r>
              <a:rPr lang="en-US" sz="1499" b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Fase 4 – Integración y Pruebas (Pendiente)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11914081" y="8236790"/>
            <a:ext cx="2598480" cy="562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1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4.1 Integración de Módulos</a:t>
            </a:r>
          </a:p>
          <a:p>
            <a:pPr algn="l">
              <a:lnSpc>
                <a:spcPts val="1540"/>
              </a:lnSpc>
            </a:pPr>
            <a:r>
              <a:rPr lang="en-US" sz="11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4.2 Pruebas de Rendimiento y Ajustes</a:t>
            </a:r>
          </a:p>
          <a:p>
            <a:pPr algn="l">
              <a:lnSpc>
                <a:spcPts val="1540"/>
              </a:lnSpc>
            </a:pPr>
            <a:r>
              <a:rPr lang="en-US" sz="11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4.3 Pruebas Finales (UAT)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8948790" y="2107820"/>
            <a:ext cx="2272531" cy="510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04"/>
              </a:lnSpc>
            </a:pPr>
            <a:r>
              <a:rPr lang="en-US" sz="1499" b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Fase 3 – Construcción (Iniciando)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8948790" y="2612552"/>
            <a:ext cx="2841466" cy="753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1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3.1 Desarrollo de Módulos Funcionales</a:t>
            </a:r>
          </a:p>
          <a:p>
            <a:pPr algn="l">
              <a:lnSpc>
                <a:spcPts val="1540"/>
              </a:lnSpc>
            </a:pPr>
            <a:r>
              <a:rPr lang="en-US" sz="11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3.2 Base de Datos y Scripts</a:t>
            </a:r>
          </a:p>
          <a:p>
            <a:pPr algn="l">
              <a:lnSpc>
                <a:spcPts val="1540"/>
              </a:lnSpc>
            </a:pPr>
            <a:r>
              <a:rPr lang="en-US" sz="11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3.3 Minutas de Control</a:t>
            </a:r>
          </a:p>
          <a:p>
            <a:pPr algn="l">
              <a:lnSpc>
                <a:spcPts val="1540"/>
              </a:lnSpc>
            </a:pPr>
            <a:r>
              <a:rPr lang="en-US" sz="11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3.4 Verificación de Alcances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14814962" y="2133020"/>
            <a:ext cx="3058848" cy="510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04"/>
              </a:lnSpc>
            </a:pPr>
            <a:r>
              <a:rPr lang="en-US" sz="1499" b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Fase 5 – Implementación y Cierre (Pendiente)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14821651" y="2651619"/>
            <a:ext cx="3052159" cy="1134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1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5.1 Documentación de Resultados y Correcciones</a:t>
            </a:r>
          </a:p>
          <a:p>
            <a:pPr algn="l">
              <a:lnSpc>
                <a:spcPts val="1540"/>
              </a:lnSpc>
            </a:pPr>
            <a:r>
              <a:rPr lang="en-US" sz="11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5.2 Validación con Usuarios Finales</a:t>
            </a:r>
          </a:p>
          <a:p>
            <a:pPr algn="l">
              <a:lnSpc>
                <a:spcPts val="1540"/>
              </a:lnSpc>
            </a:pPr>
            <a:r>
              <a:rPr lang="en-US" sz="11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5.3 Plan de Implantación y Soporte</a:t>
            </a:r>
          </a:p>
          <a:p>
            <a:pPr algn="l">
              <a:lnSpc>
                <a:spcPts val="1540"/>
              </a:lnSpc>
            </a:pPr>
            <a:r>
              <a:rPr lang="en-US" sz="11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5.4 Manuales de Usuario y Administrador</a:t>
            </a:r>
          </a:p>
          <a:p>
            <a:pPr algn="l">
              <a:lnSpc>
                <a:spcPts val="1540"/>
              </a:lnSpc>
            </a:pPr>
            <a:r>
              <a:rPr lang="en-US" sz="11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5.5 Puesta en Marcha en Taller Piloto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2795854" y="647700"/>
            <a:ext cx="12696293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400"/>
              </a:lnSpc>
              <a:spcBef>
                <a:spcPct val="0"/>
              </a:spcBef>
            </a:pPr>
            <a:r>
              <a:rPr lang="en-US" sz="6000" b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Planificación General del Proyecto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4176470" y="1495425"/>
            <a:ext cx="9935061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00"/>
              </a:lnSpc>
              <a:spcBef>
                <a:spcPct val="0"/>
              </a:spcBef>
            </a:pPr>
            <a:r>
              <a:rPr lang="en-US" sz="2000" b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Metodología tradicional en cascada – Duración total: 12 semanas académicas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310800">
            <a:off x="15102065" y="-1131458"/>
            <a:ext cx="4276203" cy="4320316"/>
            <a:chOff x="0" y="0"/>
            <a:chExt cx="1126243" cy="113786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126243" cy="1137861"/>
            </a:xfrm>
            <a:custGeom>
              <a:avLst/>
              <a:gdLst/>
              <a:ahLst/>
              <a:cxnLst/>
              <a:rect l="l" t="t" r="r" b="b"/>
              <a:pathLst>
                <a:path w="1126243" h="1137861">
                  <a:moveTo>
                    <a:pt x="563121" y="0"/>
                  </a:moveTo>
                  <a:cubicBezTo>
                    <a:pt x="252118" y="0"/>
                    <a:pt x="0" y="254719"/>
                    <a:pt x="0" y="568930"/>
                  </a:cubicBezTo>
                  <a:cubicBezTo>
                    <a:pt x="0" y="883142"/>
                    <a:pt x="252118" y="1137861"/>
                    <a:pt x="563121" y="1137861"/>
                  </a:cubicBezTo>
                  <a:cubicBezTo>
                    <a:pt x="874125" y="1137861"/>
                    <a:pt x="1126243" y="883142"/>
                    <a:pt x="1126243" y="568930"/>
                  </a:cubicBezTo>
                  <a:cubicBezTo>
                    <a:pt x="1126243" y="254719"/>
                    <a:pt x="874125" y="0"/>
                    <a:pt x="563121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05585" y="68574"/>
              <a:ext cx="915072" cy="9626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310800">
            <a:off x="-1461560" y="8511169"/>
            <a:ext cx="3240192" cy="3273617"/>
            <a:chOff x="0" y="0"/>
            <a:chExt cx="1126243" cy="1137861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126243" cy="1137861"/>
            </a:xfrm>
            <a:custGeom>
              <a:avLst/>
              <a:gdLst/>
              <a:ahLst/>
              <a:cxnLst/>
              <a:rect l="l" t="t" r="r" b="b"/>
              <a:pathLst>
                <a:path w="1126243" h="1137861">
                  <a:moveTo>
                    <a:pt x="563121" y="0"/>
                  </a:moveTo>
                  <a:cubicBezTo>
                    <a:pt x="252118" y="0"/>
                    <a:pt x="0" y="254719"/>
                    <a:pt x="0" y="568930"/>
                  </a:cubicBezTo>
                  <a:cubicBezTo>
                    <a:pt x="0" y="883142"/>
                    <a:pt x="252118" y="1137861"/>
                    <a:pt x="563121" y="1137861"/>
                  </a:cubicBezTo>
                  <a:cubicBezTo>
                    <a:pt x="874125" y="1137861"/>
                    <a:pt x="1126243" y="883142"/>
                    <a:pt x="1126243" y="568930"/>
                  </a:cubicBezTo>
                  <a:cubicBezTo>
                    <a:pt x="1126243" y="254719"/>
                    <a:pt x="874125" y="0"/>
                    <a:pt x="563121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05585" y="68574"/>
              <a:ext cx="915072" cy="9626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pic>
        <p:nvPicPr>
          <p:cNvPr id="8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94360" y="2162764"/>
            <a:ext cx="19476720" cy="7491942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1028700" y="2092991"/>
            <a:ext cx="12214175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400"/>
              </a:lnSpc>
              <a:spcBef>
                <a:spcPct val="0"/>
              </a:spcBef>
            </a:pPr>
            <a:r>
              <a:rPr lang="en-US" sz="6000" b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Avan</a:t>
            </a:r>
            <a:r>
              <a:rPr lang="en-US" sz="6000" b="1" u="none" strike="noStrike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ce Esperado vs Avance Real</a:t>
            </a:r>
          </a:p>
        </p:txBody>
      </p:sp>
      <p:sp>
        <p:nvSpPr>
          <p:cNvPr id="10" name="Freeform 10"/>
          <p:cNvSpPr/>
          <p:nvPr/>
        </p:nvSpPr>
        <p:spPr>
          <a:xfrm>
            <a:off x="14222057" y="571500"/>
            <a:ext cx="2749666" cy="2890582"/>
          </a:xfrm>
          <a:custGeom>
            <a:avLst/>
            <a:gdLst/>
            <a:ahLst/>
            <a:cxnLst/>
            <a:rect l="l" t="t" r="r" b="b"/>
            <a:pathLst>
              <a:path w="2749666" h="2890582">
                <a:moveTo>
                  <a:pt x="0" y="0"/>
                </a:moveTo>
                <a:lnTo>
                  <a:pt x="2749666" y="0"/>
                </a:lnTo>
                <a:lnTo>
                  <a:pt x="2749666" y="2890582"/>
                </a:lnTo>
                <a:lnTo>
                  <a:pt x="0" y="289058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1" name="TextBox 11"/>
          <p:cNvSpPr txBox="1"/>
          <p:nvPr/>
        </p:nvSpPr>
        <p:spPr>
          <a:xfrm>
            <a:off x="1537371" y="8609183"/>
            <a:ext cx="15213258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800"/>
              </a:lnSpc>
              <a:spcBef>
                <a:spcPct val="0"/>
              </a:spcBef>
            </a:pPr>
            <a:r>
              <a:rPr lang="en-US" sz="2000" b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El retraso actual </a:t>
            </a:r>
            <a:r>
              <a:rPr lang="en-US" sz="2000" b="1" u="none" strike="noStrike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corresponde a la extensión de validaciones en mockups y al cambio de alcance técnico (sin APIs externas).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185042" y="8253052"/>
            <a:ext cx="21125942" cy="4067896"/>
            <a:chOff x="0" y="0"/>
            <a:chExt cx="1560444" cy="30047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560444" cy="300470"/>
            </a:xfrm>
            <a:custGeom>
              <a:avLst/>
              <a:gdLst/>
              <a:ahLst/>
              <a:cxnLst/>
              <a:rect l="l" t="t" r="r" b="b"/>
              <a:pathLst>
                <a:path w="1560444" h="300470">
                  <a:moveTo>
                    <a:pt x="780222" y="0"/>
                  </a:moveTo>
                  <a:cubicBezTo>
                    <a:pt x="349317" y="0"/>
                    <a:pt x="0" y="67263"/>
                    <a:pt x="0" y="150235"/>
                  </a:cubicBezTo>
                  <a:cubicBezTo>
                    <a:pt x="0" y="233208"/>
                    <a:pt x="349317" y="300470"/>
                    <a:pt x="780222" y="300470"/>
                  </a:cubicBezTo>
                  <a:cubicBezTo>
                    <a:pt x="1211126" y="300470"/>
                    <a:pt x="1560444" y="233208"/>
                    <a:pt x="1560444" y="150235"/>
                  </a:cubicBezTo>
                  <a:cubicBezTo>
                    <a:pt x="1560444" y="67263"/>
                    <a:pt x="1211126" y="0"/>
                    <a:pt x="780222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46292" y="-9931"/>
              <a:ext cx="1267860" cy="2822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5452420" y="6196786"/>
            <a:ext cx="6915301" cy="3187017"/>
          </a:xfrm>
          <a:custGeom>
            <a:avLst/>
            <a:gdLst/>
            <a:ahLst/>
            <a:cxnLst/>
            <a:rect l="l" t="t" r="r" b="b"/>
            <a:pathLst>
              <a:path w="6915301" h="3187017">
                <a:moveTo>
                  <a:pt x="0" y="0"/>
                </a:moveTo>
                <a:lnTo>
                  <a:pt x="6915301" y="0"/>
                </a:lnTo>
                <a:lnTo>
                  <a:pt x="6915301" y="3187017"/>
                </a:lnTo>
                <a:lnTo>
                  <a:pt x="0" y="318701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b="-111558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6" name="TextBox 6"/>
          <p:cNvSpPr txBox="1"/>
          <p:nvPr/>
        </p:nvSpPr>
        <p:spPr>
          <a:xfrm>
            <a:off x="4226678" y="4181476"/>
            <a:ext cx="9834644" cy="9620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299"/>
              </a:lnSpc>
              <a:spcBef>
                <a:spcPct val="0"/>
              </a:spcBef>
            </a:pPr>
            <a:r>
              <a:rPr lang="en-US" sz="6999" b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Evidencias del Avance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5380316" y="-1586354"/>
            <a:ext cx="5033565" cy="5033565"/>
            <a:chOff x="0" y="0"/>
            <a:chExt cx="81280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-1351957" y="421716"/>
            <a:ext cx="3445347" cy="3445347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310800">
            <a:off x="12831989" y="7210374"/>
            <a:ext cx="11903008" cy="6647001"/>
            <a:chOff x="0" y="0"/>
            <a:chExt cx="3134949" cy="175065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134949" cy="1750651"/>
            </a:xfrm>
            <a:custGeom>
              <a:avLst/>
              <a:gdLst/>
              <a:ahLst/>
              <a:cxnLst/>
              <a:rect l="l" t="t" r="r" b="b"/>
              <a:pathLst>
                <a:path w="3134949" h="1750651">
                  <a:moveTo>
                    <a:pt x="1567474" y="0"/>
                  </a:moveTo>
                  <a:cubicBezTo>
                    <a:pt x="701782" y="0"/>
                    <a:pt x="0" y="391896"/>
                    <a:pt x="0" y="875325"/>
                  </a:cubicBezTo>
                  <a:cubicBezTo>
                    <a:pt x="0" y="1358754"/>
                    <a:pt x="701782" y="1750651"/>
                    <a:pt x="1567474" y="1750651"/>
                  </a:cubicBezTo>
                  <a:cubicBezTo>
                    <a:pt x="2433166" y="1750651"/>
                    <a:pt x="3134949" y="1358754"/>
                    <a:pt x="3134949" y="875325"/>
                  </a:cubicBezTo>
                  <a:cubicBezTo>
                    <a:pt x="3134949" y="391896"/>
                    <a:pt x="2433166" y="0"/>
                    <a:pt x="1567474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293901" y="126023"/>
              <a:ext cx="2547146" cy="14605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310800">
            <a:off x="15958684" y="-1691004"/>
            <a:ext cx="4276203" cy="5439409"/>
            <a:chOff x="0" y="0"/>
            <a:chExt cx="1126243" cy="143260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126243" cy="1432602"/>
            </a:xfrm>
            <a:custGeom>
              <a:avLst/>
              <a:gdLst/>
              <a:ahLst/>
              <a:cxnLst/>
              <a:rect l="l" t="t" r="r" b="b"/>
              <a:pathLst>
                <a:path w="1126243" h="1432602">
                  <a:moveTo>
                    <a:pt x="563121" y="0"/>
                  </a:moveTo>
                  <a:cubicBezTo>
                    <a:pt x="252118" y="0"/>
                    <a:pt x="0" y="320699"/>
                    <a:pt x="0" y="716301"/>
                  </a:cubicBezTo>
                  <a:cubicBezTo>
                    <a:pt x="0" y="1111903"/>
                    <a:pt x="252118" y="1432602"/>
                    <a:pt x="563121" y="1432602"/>
                  </a:cubicBezTo>
                  <a:cubicBezTo>
                    <a:pt x="874125" y="1432602"/>
                    <a:pt x="1126243" y="1111903"/>
                    <a:pt x="1126243" y="716301"/>
                  </a:cubicBezTo>
                  <a:cubicBezTo>
                    <a:pt x="1126243" y="320699"/>
                    <a:pt x="874125" y="0"/>
                    <a:pt x="563121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05585" y="96206"/>
              <a:ext cx="915072" cy="12020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7112854" y="187578"/>
            <a:ext cx="6735142" cy="9911843"/>
            <a:chOff x="0" y="0"/>
            <a:chExt cx="8980190" cy="13215791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1243964"/>
              <a:ext cx="8980190" cy="11971827"/>
              <a:chOff x="0" y="0"/>
              <a:chExt cx="1681903" cy="2242208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1681903" cy="2242208"/>
              </a:xfrm>
              <a:custGeom>
                <a:avLst/>
                <a:gdLst/>
                <a:ahLst/>
                <a:cxnLst/>
                <a:rect l="l" t="t" r="r" b="b"/>
                <a:pathLst>
                  <a:path w="1681903" h="2242208">
                    <a:moveTo>
                      <a:pt x="0" y="0"/>
                    </a:moveTo>
                    <a:lnTo>
                      <a:pt x="1681903" y="0"/>
                    </a:lnTo>
                    <a:lnTo>
                      <a:pt x="1681903" y="2242208"/>
                    </a:lnTo>
                    <a:lnTo>
                      <a:pt x="0" y="2242208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4A9FF">
                      <a:alpha val="100000"/>
                    </a:srgbClr>
                  </a:gs>
                  <a:gs pos="100000">
                    <a:srgbClr val="F5F8FF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-38100"/>
                <a:ext cx="1681903" cy="2280308"/>
              </a:xfrm>
              <a:prstGeom prst="rect">
                <a:avLst/>
              </a:prstGeom>
            </p:spPr>
            <p:txBody>
              <a:bodyPr lIns="27904" tIns="27904" rIns="27904" bIns="27904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12" name="Freeform 12"/>
            <p:cNvSpPr/>
            <p:nvPr/>
          </p:nvSpPr>
          <p:spPr>
            <a:xfrm>
              <a:off x="634470" y="1740814"/>
              <a:ext cx="7711249" cy="10978127"/>
            </a:xfrm>
            <a:custGeom>
              <a:avLst/>
              <a:gdLst/>
              <a:ahLst/>
              <a:cxnLst/>
              <a:rect l="l" t="t" r="r" b="b"/>
              <a:pathLst>
                <a:path w="7711249" h="10978127">
                  <a:moveTo>
                    <a:pt x="0" y="0"/>
                  </a:moveTo>
                  <a:lnTo>
                    <a:pt x="7711249" y="0"/>
                  </a:lnTo>
                  <a:lnTo>
                    <a:pt x="7711249" y="10978127"/>
                  </a:lnTo>
                  <a:lnTo>
                    <a:pt x="0" y="109781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133350"/>
              <a:ext cx="8980190" cy="137731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803"/>
                </a:lnSpc>
              </a:pPr>
              <a:r>
                <a:rPr lang="en-US" sz="6144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Casos de Uso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40933" y="704233"/>
            <a:ext cx="2996035" cy="2642972"/>
            <a:chOff x="0" y="0"/>
            <a:chExt cx="3994714" cy="3523963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436284"/>
              <a:ext cx="3994714" cy="3087679"/>
              <a:chOff x="0" y="0"/>
              <a:chExt cx="2090433" cy="1615782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2090433" cy="1615782"/>
              </a:xfrm>
              <a:custGeom>
                <a:avLst/>
                <a:gdLst/>
                <a:ahLst/>
                <a:cxnLst/>
                <a:rect l="l" t="t" r="r" b="b"/>
                <a:pathLst>
                  <a:path w="2090433" h="1615782">
                    <a:moveTo>
                      <a:pt x="0" y="0"/>
                    </a:moveTo>
                    <a:lnTo>
                      <a:pt x="2090433" y="0"/>
                    </a:lnTo>
                    <a:lnTo>
                      <a:pt x="2090433" y="1615782"/>
                    </a:lnTo>
                    <a:lnTo>
                      <a:pt x="0" y="1615782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FDA6A">
                      <a:alpha val="100000"/>
                    </a:srgbClr>
                  </a:gs>
                  <a:gs pos="100000">
                    <a:srgbClr val="FFF7DE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0" y="-38100"/>
                <a:ext cx="2090433" cy="1653882"/>
              </a:xfrm>
              <a:prstGeom prst="rect">
                <a:avLst/>
              </a:prstGeom>
            </p:spPr>
            <p:txBody>
              <a:bodyPr lIns="28475" tIns="28475" rIns="28475" bIns="28475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18" name="Freeform 18"/>
            <p:cNvSpPr/>
            <p:nvPr/>
          </p:nvSpPr>
          <p:spPr>
            <a:xfrm>
              <a:off x="171590" y="639326"/>
              <a:ext cx="3651534" cy="2681595"/>
            </a:xfrm>
            <a:custGeom>
              <a:avLst/>
              <a:gdLst/>
              <a:ahLst/>
              <a:cxnLst/>
              <a:rect l="l" t="t" r="r" b="b"/>
              <a:pathLst>
                <a:path w="3651534" h="2681595">
                  <a:moveTo>
                    <a:pt x="0" y="0"/>
                  </a:moveTo>
                  <a:lnTo>
                    <a:pt x="3651534" y="0"/>
                  </a:lnTo>
                  <a:lnTo>
                    <a:pt x="3651534" y="2681595"/>
                  </a:lnTo>
                  <a:lnTo>
                    <a:pt x="0" y="26815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57150"/>
              <a:ext cx="3994714" cy="49343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</a:pPr>
              <a:r>
                <a:rPr lang="en-US" sz="2154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Diagrama de Clases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519613" y="5902085"/>
            <a:ext cx="3838676" cy="3680682"/>
            <a:chOff x="0" y="0"/>
            <a:chExt cx="5118235" cy="4907576"/>
          </a:xfrm>
        </p:grpSpPr>
        <p:grpSp>
          <p:nvGrpSpPr>
            <p:cNvPr id="21" name="Group 21"/>
            <p:cNvGrpSpPr/>
            <p:nvPr/>
          </p:nvGrpSpPr>
          <p:grpSpPr>
            <a:xfrm>
              <a:off x="629393" y="476061"/>
              <a:ext cx="3859449" cy="4431515"/>
              <a:chOff x="0" y="0"/>
              <a:chExt cx="3250378" cy="3732164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0" y="0"/>
                <a:ext cx="3250378" cy="3732164"/>
              </a:xfrm>
              <a:custGeom>
                <a:avLst/>
                <a:gdLst/>
                <a:ahLst/>
                <a:cxnLst/>
                <a:rect l="l" t="t" r="r" b="b"/>
                <a:pathLst>
                  <a:path w="3250378" h="3732164">
                    <a:moveTo>
                      <a:pt x="0" y="0"/>
                    </a:moveTo>
                    <a:lnTo>
                      <a:pt x="3250378" y="0"/>
                    </a:lnTo>
                    <a:lnTo>
                      <a:pt x="3250378" y="3732164"/>
                    </a:lnTo>
                    <a:lnTo>
                      <a:pt x="0" y="3732164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7CCE6B">
                      <a:alpha val="100000"/>
                    </a:srgbClr>
                  </a:gs>
                  <a:gs pos="100000">
                    <a:srgbClr val="D8FFD0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0" y="-38100"/>
                <a:ext cx="3250378" cy="3770264"/>
              </a:xfrm>
              <a:prstGeom prst="rect">
                <a:avLst/>
              </a:prstGeom>
            </p:spPr>
            <p:txBody>
              <a:bodyPr lIns="16215" tIns="16215" rIns="16215" bIns="16215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24" name="Freeform 24"/>
            <p:cNvSpPr/>
            <p:nvPr/>
          </p:nvSpPr>
          <p:spPr>
            <a:xfrm>
              <a:off x="915992" y="703399"/>
              <a:ext cx="3286251" cy="3976840"/>
            </a:xfrm>
            <a:custGeom>
              <a:avLst/>
              <a:gdLst/>
              <a:ahLst/>
              <a:cxnLst/>
              <a:rect l="l" t="t" r="r" b="b"/>
              <a:pathLst>
                <a:path w="3286251" h="3976840">
                  <a:moveTo>
                    <a:pt x="0" y="0"/>
                  </a:moveTo>
                  <a:lnTo>
                    <a:pt x="3286251" y="0"/>
                  </a:lnTo>
                  <a:lnTo>
                    <a:pt x="3286251" y="3976839"/>
                  </a:lnTo>
                  <a:lnTo>
                    <a:pt x="0" y="3976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57150"/>
              <a:ext cx="5118235" cy="53321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86"/>
                </a:lnSpc>
              </a:pPr>
              <a:r>
                <a:rPr lang="en-US" sz="2351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Arquitectura del Sistema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341993" y="3475269"/>
            <a:ext cx="4193916" cy="2298751"/>
            <a:chOff x="0" y="0"/>
            <a:chExt cx="5591888" cy="3065002"/>
          </a:xfrm>
        </p:grpSpPr>
        <p:grpSp>
          <p:nvGrpSpPr>
            <p:cNvPr id="27" name="Group 27"/>
            <p:cNvGrpSpPr/>
            <p:nvPr/>
          </p:nvGrpSpPr>
          <p:grpSpPr>
            <a:xfrm>
              <a:off x="814201" y="402041"/>
              <a:ext cx="3963485" cy="2662961"/>
              <a:chOff x="0" y="0"/>
              <a:chExt cx="4319668" cy="2902271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4319668" cy="2902271"/>
              </a:xfrm>
              <a:custGeom>
                <a:avLst/>
                <a:gdLst/>
                <a:ahLst/>
                <a:cxnLst/>
                <a:rect l="l" t="t" r="r" b="b"/>
                <a:pathLst>
                  <a:path w="4319668" h="2902271">
                    <a:moveTo>
                      <a:pt x="0" y="0"/>
                    </a:moveTo>
                    <a:lnTo>
                      <a:pt x="4319668" y="0"/>
                    </a:lnTo>
                    <a:lnTo>
                      <a:pt x="4319668" y="2902271"/>
                    </a:lnTo>
                    <a:lnTo>
                      <a:pt x="0" y="2902271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093FF">
                      <a:alpha val="100000"/>
                    </a:srgbClr>
                  </a:gs>
                  <a:gs pos="100000">
                    <a:srgbClr val="FDF1FF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0" y="-38100"/>
                <a:ext cx="4319668" cy="2940371"/>
              </a:xfrm>
              <a:prstGeom prst="rect">
                <a:avLst/>
              </a:prstGeom>
            </p:spPr>
            <p:txBody>
              <a:bodyPr lIns="14746" tIns="14746" rIns="14746" bIns="14746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30" name="Freeform 30"/>
            <p:cNvSpPr/>
            <p:nvPr/>
          </p:nvSpPr>
          <p:spPr>
            <a:xfrm>
              <a:off x="929061" y="721713"/>
              <a:ext cx="3733766" cy="2023616"/>
            </a:xfrm>
            <a:custGeom>
              <a:avLst/>
              <a:gdLst/>
              <a:ahLst/>
              <a:cxnLst/>
              <a:rect l="l" t="t" r="r" b="b"/>
              <a:pathLst>
                <a:path w="3733766" h="2023616">
                  <a:moveTo>
                    <a:pt x="0" y="0"/>
                  </a:moveTo>
                  <a:lnTo>
                    <a:pt x="3733766" y="0"/>
                  </a:lnTo>
                  <a:lnTo>
                    <a:pt x="3733766" y="2023616"/>
                  </a:lnTo>
                  <a:lnTo>
                    <a:pt x="0" y="2023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855" b="-855"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57150"/>
              <a:ext cx="5591888" cy="46167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37"/>
                </a:lnSpc>
              </a:pPr>
              <a:r>
                <a:rPr lang="en-US" sz="1998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MER (Modelo entidad-Relacion)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310800">
            <a:off x="12831989" y="7210374"/>
            <a:ext cx="11903008" cy="6647001"/>
            <a:chOff x="0" y="0"/>
            <a:chExt cx="3134949" cy="175065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134949" cy="1750651"/>
            </a:xfrm>
            <a:custGeom>
              <a:avLst/>
              <a:gdLst/>
              <a:ahLst/>
              <a:cxnLst/>
              <a:rect l="l" t="t" r="r" b="b"/>
              <a:pathLst>
                <a:path w="3134949" h="1750651">
                  <a:moveTo>
                    <a:pt x="1567474" y="0"/>
                  </a:moveTo>
                  <a:cubicBezTo>
                    <a:pt x="701782" y="0"/>
                    <a:pt x="0" y="391896"/>
                    <a:pt x="0" y="875325"/>
                  </a:cubicBezTo>
                  <a:cubicBezTo>
                    <a:pt x="0" y="1358754"/>
                    <a:pt x="701782" y="1750651"/>
                    <a:pt x="1567474" y="1750651"/>
                  </a:cubicBezTo>
                  <a:cubicBezTo>
                    <a:pt x="2433166" y="1750651"/>
                    <a:pt x="3134949" y="1358754"/>
                    <a:pt x="3134949" y="875325"/>
                  </a:cubicBezTo>
                  <a:cubicBezTo>
                    <a:pt x="3134949" y="391896"/>
                    <a:pt x="2433166" y="0"/>
                    <a:pt x="1567474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293901" y="126023"/>
              <a:ext cx="2547146" cy="14605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310800">
            <a:off x="15958684" y="-1691004"/>
            <a:ext cx="4276203" cy="5439409"/>
            <a:chOff x="0" y="0"/>
            <a:chExt cx="1126243" cy="143260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126243" cy="1432602"/>
            </a:xfrm>
            <a:custGeom>
              <a:avLst/>
              <a:gdLst/>
              <a:ahLst/>
              <a:cxnLst/>
              <a:rect l="l" t="t" r="r" b="b"/>
              <a:pathLst>
                <a:path w="1126243" h="1432602">
                  <a:moveTo>
                    <a:pt x="563121" y="0"/>
                  </a:moveTo>
                  <a:cubicBezTo>
                    <a:pt x="252118" y="0"/>
                    <a:pt x="0" y="320699"/>
                    <a:pt x="0" y="716301"/>
                  </a:cubicBezTo>
                  <a:cubicBezTo>
                    <a:pt x="0" y="1111903"/>
                    <a:pt x="252118" y="1432602"/>
                    <a:pt x="563121" y="1432602"/>
                  </a:cubicBezTo>
                  <a:cubicBezTo>
                    <a:pt x="874125" y="1432602"/>
                    <a:pt x="1126243" y="1111903"/>
                    <a:pt x="1126243" y="716301"/>
                  </a:cubicBezTo>
                  <a:cubicBezTo>
                    <a:pt x="1126243" y="320699"/>
                    <a:pt x="874125" y="0"/>
                    <a:pt x="563121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05585" y="96206"/>
              <a:ext cx="915072" cy="12020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179348" y="6449470"/>
            <a:ext cx="2341992" cy="3446617"/>
            <a:chOff x="0" y="0"/>
            <a:chExt cx="3122656" cy="4595490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432560"/>
              <a:ext cx="3122656" cy="4162930"/>
              <a:chOff x="0" y="0"/>
              <a:chExt cx="1681903" cy="2242208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1681903" cy="2242208"/>
              </a:xfrm>
              <a:custGeom>
                <a:avLst/>
                <a:gdLst/>
                <a:ahLst/>
                <a:cxnLst/>
                <a:rect l="l" t="t" r="r" b="b"/>
                <a:pathLst>
                  <a:path w="1681903" h="2242208">
                    <a:moveTo>
                      <a:pt x="0" y="0"/>
                    </a:moveTo>
                    <a:lnTo>
                      <a:pt x="1681903" y="0"/>
                    </a:lnTo>
                    <a:lnTo>
                      <a:pt x="1681903" y="2242208"/>
                    </a:lnTo>
                    <a:lnTo>
                      <a:pt x="0" y="2242208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4A9FF">
                      <a:alpha val="100000"/>
                    </a:srgbClr>
                  </a:gs>
                  <a:gs pos="100000">
                    <a:srgbClr val="F5F8FF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-38100"/>
                <a:ext cx="1681903" cy="2280308"/>
              </a:xfrm>
              <a:prstGeom prst="rect">
                <a:avLst/>
              </a:prstGeom>
            </p:spPr>
            <p:txBody>
              <a:bodyPr lIns="27904" tIns="27904" rIns="27904" bIns="27904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12" name="Freeform 12"/>
            <p:cNvSpPr/>
            <p:nvPr/>
          </p:nvSpPr>
          <p:spPr>
            <a:xfrm>
              <a:off x="220623" y="605328"/>
              <a:ext cx="2681411" cy="3817393"/>
            </a:xfrm>
            <a:custGeom>
              <a:avLst/>
              <a:gdLst/>
              <a:ahLst/>
              <a:cxnLst/>
              <a:rect l="l" t="t" r="r" b="b"/>
              <a:pathLst>
                <a:path w="2681411" h="3817393">
                  <a:moveTo>
                    <a:pt x="0" y="0"/>
                  </a:moveTo>
                  <a:lnTo>
                    <a:pt x="2681410" y="0"/>
                  </a:lnTo>
                  <a:lnTo>
                    <a:pt x="2681410" y="3817394"/>
                  </a:lnTo>
                  <a:lnTo>
                    <a:pt x="0" y="38173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3122656" cy="48971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13"/>
                </a:lnSpc>
              </a:pPr>
              <a:r>
                <a:rPr lang="en-US" sz="2136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Casos de Uso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5529004" y="448315"/>
            <a:ext cx="10644789" cy="9390369"/>
            <a:chOff x="0" y="0"/>
            <a:chExt cx="14193052" cy="12520492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1550099"/>
              <a:ext cx="14193052" cy="10970394"/>
              <a:chOff x="0" y="0"/>
              <a:chExt cx="2090433" cy="1615782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2090433" cy="1615782"/>
              </a:xfrm>
              <a:custGeom>
                <a:avLst/>
                <a:gdLst/>
                <a:ahLst/>
                <a:cxnLst/>
                <a:rect l="l" t="t" r="r" b="b"/>
                <a:pathLst>
                  <a:path w="2090433" h="1615782">
                    <a:moveTo>
                      <a:pt x="0" y="0"/>
                    </a:moveTo>
                    <a:lnTo>
                      <a:pt x="2090433" y="0"/>
                    </a:lnTo>
                    <a:lnTo>
                      <a:pt x="2090433" y="1615782"/>
                    </a:lnTo>
                    <a:lnTo>
                      <a:pt x="0" y="1615782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FDA6A">
                      <a:alpha val="100000"/>
                    </a:srgbClr>
                  </a:gs>
                  <a:gs pos="100000">
                    <a:srgbClr val="FFF7DE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0" y="-38100"/>
                <a:ext cx="2090433" cy="1653882"/>
              </a:xfrm>
              <a:prstGeom prst="rect">
                <a:avLst/>
              </a:prstGeom>
            </p:spPr>
            <p:txBody>
              <a:bodyPr lIns="28475" tIns="28475" rIns="28475" bIns="28475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18" name="Freeform 18"/>
            <p:cNvSpPr/>
            <p:nvPr/>
          </p:nvSpPr>
          <p:spPr>
            <a:xfrm>
              <a:off x="609652" y="2271498"/>
              <a:ext cx="12973748" cy="9527596"/>
            </a:xfrm>
            <a:custGeom>
              <a:avLst/>
              <a:gdLst/>
              <a:ahLst/>
              <a:cxnLst/>
              <a:rect l="l" t="t" r="r" b="b"/>
              <a:pathLst>
                <a:path w="12973748" h="9527596">
                  <a:moveTo>
                    <a:pt x="0" y="0"/>
                  </a:moveTo>
                  <a:lnTo>
                    <a:pt x="12973748" y="0"/>
                  </a:lnTo>
                  <a:lnTo>
                    <a:pt x="12973748" y="9527595"/>
                  </a:lnTo>
                  <a:lnTo>
                    <a:pt x="0" y="95275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161925"/>
              <a:ext cx="14193052" cy="171202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23"/>
                </a:lnSpc>
              </a:pPr>
              <a:r>
                <a:rPr lang="en-US" sz="7656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Diagrama de Clases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431006" y="2729226"/>
            <a:ext cx="3838676" cy="3680682"/>
            <a:chOff x="0" y="0"/>
            <a:chExt cx="5118235" cy="4907576"/>
          </a:xfrm>
        </p:grpSpPr>
        <p:grpSp>
          <p:nvGrpSpPr>
            <p:cNvPr id="21" name="Group 21"/>
            <p:cNvGrpSpPr/>
            <p:nvPr/>
          </p:nvGrpSpPr>
          <p:grpSpPr>
            <a:xfrm>
              <a:off x="629393" y="476061"/>
              <a:ext cx="3859449" cy="4431515"/>
              <a:chOff x="0" y="0"/>
              <a:chExt cx="3250378" cy="3732164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0" y="0"/>
                <a:ext cx="3250378" cy="3732164"/>
              </a:xfrm>
              <a:custGeom>
                <a:avLst/>
                <a:gdLst/>
                <a:ahLst/>
                <a:cxnLst/>
                <a:rect l="l" t="t" r="r" b="b"/>
                <a:pathLst>
                  <a:path w="3250378" h="3732164">
                    <a:moveTo>
                      <a:pt x="0" y="0"/>
                    </a:moveTo>
                    <a:lnTo>
                      <a:pt x="3250378" y="0"/>
                    </a:lnTo>
                    <a:lnTo>
                      <a:pt x="3250378" y="3732164"/>
                    </a:lnTo>
                    <a:lnTo>
                      <a:pt x="0" y="3732164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7CCE6B">
                      <a:alpha val="100000"/>
                    </a:srgbClr>
                  </a:gs>
                  <a:gs pos="100000">
                    <a:srgbClr val="D8FFD0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0" y="-38100"/>
                <a:ext cx="3250378" cy="3770264"/>
              </a:xfrm>
              <a:prstGeom prst="rect">
                <a:avLst/>
              </a:prstGeom>
            </p:spPr>
            <p:txBody>
              <a:bodyPr lIns="16215" tIns="16215" rIns="16215" bIns="16215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24" name="Freeform 24"/>
            <p:cNvSpPr/>
            <p:nvPr/>
          </p:nvSpPr>
          <p:spPr>
            <a:xfrm>
              <a:off x="915992" y="703399"/>
              <a:ext cx="3286251" cy="3976840"/>
            </a:xfrm>
            <a:custGeom>
              <a:avLst/>
              <a:gdLst/>
              <a:ahLst/>
              <a:cxnLst/>
              <a:rect l="l" t="t" r="r" b="b"/>
              <a:pathLst>
                <a:path w="3286251" h="3976840">
                  <a:moveTo>
                    <a:pt x="0" y="0"/>
                  </a:moveTo>
                  <a:lnTo>
                    <a:pt x="3286251" y="0"/>
                  </a:lnTo>
                  <a:lnTo>
                    <a:pt x="3286251" y="3976839"/>
                  </a:lnTo>
                  <a:lnTo>
                    <a:pt x="0" y="3976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57150"/>
              <a:ext cx="5118235" cy="53321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86"/>
                </a:lnSpc>
              </a:pPr>
              <a:r>
                <a:rPr lang="en-US" sz="2351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Arquitectura del Sistema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253386" y="390913"/>
            <a:ext cx="4193916" cy="2298751"/>
            <a:chOff x="0" y="0"/>
            <a:chExt cx="5591888" cy="3065002"/>
          </a:xfrm>
        </p:grpSpPr>
        <p:grpSp>
          <p:nvGrpSpPr>
            <p:cNvPr id="27" name="Group 27"/>
            <p:cNvGrpSpPr/>
            <p:nvPr/>
          </p:nvGrpSpPr>
          <p:grpSpPr>
            <a:xfrm>
              <a:off x="814201" y="402041"/>
              <a:ext cx="3963485" cy="2662961"/>
              <a:chOff x="0" y="0"/>
              <a:chExt cx="4319668" cy="2902271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4319668" cy="2902271"/>
              </a:xfrm>
              <a:custGeom>
                <a:avLst/>
                <a:gdLst/>
                <a:ahLst/>
                <a:cxnLst/>
                <a:rect l="l" t="t" r="r" b="b"/>
                <a:pathLst>
                  <a:path w="4319668" h="2902271">
                    <a:moveTo>
                      <a:pt x="0" y="0"/>
                    </a:moveTo>
                    <a:lnTo>
                      <a:pt x="4319668" y="0"/>
                    </a:lnTo>
                    <a:lnTo>
                      <a:pt x="4319668" y="2902271"/>
                    </a:lnTo>
                    <a:lnTo>
                      <a:pt x="0" y="2902271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093FF">
                      <a:alpha val="100000"/>
                    </a:srgbClr>
                  </a:gs>
                  <a:gs pos="100000">
                    <a:srgbClr val="FDF1FF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0" y="-38100"/>
                <a:ext cx="4319668" cy="2940371"/>
              </a:xfrm>
              <a:prstGeom prst="rect">
                <a:avLst/>
              </a:prstGeom>
            </p:spPr>
            <p:txBody>
              <a:bodyPr lIns="14746" tIns="14746" rIns="14746" bIns="14746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30" name="Freeform 30"/>
            <p:cNvSpPr/>
            <p:nvPr/>
          </p:nvSpPr>
          <p:spPr>
            <a:xfrm>
              <a:off x="929061" y="721713"/>
              <a:ext cx="3733766" cy="2023616"/>
            </a:xfrm>
            <a:custGeom>
              <a:avLst/>
              <a:gdLst/>
              <a:ahLst/>
              <a:cxnLst/>
              <a:rect l="l" t="t" r="r" b="b"/>
              <a:pathLst>
                <a:path w="3733766" h="2023616">
                  <a:moveTo>
                    <a:pt x="0" y="0"/>
                  </a:moveTo>
                  <a:lnTo>
                    <a:pt x="3733766" y="0"/>
                  </a:lnTo>
                  <a:lnTo>
                    <a:pt x="3733766" y="2023616"/>
                  </a:lnTo>
                  <a:lnTo>
                    <a:pt x="0" y="2023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855" b="-855"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57150"/>
              <a:ext cx="5591888" cy="46167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37"/>
                </a:lnSpc>
              </a:pPr>
              <a:r>
                <a:rPr lang="en-US" sz="1998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MER (Modelo entidad-Relacion)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310800">
            <a:off x="12831989" y="7210374"/>
            <a:ext cx="11903008" cy="6647001"/>
            <a:chOff x="0" y="0"/>
            <a:chExt cx="3134949" cy="175065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134949" cy="1750651"/>
            </a:xfrm>
            <a:custGeom>
              <a:avLst/>
              <a:gdLst/>
              <a:ahLst/>
              <a:cxnLst/>
              <a:rect l="l" t="t" r="r" b="b"/>
              <a:pathLst>
                <a:path w="3134949" h="1750651">
                  <a:moveTo>
                    <a:pt x="1567474" y="0"/>
                  </a:moveTo>
                  <a:cubicBezTo>
                    <a:pt x="701782" y="0"/>
                    <a:pt x="0" y="391896"/>
                    <a:pt x="0" y="875325"/>
                  </a:cubicBezTo>
                  <a:cubicBezTo>
                    <a:pt x="0" y="1358754"/>
                    <a:pt x="701782" y="1750651"/>
                    <a:pt x="1567474" y="1750651"/>
                  </a:cubicBezTo>
                  <a:cubicBezTo>
                    <a:pt x="2433166" y="1750651"/>
                    <a:pt x="3134949" y="1358754"/>
                    <a:pt x="3134949" y="875325"/>
                  </a:cubicBezTo>
                  <a:cubicBezTo>
                    <a:pt x="3134949" y="391896"/>
                    <a:pt x="2433166" y="0"/>
                    <a:pt x="1567474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293901" y="126023"/>
              <a:ext cx="2547146" cy="14605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310800">
            <a:off x="15958684" y="-1691004"/>
            <a:ext cx="4276203" cy="5439409"/>
            <a:chOff x="0" y="0"/>
            <a:chExt cx="1126243" cy="143260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126243" cy="1432602"/>
            </a:xfrm>
            <a:custGeom>
              <a:avLst/>
              <a:gdLst/>
              <a:ahLst/>
              <a:cxnLst/>
              <a:rect l="l" t="t" r="r" b="b"/>
              <a:pathLst>
                <a:path w="1126243" h="1432602">
                  <a:moveTo>
                    <a:pt x="563121" y="0"/>
                  </a:moveTo>
                  <a:cubicBezTo>
                    <a:pt x="252118" y="0"/>
                    <a:pt x="0" y="320699"/>
                    <a:pt x="0" y="716301"/>
                  </a:cubicBezTo>
                  <a:cubicBezTo>
                    <a:pt x="0" y="1111903"/>
                    <a:pt x="252118" y="1432602"/>
                    <a:pt x="563121" y="1432602"/>
                  </a:cubicBezTo>
                  <a:cubicBezTo>
                    <a:pt x="874125" y="1432602"/>
                    <a:pt x="1126243" y="1111903"/>
                    <a:pt x="1126243" y="716301"/>
                  </a:cubicBezTo>
                  <a:cubicBezTo>
                    <a:pt x="1126243" y="320699"/>
                    <a:pt x="874125" y="0"/>
                    <a:pt x="563121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05585" y="96206"/>
              <a:ext cx="915072" cy="12020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179348" y="3930393"/>
            <a:ext cx="2341992" cy="3446617"/>
            <a:chOff x="0" y="0"/>
            <a:chExt cx="3122656" cy="4595490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432560"/>
              <a:ext cx="3122656" cy="4162930"/>
              <a:chOff x="0" y="0"/>
              <a:chExt cx="1681903" cy="2242208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1681903" cy="2242208"/>
              </a:xfrm>
              <a:custGeom>
                <a:avLst/>
                <a:gdLst/>
                <a:ahLst/>
                <a:cxnLst/>
                <a:rect l="l" t="t" r="r" b="b"/>
                <a:pathLst>
                  <a:path w="1681903" h="2242208">
                    <a:moveTo>
                      <a:pt x="0" y="0"/>
                    </a:moveTo>
                    <a:lnTo>
                      <a:pt x="1681903" y="0"/>
                    </a:lnTo>
                    <a:lnTo>
                      <a:pt x="1681903" y="2242208"/>
                    </a:lnTo>
                    <a:lnTo>
                      <a:pt x="0" y="2242208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4A9FF">
                      <a:alpha val="100000"/>
                    </a:srgbClr>
                  </a:gs>
                  <a:gs pos="100000">
                    <a:srgbClr val="F5F8FF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-38100"/>
                <a:ext cx="1681903" cy="2280308"/>
              </a:xfrm>
              <a:prstGeom prst="rect">
                <a:avLst/>
              </a:prstGeom>
            </p:spPr>
            <p:txBody>
              <a:bodyPr lIns="27904" tIns="27904" rIns="27904" bIns="27904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12" name="Freeform 12"/>
            <p:cNvSpPr/>
            <p:nvPr/>
          </p:nvSpPr>
          <p:spPr>
            <a:xfrm>
              <a:off x="220623" y="605328"/>
              <a:ext cx="2681411" cy="3817393"/>
            </a:xfrm>
            <a:custGeom>
              <a:avLst/>
              <a:gdLst/>
              <a:ahLst/>
              <a:cxnLst/>
              <a:rect l="l" t="t" r="r" b="b"/>
              <a:pathLst>
                <a:path w="2681411" h="3817393">
                  <a:moveTo>
                    <a:pt x="0" y="0"/>
                  </a:moveTo>
                  <a:lnTo>
                    <a:pt x="2681410" y="0"/>
                  </a:lnTo>
                  <a:lnTo>
                    <a:pt x="2681410" y="3817394"/>
                  </a:lnTo>
                  <a:lnTo>
                    <a:pt x="0" y="38173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3122656" cy="48971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13"/>
                </a:lnSpc>
              </a:pPr>
              <a:r>
                <a:rPr lang="en-US" sz="2136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Casos de Uso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31006" y="183221"/>
            <a:ext cx="3838676" cy="3680682"/>
            <a:chOff x="0" y="0"/>
            <a:chExt cx="5118235" cy="4907576"/>
          </a:xfrm>
        </p:grpSpPr>
        <p:grpSp>
          <p:nvGrpSpPr>
            <p:cNvPr id="15" name="Group 15"/>
            <p:cNvGrpSpPr/>
            <p:nvPr/>
          </p:nvGrpSpPr>
          <p:grpSpPr>
            <a:xfrm>
              <a:off x="629393" y="476061"/>
              <a:ext cx="3859449" cy="4431515"/>
              <a:chOff x="0" y="0"/>
              <a:chExt cx="3250378" cy="3732164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3250378" cy="3732164"/>
              </a:xfrm>
              <a:custGeom>
                <a:avLst/>
                <a:gdLst/>
                <a:ahLst/>
                <a:cxnLst/>
                <a:rect l="l" t="t" r="r" b="b"/>
                <a:pathLst>
                  <a:path w="3250378" h="3732164">
                    <a:moveTo>
                      <a:pt x="0" y="0"/>
                    </a:moveTo>
                    <a:lnTo>
                      <a:pt x="3250378" y="0"/>
                    </a:lnTo>
                    <a:lnTo>
                      <a:pt x="3250378" y="3732164"/>
                    </a:lnTo>
                    <a:lnTo>
                      <a:pt x="0" y="3732164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7CCE6B">
                      <a:alpha val="100000"/>
                    </a:srgbClr>
                  </a:gs>
                  <a:gs pos="100000">
                    <a:srgbClr val="D8FFD0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0" y="-38100"/>
                <a:ext cx="3250378" cy="3770264"/>
              </a:xfrm>
              <a:prstGeom prst="rect">
                <a:avLst/>
              </a:prstGeom>
            </p:spPr>
            <p:txBody>
              <a:bodyPr lIns="16215" tIns="16215" rIns="16215" bIns="16215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18" name="Freeform 18"/>
            <p:cNvSpPr/>
            <p:nvPr/>
          </p:nvSpPr>
          <p:spPr>
            <a:xfrm>
              <a:off x="915992" y="703399"/>
              <a:ext cx="3286251" cy="3976840"/>
            </a:xfrm>
            <a:custGeom>
              <a:avLst/>
              <a:gdLst/>
              <a:ahLst/>
              <a:cxnLst/>
              <a:rect l="l" t="t" r="r" b="b"/>
              <a:pathLst>
                <a:path w="3286251" h="3976840">
                  <a:moveTo>
                    <a:pt x="0" y="0"/>
                  </a:moveTo>
                  <a:lnTo>
                    <a:pt x="3286251" y="0"/>
                  </a:lnTo>
                  <a:lnTo>
                    <a:pt x="3286251" y="3976839"/>
                  </a:lnTo>
                  <a:lnTo>
                    <a:pt x="0" y="3976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57150"/>
              <a:ext cx="5118235" cy="53321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86"/>
                </a:lnSpc>
              </a:pPr>
              <a:r>
                <a:rPr lang="en-US" sz="2351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Arquitectura del Sistema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4048163" y="1354073"/>
            <a:ext cx="13827104" cy="7578854"/>
            <a:chOff x="0" y="0"/>
            <a:chExt cx="18436139" cy="10105139"/>
          </a:xfrm>
        </p:grpSpPr>
        <p:grpSp>
          <p:nvGrpSpPr>
            <p:cNvPr id="21" name="Group 21"/>
            <p:cNvGrpSpPr/>
            <p:nvPr/>
          </p:nvGrpSpPr>
          <p:grpSpPr>
            <a:xfrm>
              <a:off x="2684376" y="1325506"/>
              <a:ext cx="13067386" cy="8779633"/>
              <a:chOff x="0" y="0"/>
              <a:chExt cx="4319668" cy="2902271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0" y="0"/>
                <a:ext cx="4319668" cy="2902271"/>
              </a:xfrm>
              <a:custGeom>
                <a:avLst/>
                <a:gdLst/>
                <a:ahLst/>
                <a:cxnLst/>
                <a:rect l="l" t="t" r="r" b="b"/>
                <a:pathLst>
                  <a:path w="4319668" h="2902271">
                    <a:moveTo>
                      <a:pt x="0" y="0"/>
                    </a:moveTo>
                    <a:lnTo>
                      <a:pt x="4319668" y="0"/>
                    </a:lnTo>
                    <a:lnTo>
                      <a:pt x="4319668" y="2902271"/>
                    </a:lnTo>
                    <a:lnTo>
                      <a:pt x="0" y="2902271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093FF">
                      <a:alpha val="100000"/>
                    </a:srgbClr>
                  </a:gs>
                  <a:gs pos="100000">
                    <a:srgbClr val="FDF1FF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0" y="-38100"/>
                <a:ext cx="4319668" cy="2940371"/>
              </a:xfrm>
              <a:prstGeom prst="rect">
                <a:avLst/>
              </a:prstGeom>
            </p:spPr>
            <p:txBody>
              <a:bodyPr lIns="14746" tIns="14746" rIns="14746" bIns="14746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24" name="Freeform 24"/>
            <p:cNvSpPr/>
            <p:nvPr/>
          </p:nvSpPr>
          <p:spPr>
            <a:xfrm>
              <a:off x="3063061" y="2379448"/>
              <a:ext cx="12310016" cy="6671748"/>
            </a:xfrm>
            <a:custGeom>
              <a:avLst/>
              <a:gdLst/>
              <a:ahLst/>
              <a:cxnLst/>
              <a:rect l="l" t="t" r="r" b="b"/>
              <a:pathLst>
                <a:path w="12310016" h="6671748">
                  <a:moveTo>
                    <a:pt x="0" y="0"/>
                  </a:moveTo>
                  <a:lnTo>
                    <a:pt x="12310016" y="0"/>
                  </a:lnTo>
                  <a:lnTo>
                    <a:pt x="12310016" y="6671748"/>
                  </a:lnTo>
                  <a:lnTo>
                    <a:pt x="0" y="66717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855" b="-855"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142875"/>
              <a:ext cx="18436139" cy="14765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366"/>
                </a:lnSpc>
              </a:pPr>
              <a:r>
                <a:rPr lang="en-US" sz="6587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MER (Modelo entidad-Relacion)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852326" y="7443685"/>
            <a:ext cx="2996035" cy="2642972"/>
            <a:chOff x="0" y="0"/>
            <a:chExt cx="3994714" cy="3523963"/>
          </a:xfrm>
        </p:grpSpPr>
        <p:grpSp>
          <p:nvGrpSpPr>
            <p:cNvPr id="27" name="Group 27"/>
            <p:cNvGrpSpPr/>
            <p:nvPr/>
          </p:nvGrpSpPr>
          <p:grpSpPr>
            <a:xfrm>
              <a:off x="0" y="436284"/>
              <a:ext cx="3994714" cy="3087679"/>
              <a:chOff x="0" y="0"/>
              <a:chExt cx="2090433" cy="1615782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2090433" cy="1615782"/>
              </a:xfrm>
              <a:custGeom>
                <a:avLst/>
                <a:gdLst/>
                <a:ahLst/>
                <a:cxnLst/>
                <a:rect l="l" t="t" r="r" b="b"/>
                <a:pathLst>
                  <a:path w="2090433" h="1615782">
                    <a:moveTo>
                      <a:pt x="0" y="0"/>
                    </a:moveTo>
                    <a:lnTo>
                      <a:pt x="2090433" y="0"/>
                    </a:lnTo>
                    <a:lnTo>
                      <a:pt x="2090433" y="1615782"/>
                    </a:lnTo>
                    <a:lnTo>
                      <a:pt x="0" y="1615782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FDA6A">
                      <a:alpha val="100000"/>
                    </a:srgbClr>
                  </a:gs>
                  <a:gs pos="100000">
                    <a:srgbClr val="FFF7DE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0" y="-38100"/>
                <a:ext cx="2090433" cy="1653882"/>
              </a:xfrm>
              <a:prstGeom prst="rect">
                <a:avLst/>
              </a:prstGeom>
            </p:spPr>
            <p:txBody>
              <a:bodyPr lIns="28475" tIns="28475" rIns="28475" bIns="28475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30" name="Freeform 30"/>
            <p:cNvSpPr/>
            <p:nvPr/>
          </p:nvSpPr>
          <p:spPr>
            <a:xfrm>
              <a:off x="171590" y="639326"/>
              <a:ext cx="3651534" cy="2681595"/>
            </a:xfrm>
            <a:custGeom>
              <a:avLst/>
              <a:gdLst/>
              <a:ahLst/>
              <a:cxnLst/>
              <a:rect l="l" t="t" r="r" b="b"/>
              <a:pathLst>
                <a:path w="3651534" h="2681595">
                  <a:moveTo>
                    <a:pt x="0" y="0"/>
                  </a:moveTo>
                  <a:lnTo>
                    <a:pt x="3651534" y="0"/>
                  </a:lnTo>
                  <a:lnTo>
                    <a:pt x="3651534" y="2681595"/>
                  </a:lnTo>
                  <a:lnTo>
                    <a:pt x="0" y="26815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57150"/>
              <a:ext cx="3994714" cy="49343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</a:pPr>
              <a:r>
                <a:rPr lang="en-US" sz="2154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Diagrama de Clases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310800">
            <a:off x="12831989" y="7210374"/>
            <a:ext cx="11903008" cy="6647001"/>
            <a:chOff x="0" y="0"/>
            <a:chExt cx="3134949" cy="175065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134949" cy="1750651"/>
            </a:xfrm>
            <a:custGeom>
              <a:avLst/>
              <a:gdLst/>
              <a:ahLst/>
              <a:cxnLst/>
              <a:rect l="l" t="t" r="r" b="b"/>
              <a:pathLst>
                <a:path w="3134949" h="1750651">
                  <a:moveTo>
                    <a:pt x="1567474" y="0"/>
                  </a:moveTo>
                  <a:cubicBezTo>
                    <a:pt x="701782" y="0"/>
                    <a:pt x="0" y="391896"/>
                    <a:pt x="0" y="875325"/>
                  </a:cubicBezTo>
                  <a:cubicBezTo>
                    <a:pt x="0" y="1358754"/>
                    <a:pt x="701782" y="1750651"/>
                    <a:pt x="1567474" y="1750651"/>
                  </a:cubicBezTo>
                  <a:cubicBezTo>
                    <a:pt x="2433166" y="1750651"/>
                    <a:pt x="3134949" y="1358754"/>
                    <a:pt x="3134949" y="875325"/>
                  </a:cubicBezTo>
                  <a:cubicBezTo>
                    <a:pt x="3134949" y="391896"/>
                    <a:pt x="2433166" y="0"/>
                    <a:pt x="1567474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293901" y="126023"/>
              <a:ext cx="2547146" cy="14605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310800">
            <a:off x="15958684" y="-1691004"/>
            <a:ext cx="4276203" cy="5439409"/>
            <a:chOff x="0" y="0"/>
            <a:chExt cx="1126243" cy="143260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126243" cy="1432602"/>
            </a:xfrm>
            <a:custGeom>
              <a:avLst/>
              <a:gdLst/>
              <a:ahLst/>
              <a:cxnLst/>
              <a:rect l="l" t="t" r="r" b="b"/>
              <a:pathLst>
                <a:path w="1126243" h="1432602">
                  <a:moveTo>
                    <a:pt x="563121" y="0"/>
                  </a:moveTo>
                  <a:cubicBezTo>
                    <a:pt x="252118" y="0"/>
                    <a:pt x="0" y="320699"/>
                    <a:pt x="0" y="716301"/>
                  </a:cubicBezTo>
                  <a:cubicBezTo>
                    <a:pt x="0" y="1111903"/>
                    <a:pt x="252118" y="1432602"/>
                    <a:pt x="563121" y="1432602"/>
                  </a:cubicBezTo>
                  <a:cubicBezTo>
                    <a:pt x="874125" y="1432602"/>
                    <a:pt x="1126243" y="1111903"/>
                    <a:pt x="1126243" y="716301"/>
                  </a:cubicBezTo>
                  <a:cubicBezTo>
                    <a:pt x="1126243" y="320699"/>
                    <a:pt x="874125" y="0"/>
                    <a:pt x="563121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05585" y="96206"/>
              <a:ext cx="915072" cy="12020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64336" y="4387108"/>
            <a:ext cx="3015654" cy="2660278"/>
            <a:chOff x="0" y="0"/>
            <a:chExt cx="4020871" cy="3547037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439141"/>
              <a:ext cx="4020871" cy="3107897"/>
              <a:chOff x="0" y="0"/>
              <a:chExt cx="2090433" cy="1615782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2090433" cy="1615782"/>
              </a:xfrm>
              <a:custGeom>
                <a:avLst/>
                <a:gdLst/>
                <a:ahLst/>
                <a:cxnLst/>
                <a:rect l="l" t="t" r="r" b="b"/>
                <a:pathLst>
                  <a:path w="2090433" h="1615782">
                    <a:moveTo>
                      <a:pt x="0" y="0"/>
                    </a:moveTo>
                    <a:lnTo>
                      <a:pt x="2090433" y="0"/>
                    </a:lnTo>
                    <a:lnTo>
                      <a:pt x="2090433" y="1615782"/>
                    </a:lnTo>
                    <a:lnTo>
                      <a:pt x="0" y="1615782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FDA6A">
                      <a:alpha val="100000"/>
                    </a:srgbClr>
                  </a:gs>
                  <a:gs pos="100000">
                    <a:srgbClr val="FFF7DE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-38100"/>
                <a:ext cx="2090433" cy="1653882"/>
              </a:xfrm>
              <a:prstGeom prst="rect">
                <a:avLst/>
              </a:prstGeom>
            </p:spPr>
            <p:txBody>
              <a:bodyPr lIns="28475" tIns="28475" rIns="28475" bIns="28475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12" name="Freeform 12"/>
            <p:cNvSpPr/>
            <p:nvPr/>
          </p:nvSpPr>
          <p:spPr>
            <a:xfrm>
              <a:off x="172714" y="643512"/>
              <a:ext cx="3675444" cy="2699154"/>
            </a:xfrm>
            <a:custGeom>
              <a:avLst/>
              <a:gdLst/>
              <a:ahLst/>
              <a:cxnLst/>
              <a:rect l="l" t="t" r="r" b="b"/>
              <a:pathLst>
                <a:path w="3675444" h="2699154">
                  <a:moveTo>
                    <a:pt x="0" y="0"/>
                  </a:moveTo>
                  <a:lnTo>
                    <a:pt x="3675444" y="0"/>
                  </a:lnTo>
                  <a:lnTo>
                    <a:pt x="3675444" y="2699154"/>
                  </a:lnTo>
                  <a:lnTo>
                    <a:pt x="0" y="2699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4020871" cy="4962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4"/>
                </a:lnSpc>
              </a:pPr>
              <a:r>
                <a:rPr lang="en-US" sz="2169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Diagrama de Clases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190482" y="509108"/>
            <a:ext cx="9666649" cy="9268784"/>
            <a:chOff x="0" y="0"/>
            <a:chExt cx="12888865" cy="12358379"/>
          </a:xfrm>
        </p:grpSpPr>
        <p:grpSp>
          <p:nvGrpSpPr>
            <p:cNvPr id="15" name="Group 15"/>
            <p:cNvGrpSpPr/>
            <p:nvPr/>
          </p:nvGrpSpPr>
          <p:grpSpPr>
            <a:xfrm>
              <a:off x="1584952" y="1198829"/>
              <a:ext cx="9718961" cy="11159550"/>
              <a:chOff x="0" y="0"/>
              <a:chExt cx="3250378" cy="3732164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3250378" cy="3732164"/>
              </a:xfrm>
              <a:custGeom>
                <a:avLst/>
                <a:gdLst/>
                <a:ahLst/>
                <a:cxnLst/>
                <a:rect l="l" t="t" r="r" b="b"/>
                <a:pathLst>
                  <a:path w="3250378" h="3732164">
                    <a:moveTo>
                      <a:pt x="0" y="0"/>
                    </a:moveTo>
                    <a:lnTo>
                      <a:pt x="3250378" y="0"/>
                    </a:lnTo>
                    <a:lnTo>
                      <a:pt x="3250378" y="3732164"/>
                    </a:lnTo>
                    <a:lnTo>
                      <a:pt x="0" y="3732164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7CCE6B">
                      <a:alpha val="100000"/>
                    </a:srgbClr>
                  </a:gs>
                  <a:gs pos="100000">
                    <a:srgbClr val="D8FFD0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0" y="-38100"/>
                <a:ext cx="3250378" cy="3770264"/>
              </a:xfrm>
              <a:prstGeom prst="rect">
                <a:avLst/>
              </a:prstGeom>
            </p:spPr>
            <p:txBody>
              <a:bodyPr lIns="30004" tIns="30004" rIns="30004" bIns="30004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18" name="Freeform 18"/>
            <p:cNvSpPr/>
            <p:nvPr/>
          </p:nvSpPr>
          <p:spPr>
            <a:xfrm>
              <a:off x="2306674" y="1771316"/>
              <a:ext cx="8275518" cy="10014576"/>
            </a:xfrm>
            <a:custGeom>
              <a:avLst/>
              <a:gdLst/>
              <a:ahLst/>
              <a:cxnLst/>
              <a:rect l="l" t="t" r="r" b="b"/>
              <a:pathLst>
                <a:path w="8275518" h="10014576">
                  <a:moveTo>
                    <a:pt x="0" y="0"/>
                  </a:moveTo>
                  <a:lnTo>
                    <a:pt x="8275518" y="0"/>
                  </a:lnTo>
                  <a:lnTo>
                    <a:pt x="8275518" y="10014576"/>
                  </a:lnTo>
                  <a:lnTo>
                    <a:pt x="0" y="100145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133350"/>
              <a:ext cx="12888865" cy="133217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520"/>
                </a:lnSpc>
              </a:pPr>
              <a:r>
                <a:rPr lang="en-US" sz="5921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Arquitectura del Sistema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275205" y="7161499"/>
            <a:ext cx="4193916" cy="2298751"/>
            <a:chOff x="0" y="0"/>
            <a:chExt cx="5591888" cy="3065002"/>
          </a:xfrm>
        </p:grpSpPr>
        <p:grpSp>
          <p:nvGrpSpPr>
            <p:cNvPr id="21" name="Group 21"/>
            <p:cNvGrpSpPr/>
            <p:nvPr/>
          </p:nvGrpSpPr>
          <p:grpSpPr>
            <a:xfrm>
              <a:off x="814201" y="402041"/>
              <a:ext cx="3963485" cy="2662961"/>
              <a:chOff x="0" y="0"/>
              <a:chExt cx="4319668" cy="2902271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0" y="0"/>
                <a:ext cx="4319668" cy="2902271"/>
              </a:xfrm>
              <a:custGeom>
                <a:avLst/>
                <a:gdLst/>
                <a:ahLst/>
                <a:cxnLst/>
                <a:rect l="l" t="t" r="r" b="b"/>
                <a:pathLst>
                  <a:path w="4319668" h="2902271">
                    <a:moveTo>
                      <a:pt x="0" y="0"/>
                    </a:moveTo>
                    <a:lnTo>
                      <a:pt x="4319668" y="0"/>
                    </a:lnTo>
                    <a:lnTo>
                      <a:pt x="4319668" y="2902271"/>
                    </a:lnTo>
                    <a:lnTo>
                      <a:pt x="0" y="2902271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093FF">
                      <a:alpha val="100000"/>
                    </a:srgbClr>
                  </a:gs>
                  <a:gs pos="100000">
                    <a:srgbClr val="FDF1FF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0" y="-38100"/>
                <a:ext cx="4319668" cy="2940371"/>
              </a:xfrm>
              <a:prstGeom prst="rect">
                <a:avLst/>
              </a:prstGeom>
            </p:spPr>
            <p:txBody>
              <a:bodyPr lIns="14746" tIns="14746" rIns="14746" bIns="14746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24" name="Freeform 24"/>
            <p:cNvSpPr/>
            <p:nvPr/>
          </p:nvSpPr>
          <p:spPr>
            <a:xfrm>
              <a:off x="929061" y="721713"/>
              <a:ext cx="3733766" cy="2023616"/>
            </a:xfrm>
            <a:custGeom>
              <a:avLst/>
              <a:gdLst/>
              <a:ahLst/>
              <a:cxnLst/>
              <a:rect l="l" t="t" r="r" b="b"/>
              <a:pathLst>
                <a:path w="3733766" h="2023616">
                  <a:moveTo>
                    <a:pt x="0" y="0"/>
                  </a:moveTo>
                  <a:lnTo>
                    <a:pt x="3733766" y="0"/>
                  </a:lnTo>
                  <a:lnTo>
                    <a:pt x="3733766" y="2023616"/>
                  </a:lnTo>
                  <a:lnTo>
                    <a:pt x="0" y="2023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855" b="-855"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57150"/>
              <a:ext cx="5591888" cy="46167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37"/>
                </a:lnSpc>
              </a:pPr>
              <a:r>
                <a:rPr lang="en-US" sz="1998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MER (Modelo entidad-Relacion)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201166" y="826377"/>
            <a:ext cx="2341992" cy="3446617"/>
            <a:chOff x="0" y="0"/>
            <a:chExt cx="3122656" cy="4595490"/>
          </a:xfrm>
        </p:grpSpPr>
        <p:grpSp>
          <p:nvGrpSpPr>
            <p:cNvPr id="27" name="Group 27"/>
            <p:cNvGrpSpPr/>
            <p:nvPr/>
          </p:nvGrpSpPr>
          <p:grpSpPr>
            <a:xfrm>
              <a:off x="0" y="432560"/>
              <a:ext cx="3122656" cy="4162930"/>
              <a:chOff x="0" y="0"/>
              <a:chExt cx="1681903" cy="2242208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1681903" cy="2242208"/>
              </a:xfrm>
              <a:custGeom>
                <a:avLst/>
                <a:gdLst/>
                <a:ahLst/>
                <a:cxnLst/>
                <a:rect l="l" t="t" r="r" b="b"/>
                <a:pathLst>
                  <a:path w="1681903" h="2242208">
                    <a:moveTo>
                      <a:pt x="0" y="0"/>
                    </a:moveTo>
                    <a:lnTo>
                      <a:pt x="1681903" y="0"/>
                    </a:lnTo>
                    <a:lnTo>
                      <a:pt x="1681903" y="2242208"/>
                    </a:lnTo>
                    <a:lnTo>
                      <a:pt x="0" y="2242208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4A9FF">
                      <a:alpha val="100000"/>
                    </a:srgbClr>
                  </a:gs>
                  <a:gs pos="100000">
                    <a:srgbClr val="F5F8FF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0" y="-38100"/>
                <a:ext cx="1681903" cy="2280308"/>
              </a:xfrm>
              <a:prstGeom prst="rect">
                <a:avLst/>
              </a:prstGeom>
            </p:spPr>
            <p:txBody>
              <a:bodyPr lIns="27904" tIns="27904" rIns="27904" bIns="27904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30" name="Freeform 30"/>
            <p:cNvSpPr/>
            <p:nvPr/>
          </p:nvSpPr>
          <p:spPr>
            <a:xfrm>
              <a:off x="220623" y="605328"/>
              <a:ext cx="2681411" cy="3817393"/>
            </a:xfrm>
            <a:custGeom>
              <a:avLst/>
              <a:gdLst/>
              <a:ahLst/>
              <a:cxnLst/>
              <a:rect l="l" t="t" r="r" b="b"/>
              <a:pathLst>
                <a:path w="2681411" h="3817393">
                  <a:moveTo>
                    <a:pt x="0" y="0"/>
                  </a:moveTo>
                  <a:lnTo>
                    <a:pt x="2681410" y="0"/>
                  </a:lnTo>
                  <a:lnTo>
                    <a:pt x="2681410" y="3817394"/>
                  </a:lnTo>
                  <a:lnTo>
                    <a:pt x="0" y="38173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57150"/>
              <a:ext cx="3122656" cy="48971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13"/>
                </a:lnSpc>
              </a:pPr>
              <a:r>
                <a:rPr lang="en-US" sz="2136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Casos de Uso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185042" y="8253052"/>
            <a:ext cx="21125942" cy="4067896"/>
            <a:chOff x="0" y="0"/>
            <a:chExt cx="1560444" cy="30047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560444" cy="300470"/>
            </a:xfrm>
            <a:custGeom>
              <a:avLst/>
              <a:gdLst/>
              <a:ahLst/>
              <a:cxnLst/>
              <a:rect l="l" t="t" r="r" b="b"/>
              <a:pathLst>
                <a:path w="1560444" h="300470">
                  <a:moveTo>
                    <a:pt x="780222" y="0"/>
                  </a:moveTo>
                  <a:cubicBezTo>
                    <a:pt x="349317" y="0"/>
                    <a:pt x="0" y="67263"/>
                    <a:pt x="0" y="150235"/>
                  </a:cubicBezTo>
                  <a:cubicBezTo>
                    <a:pt x="0" y="233208"/>
                    <a:pt x="349317" y="300470"/>
                    <a:pt x="780222" y="300470"/>
                  </a:cubicBezTo>
                  <a:cubicBezTo>
                    <a:pt x="1211126" y="300470"/>
                    <a:pt x="1560444" y="233208"/>
                    <a:pt x="1560444" y="150235"/>
                  </a:cubicBezTo>
                  <a:cubicBezTo>
                    <a:pt x="1560444" y="67263"/>
                    <a:pt x="1211126" y="0"/>
                    <a:pt x="780222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46292" y="-9931"/>
              <a:ext cx="1267860" cy="2822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6991762" y="5284989"/>
            <a:ext cx="4304475" cy="4196864"/>
          </a:xfrm>
          <a:custGeom>
            <a:avLst/>
            <a:gdLst/>
            <a:ahLst/>
            <a:cxnLst/>
            <a:rect l="l" t="t" r="r" b="b"/>
            <a:pathLst>
              <a:path w="4304475" h="4196864">
                <a:moveTo>
                  <a:pt x="0" y="0"/>
                </a:moveTo>
                <a:lnTo>
                  <a:pt x="4304476" y="0"/>
                </a:lnTo>
                <a:lnTo>
                  <a:pt x="4304476" y="4196864"/>
                </a:lnTo>
                <a:lnTo>
                  <a:pt x="0" y="419686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6" name="TextBox 6"/>
          <p:cNvSpPr txBox="1"/>
          <p:nvPr/>
        </p:nvSpPr>
        <p:spPr>
          <a:xfrm>
            <a:off x="3208132" y="3655281"/>
            <a:ext cx="11871736" cy="14882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9729"/>
              </a:lnSpc>
              <a:spcBef>
                <a:spcPct val="0"/>
              </a:spcBef>
            </a:pPr>
            <a:r>
              <a:rPr lang="en-US" sz="10810" b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Mockups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5241058" y="-1601296"/>
            <a:ext cx="5259992" cy="5259992"/>
            <a:chOff x="0" y="0"/>
            <a:chExt cx="81280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5046156" y="5508541"/>
            <a:ext cx="2213144" cy="2213144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-1106572" y="588295"/>
            <a:ext cx="2213144" cy="2213144"/>
            <a:chOff x="0" y="0"/>
            <a:chExt cx="812800" cy="8128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-813179" y="4499788"/>
            <a:ext cx="3221898" cy="3221898"/>
            <a:chOff x="0" y="0"/>
            <a:chExt cx="812800" cy="8128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393124" y="-3636628"/>
            <a:ext cx="5033565" cy="5033565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464183" y="-1794490"/>
            <a:ext cx="3896277" cy="3896277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5307030" y="9025192"/>
            <a:ext cx="2894697" cy="289469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3479838" y="1108510"/>
            <a:ext cx="14619312" cy="8069980"/>
            <a:chOff x="0" y="0"/>
            <a:chExt cx="19492416" cy="10759974"/>
          </a:xfrm>
        </p:grpSpPr>
        <p:grpSp>
          <p:nvGrpSpPr>
            <p:cNvPr id="12" name="Group 12"/>
            <p:cNvGrpSpPr/>
            <p:nvPr/>
          </p:nvGrpSpPr>
          <p:grpSpPr>
            <a:xfrm>
              <a:off x="3367815" y="1060299"/>
              <a:ext cx="12756787" cy="9699674"/>
              <a:chOff x="0" y="0"/>
              <a:chExt cx="2706619" cy="2057989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2706619" cy="2057989"/>
              </a:xfrm>
              <a:custGeom>
                <a:avLst/>
                <a:gdLst/>
                <a:ahLst/>
                <a:cxnLst/>
                <a:rect l="l" t="t" r="r" b="b"/>
                <a:pathLst>
                  <a:path w="2706619" h="2057989">
                    <a:moveTo>
                      <a:pt x="0" y="0"/>
                    </a:moveTo>
                    <a:lnTo>
                      <a:pt x="2706619" y="0"/>
                    </a:lnTo>
                    <a:lnTo>
                      <a:pt x="2706619" y="2057989"/>
                    </a:lnTo>
                    <a:lnTo>
                      <a:pt x="0" y="205798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F6767">
                      <a:alpha val="100000"/>
                    </a:srgbClr>
                  </a:gs>
                  <a:gs pos="100000">
                    <a:srgbClr val="FFD1D1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0" y="-38100"/>
                <a:ext cx="2706619" cy="2096089"/>
              </a:xfrm>
              <a:prstGeom prst="rect">
                <a:avLst/>
              </a:prstGeom>
            </p:spPr>
            <p:txBody>
              <a:bodyPr lIns="36954" tIns="36954" rIns="36954" bIns="36954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15" name="Freeform 15"/>
            <p:cNvSpPr/>
            <p:nvPr/>
          </p:nvSpPr>
          <p:spPr>
            <a:xfrm>
              <a:off x="3857029" y="1456662"/>
              <a:ext cx="11778358" cy="8906949"/>
            </a:xfrm>
            <a:custGeom>
              <a:avLst/>
              <a:gdLst/>
              <a:ahLst/>
              <a:cxnLst/>
              <a:rect l="l" t="t" r="r" b="b"/>
              <a:pathLst>
                <a:path w="11778358" h="8906949">
                  <a:moveTo>
                    <a:pt x="0" y="0"/>
                  </a:moveTo>
                  <a:lnTo>
                    <a:pt x="11778358" y="0"/>
                  </a:lnTo>
                  <a:lnTo>
                    <a:pt x="11778358" y="8906949"/>
                  </a:lnTo>
                  <a:lnTo>
                    <a:pt x="0" y="89069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3944" r="-2063" b="-3944"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123825"/>
              <a:ext cx="19492416" cy="118412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651"/>
                </a:lnSpc>
              </a:pPr>
              <a:r>
                <a:rPr lang="en-US" sz="5237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Vista del Recepcionista y Guardia de Acceso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241693" y="170379"/>
            <a:ext cx="1882812" cy="1496319"/>
            <a:chOff x="0" y="0"/>
            <a:chExt cx="2510416" cy="1995092"/>
          </a:xfrm>
        </p:grpSpPr>
        <p:grpSp>
          <p:nvGrpSpPr>
            <p:cNvPr id="18" name="Group 18"/>
            <p:cNvGrpSpPr/>
            <p:nvPr/>
          </p:nvGrpSpPr>
          <p:grpSpPr>
            <a:xfrm>
              <a:off x="0" y="275505"/>
              <a:ext cx="2510416" cy="1719587"/>
              <a:chOff x="0" y="0"/>
              <a:chExt cx="3114165" cy="2133143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3114165" cy="2133143"/>
              </a:xfrm>
              <a:custGeom>
                <a:avLst/>
                <a:gdLst/>
                <a:ahLst/>
                <a:cxnLst/>
                <a:rect l="l" t="t" r="r" b="b"/>
                <a:pathLst>
                  <a:path w="3114165" h="2133143">
                    <a:moveTo>
                      <a:pt x="0" y="0"/>
                    </a:moveTo>
                    <a:lnTo>
                      <a:pt x="3114165" y="0"/>
                    </a:lnTo>
                    <a:lnTo>
                      <a:pt x="3114165" y="2133143"/>
                    </a:lnTo>
                    <a:lnTo>
                      <a:pt x="0" y="213314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F9869">
                      <a:alpha val="100000"/>
                    </a:srgbClr>
                  </a:gs>
                  <a:gs pos="100000">
                    <a:srgbClr val="FFD2BD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0" y="-38100"/>
                <a:ext cx="3114165" cy="2171243"/>
              </a:xfrm>
              <a:prstGeom prst="rect">
                <a:avLst/>
              </a:prstGeom>
            </p:spPr>
            <p:txBody>
              <a:bodyPr lIns="8364" tIns="8364" rIns="8364" bIns="8364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21" name="Freeform 21"/>
            <p:cNvSpPr/>
            <p:nvPr/>
          </p:nvSpPr>
          <p:spPr>
            <a:xfrm>
              <a:off x="85537" y="404254"/>
              <a:ext cx="2339341" cy="1462088"/>
            </a:xfrm>
            <a:custGeom>
              <a:avLst/>
              <a:gdLst/>
              <a:ahLst/>
              <a:cxnLst/>
              <a:rect l="l" t="t" r="r" b="b"/>
              <a:pathLst>
                <a:path w="2339341" h="1462088">
                  <a:moveTo>
                    <a:pt x="0" y="0"/>
                  </a:moveTo>
                  <a:lnTo>
                    <a:pt x="2339341" y="0"/>
                  </a:lnTo>
                  <a:lnTo>
                    <a:pt x="2339341" y="1462089"/>
                  </a:lnTo>
                  <a:lnTo>
                    <a:pt x="0" y="14620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38100"/>
              <a:ext cx="2510416" cy="3136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</a:pPr>
              <a:r>
                <a:rPr lang="en-US" sz="14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Vista del Mecanico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057803" y="1784508"/>
            <a:ext cx="2250592" cy="1439886"/>
            <a:chOff x="0" y="0"/>
            <a:chExt cx="3000789" cy="1919848"/>
          </a:xfrm>
        </p:grpSpPr>
        <p:grpSp>
          <p:nvGrpSpPr>
            <p:cNvPr id="24" name="Group 24"/>
            <p:cNvGrpSpPr/>
            <p:nvPr/>
          </p:nvGrpSpPr>
          <p:grpSpPr>
            <a:xfrm>
              <a:off x="245187" y="275505"/>
              <a:ext cx="2510416" cy="1644343"/>
              <a:chOff x="0" y="0"/>
              <a:chExt cx="3114165" cy="2039803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3114165" cy="2039803"/>
              </a:xfrm>
              <a:custGeom>
                <a:avLst/>
                <a:gdLst/>
                <a:ahLst/>
                <a:cxnLst/>
                <a:rect l="l" t="t" r="r" b="b"/>
                <a:pathLst>
                  <a:path w="3114165" h="2039803">
                    <a:moveTo>
                      <a:pt x="0" y="0"/>
                    </a:moveTo>
                    <a:lnTo>
                      <a:pt x="3114165" y="0"/>
                    </a:lnTo>
                    <a:lnTo>
                      <a:pt x="3114165" y="2039803"/>
                    </a:lnTo>
                    <a:lnTo>
                      <a:pt x="0" y="203980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FDA6A">
                      <a:alpha val="100000"/>
                    </a:srgbClr>
                  </a:gs>
                  <a:gs pos="100000">
                    <a:srgbClr val="FFF7DE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0" y="-38100"/>
                <a:ext cx="3114165" cy="2077903"/>
              </a:xfrm>
              <a:prstGeom prst="rect">
                <a:avLst/>
              </a:prstGeom>
            </p:spPr>
            <p:txBody>
              <a:bodyPr lIns="8364" tIns="8364" rIns="8364" bIns="8364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27" name="Freeform 27"/>
            <p:cNvSpPr/>
            <p:nvPr/>
          </p:nvSpPr>
          <p:spPr>
            <a:xfrm>
              <a:off x="348303" y="377619"/>
              <a:ext cx="2304183" cy="1440114"/>
            </a:xfrm>
            <a:custGeom>
              <a:avLst/>
              <a:gdLst/>
              <a:ahLst/>
              <a:cxnLst/>
              <a:rect l="l" t="t" r="r" b="b"/>
              <a:pathLst>
                <a:path w="2304183" h="1440114">
                  <a:moveTo>
                    <a:pt x="0" y="0"/>
                  </a:moveTo>
                  <a:lnTo>
                    <a:pt x="2304183" y="0"/>
                  </a:lnTo>
                  <a:lnTo>
                    <a:pt x="2304183" y="1440115"/>
                  </a:lnTo>
                  <a:lnTo>
                    <a:pt x="0" y="14401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38100"/>
              <a:ext cx="3000789" cy="3136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</a:pPr>
              <a:r>
                <a:rPr lang="en-US" sz="14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Vista del Jefe de Taller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676218" y="3317213"/>
            <a:ext cx="3013762" cy="1757247"/>
            <a:chOff x="0" y="0"/>
            <a:chExt cx="4018349" cy="2342996"/>
          </a:xfrm>
        </p:grpSpPr>
        <p:grpSp>
          <p:nvGrpSpPr>
            <p:cNvPr id="30" name="Group 30"/>
            <p:cNvGrpSpPr/>
            <p:nvPr/>
          </p:nvGrpSpPr>
          <p:grpSpPr>
            <a:xfrm>
              <a:off x="753967" y="275505"/>
              <a:ext cx="2510416" cy="2067491"/>
              <a:chOff x="0" y="0"/>
              <a:chExt cx="2623623" cy="2160724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2623623" cy="2160724"/>
              </a:xfrm>
              <a:custGeom>
                <a:avLst/>
                <a:gdLst/>
                <a:ahLst/>
                <a:cxnLst/>
                <a:rect l="l" t="t" r="r" b="b"/>
                <a:pathLst>
                  <a:path w="2623623" h="2160724">
                    <a:moveTo>
                      <a:pt x="0" y="0"/>
                    </a:moveTo>
                    <a:lnTo>
                      <a:pt x="2623623" y="0"/>
                    </a:lnTo>
                    <a:lnTo>
                      <a:pt x="2623623" y="2160724"/>
                    </a:lnTo>
                    <a:lnTo>
                      <a:pt x="0" y="2160724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7CCE6B">
                      <a:alpha val="100000"/>
                    </a:srgbClr>
                  </a:gs>
                  <a:gs pos="100000">
                    <a:srgbClr val="D8FFD0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38100"/>
                <a:ext cx="2623623" cy="2198824"/>
              </a:xfrm>
              <a:prstGeom prst="rect">
                <a:avLst/>
              </a:prstGeom>
            </p:spPr>
            <p:txBody>
              <a:bodyPr lIns="33077" tIns="33077" rIns="33077" bIns="33077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33" name="Freeform 33"/>
            <p:cNvSpPr/>
            <p:nvPr/>
          </p:nvSpPr>
          <p:spPr>
            <a:xfrm>
              <a:off x="893662" y="387358"/>
              <a:ext cx="2231025" cy="1851750"/>
            </a:xfrm>
            <a:custGeom>
              <a:avLst/>
              <a:gdLst/>
              <a:ahLst/>
              <a:cxnLst/>
              <a:rect l="l" t="t" r="r" b="b"/>
              <a:pathLst>
                <a:path w="2231025" h="1851750">
                  <a:moveTo>
                    <a:pt x="0" y="0"/>
                  </a:moveTo>
                  <a:lnTo>
                    <a:pt x="2231025" y="0"/>
                  </a:lnTo>
                  <a:lnTo>
                    <a:pt x="2231025" y="1851751"/>
                  </a:lnTo>
                  <a:lnTo>
                    <a:pt x="0" y="18517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38100"/>
              <a:ext cx="4018349" cy="3136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</a:pPr>
              <a:r>
                <a:rPr lang="en-US" sz="14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Vista del Asistente de Repuesto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808994" y="5167279"/>
            <a:ext cx="2748210" cy="1658253"/>
            <a:chOff x="0" y="0"/>
            <a:chExt cx="3664279" cy="2211004"/>
          </a:xfrm>
        </p:grpSpPr>
        <p:grpSp>
          <p:nvGrpSpPr>
            <p:cNvPr id="36" name="Group 36"/>
            <p:cNvGrpSpPr/>
            <p:nvPr/>
          </p:nvGrpSpPr>
          <p:grpSpPr>
            <a:xfrm>
              <a:off x="576932" y="313289"/>
              <a:ext cx="2510416" cy="1897715"/>
              <a:chOff x="0" y="0"/>
              <a:chExt cx="2787980" cy="2107536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0" y="0"/>
                <a:ext cx="2787980" cy="2107536"/>
              </a:xfrm>
              <a:custGeom>
                <a:avLst/>
                <a:gdLst/>
                <a:ahLst/>
                <a:cxnLst/>
                <a:rect l="l" t="t" r="r" b="b"/>
                <a:pathLst>
                  <a:path w="2787980" h="2107536">
                    <a:moveTo>
                      <a:pt x="0" y="0"/>
                    </a:moveTo>
                    <a:lnTo>
                      <a:pt x="2787980" y="0"/>
                    </a:lnTo>
                    <a:lnTo>
                      <a:pt x="2787980" y="2107536"/>
                    </a:lnTo>
                    <a:lnTo>
                      <a:pt x="0" y="2107536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7AF6EE">
                      <a:alpha val="100000"/>
                    </a:srgbClr>
                  </a:gs>
                  <a:gs pos="100000">
                    <a:srgbClr val="EAFFFE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0" y="-38100"/>
                <a:ext cx="2787980" cy="2145636"/>
              </a:xfrm>
              <a:prstGeom prst="rect">
                <a:avLst/>
              </a:prstGeom>
            </p:spPr>
            <p:txBody>
              <a:bodyPr lIns="27060" tIns="27060" rIns="27060" bIns="27060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39" name="Freeform 39"/>
            <p:cNvSpPr/>
            <p:nvPr/>
          </p:nvSpPr>
          <p:spPr>
            <a:xfrm>
              <a:off x="687262" y="410644"/>
              <a:ext cx="2289755" cy="1703005"/>
            </a:xfrm>
            <a:custGeom>
              <a:avLst/>
              <a:gdLst/>
              <a:ahLst/>
              <a:cxnLst/>
              <a:rect l="l" t="t" r="r" b="b"/>
              <a:pathLst>
                <a:path w="2289755" h="1703005">
                  <a:moveTo>
                    <a:pt x="0" y="0"/>
                  </a:moveTo>
                  <a:lnTo>
                    <a:pt x="2289755" y="0"/>
                  </a:lnTo>
                  <a:lnTo>
                    <a:pt x="2289755" y="1703005"/>
                  </a:lnTo>
                  <a:lnTo>
                    <a:pt x="0" y="17030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38100"/>
              <a:ext cx="3664279" cy="3136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</a:pPr>
              <a:r>
                <a:rPr lang="en-US" sz="14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Vista del Coordinador Zonal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1201602" y="6890014"/>
            <a:ext cx="1962994" cy="1670818"/>
            <a:chOff x="0" y="0"/>
            <a:chExt cx="2617325" cy="2227758"/>
          </a:xfrm>
        </p:grpSpPr>
        <p:grpSp>
          <p:nvGrpSpPr>
            <p:cNvPr id="42" name="Group 42"/>
            <p:cNvGrpSpPr/>
            <p:nvPr/>
          </p:nvGrpSpPr>
          <p:grpSpPr>
            <a:xfrm>
              <a:off x="53455" y="313289"/>
              <a:ext cx="2510416" cy="1914469"/>
              <a:chOff x="0" y="0"/>
              <a:chExt cx="2904776" cy="2215212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0" y="0"/>
                <a:ext cx="2904776" cy="2215212"/>
              </a:xfrm>
              <a:custGeom>
                <a:avLst/>
                <a:gdLst/>
                <a:ahLst/>
                <a:cxnLst/>
                <a:rect l="l" t="t" r="r" b="b"/>
                <a:pathLst>
                  <a:path w="2904776" h="2215212">
                    <a:moveTo>
                      <a:pt x="0" y="0"/>
                    </a:moveTo>
                    <a:lnTo>
                      <a:pt x="2904776" y="0"/>
                    </a:lnTo>
                    <a:lnTo>
                      <a:pt x="2904776" y="2215212"/>
                    </a:lnTo>
                    <a:lnTo>
                      <a:pt x="0" y="2215212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093FF">
                      <a:alpha val="100000"/>
                    </a:srgbClr>
                  </a:gs>
                  <a:gs pos="100000">
                    <a:srgbClr val="FDF1FF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0" y="-38100"/>
                <a:ext cx="2904776" cy="2253312"/>
              </a:xfrm>
              <a:prstGeom prst="rect">
                <a:avLst/>
              </a:prstGeom>
            </p:spPr>
            <p:txBody>
              <a:bodyPr lIns="7852" tIns="7852" rIns="7852" bIns="7852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45" name="Freeform 45"/>
            <p:cNvSpPr/>
            <p:nvPr/>
          </p:nvSpPr>
          <p:spPr>
            <a:xfrm>
              <a:off x="181161" y="474226"/>
              <a:ext cx="2255003" cy="1592596"/>
            </a:xfrm>
            <a:custGeom>
              <a:avLst/>
              <a:gdLst/>
              <a:ahLst/>
              <a:cxnLst/>
              <a:rect l="l" t="t" r="r" b="b"/>
              <a:pathLst>
                <a:path w="2255003" h="1592596">
                  <a:moveTo>
                    <a:pt x="0" y="0"/>
                  </a:moveTo>
                  <a:lnTo>
                    <a:pt x="2255003" y="0"/>
                  </a:lnTo>
                  <a:lnTo>
                    <a:pt x="2255003" y="1592595"/>
                  </a:lnTo>
                  <a:lnTo>
                    <a:pt x="0" y="15925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38100"/>
              <a:ext cx="2617325" cy="3136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</a:pPr>
              <a:r>
                <a:rPr lang="en-US" sz="14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Vista del Supervisor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1037758" y="8625314"/>
            <a:ext cx="2290683" cy="1491307"/>
            <a:chOff x="0" y="0"/>
            <a:chExt cx="3054244" cy="1988409"/>
          </a:xfrm>
        </p:grpSpPr>
        <p:grpSp>
          <p:nvGrpSpPr>
            <p:cNvPr id="48" name="Group 48"/>
            <p:cNvGrpSpPr/>
            <p:nvPr/>
          </p:nvGrpSpPr>
          <p:grpSpPr>
            <a:xfrm>
              <a:off x="271914" y="313289"/>
              <a:ext cx="2510416" cy="1675120"/>
              <a:chOff x="0" y="0"/>
              <a:chExt cx="3286308" cy="2192849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0" y="0"/>
                <a:ext cx="3286308" cy="2192849"/>
              </a:xfrm>
              <a:custGeom>
                <a:avLst/>
                <a:gdLst/>
                <a:ahLst/>
                <a:cxnLst/>
                <a:rect l="l" t="t" r="r" b="b"/>
                <a:pathLst>
                  <a:path w="3286308" h="2192849">
                    <a:moveTo>
                      <a:pt x="0" y="0"/>
                    </a:moveTo>
                    <a:lnTo>
                      <a:pt x="3286308" y="0"/>
                    </a:lnTo>
                    <a:lnTo>
                      <a:pt x="3286308" y="2192849"/>
                    </a:lnTo>
                    <a:lnTo>
                      <a:pt x="0" y="219284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4A9FF">
                      <a:alpha val="100000"/>
                    </a:srgbClr>
                  </a:gs>
                  <a:gs pos="100000">
                    <a:srgbClr val="F5F8FF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0" y="-38100"/>
                <a:ext cx="3286308" cy="2230949"/>
              </a:xfrm>
              <a:prstGeom prst="rect">
                <a:avLst/>
              </a:prstGeom>
            </p:spPr>
            <p:txBody>
              <a:bodyPr lIns="8533" tIns="8533" rIns="8533" bIns="8533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51" name="Freeform 51"/>
            <p:cNvSpPr/>
            <p:nvPr/>
          </p:nvSpPr>
          <p:spPr>
            <a:xfrm>
              <a:off x="399867" y="446315"/>
              <a:ext cx="2254510" cy="1409069"/>
            </a:xfrm>
            <a:custGeom>
              <a:avLst/>
              <a:gdLst/>
              <a:ahLst/>
              <a:cxnLst/>
              <a:rect l="l" t="t" r="r" b="b"/>
              <a:pathLst>
                <a:path w="2254510" h="1409069">
                  <a:moveTo>
                    <a:pt x="0" y="0"/>
                  </a:moveTo>
                  <a:lnTo>
                    <a:pt x="2254510" y="0"/>
                  </a:lnTo>
                  <a:lnTo>
                    <a:pt x="2254510" y="1409069"/>
                  </a:lnTo>
                  <a:lnTo>
                    <a:pt x="0" y="14090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0" y="-38100"/>
              <a:ext cx="3054244" cy="3136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</a:pPr>
              <a:r>
                <a:rPr lang="en-US" sz="14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Vista del Administrador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393124" y="-3636628"/>
            <a:ext cx="5033565" cy="5033565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464183" y="-1794490"/>
            <a:ext cx="3896277" cy="3896277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5307030" y="9025192"/>
            <a:ext cx="2894697" cy="289469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257886" y="8523778"/>
            <a:ext cx="3851298" cy="1638232"/>
            <a:chOff x="0" y="0"/>
            <a:chExt cx="5135064" cy="2184310"/>
          </a:xfrm>
        </p:grpSpPr>
        <p:grpSp>
          <p:nvGrpSpPr>
            <p:cNvPr id="12" name="Group 12"/>
            <p:cNvGrpSpPr/>
            <p:nvPr/>
          </p:nvGrpSpPr>
          <p:grpSpPr>
            <a:xfrm>
              <a:off x="1312324" y="275505"/>
              <a:ext cx="2510416" cy="1908805"/>
              <a:chOff x="0" y="0"/>
              <a:chExt cx="2706619" cy="2057989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2706619" cy="2057989"/>
              </a:xfrm>
              <a:custGeom>
                <a:avLst/>
                <a:gdLst/>
                <a:ahLst/>
                <a:cxnLst/>
                <a:rect l="l" t="t" r="r" b="b"/>
                <a:pathLst>
                  <a:path w="2706619" h="2057989">
                    <a:moveTo>
                      <a:pt x="0" y="0"/>
                    </a:moveTo>
                    <a:lnTo>
                      <a:pt x="2706619" y="0"/>
                    </a:lnTo>
                    <a:lnTo>
                      <a:pt x="2706619" y="2057989"/>
                    </a:lnTo>
                    <a:lnTo>
                      <a:pt x="0" y="205798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F6767">
                      <a:alpha val="100000"/>
                    </a:srgbClr>
                  </a:gs>
                  <a:gs pos="100000">
                    <a:srgbClr val="FFD1D1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0" y="-38100"/>
                <a:ext cx="2706619" cy="2096089"/>
              </a:xfrm>
              <a:prstGeom prst="rect">
                <a:avLst/>
              </a:prstGeom>
            </p:spPr>
            <p:txBody>
              <a:bodyPr lIns="8682" tIns="8682" rIns="8682" bIns="8682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15" name="Freeform 15"/>
            <p:cNvSpPr/>
            <p:nvPr/>
          </p:nvSpPr>
          <p:spPr>
            <a:xfrm>
              <a:off x="1408597" y="353506"/>
              <a:ext cx="2317870" cy="1752804"/>
            </a:xfrm>
            <a:custGeom>
              <a:avLst/>
              <a:gdLst/>
              <a:ahLst/>
              <a:cxnLst/>
              <a:rect l="l" t="t" r="r" b="b"/>
              <a:pathLst>
                <a:path w="2317870" h="1752804">
                  <a:moveTo>
                    <a:pt x="0" y="0"/>
                  </a:moveTo>
                  <a:lnTo>
                    <a:pt x="2317870" y="0"/>
                  </a:lnTo>
                  <a:lnTo>
                    <a:pt x="2317870" y="1752803"/>
                  </a:lnTo>
                  <a:lnTo>
                    <a:pt x="0" y="1752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3944" r="-2063" b="-3944"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5135064" cy="3136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</a:pPr>
              <a:r>
                <a:rPr lang="en-US" sz="14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Vista del Recepcionista y Guardia de Acceso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5307030" y="549935"/>
            <a:ext cx="11345265" cy="9187130"/>
            <a:chOff x="0" y="0"/>
            <a:chExt cx="15127020" cy="12249507"/>
          </a:xfrm>
        </p:grpSpPr>
        <p:grpSp>
          <p:nvGrpSpPr>
            <p:cNvPr id="18" name="Group 18"/>
            <p:cNvGrpSpPr/>
            <p:nvPr/>
          </p:nvGrpSpPr>
          <p:grpSpPr>
            <a:xfrm>
              <a:off x="0" y="1887788"/>
              <a:ext cx="15127020" cy="10361719"/>
              <a:chOff x="0" y="0"/>
              <a:chExt cx="3114165" cy="2133143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3114165" cy="2133143"/>
              </a:xfrm>
              <a:custGeom>
                <a:avLst/>
                <a:gdLst/>
                <a:ahLst/>
                <a:cxnLst/>
                <a:rect l="l" t="t" r="r" b="b"/>
                <a:pathLst>
                  <a:path w="3114165" h="2133143">
                    <a:moveTo>
                      <a:pt x="0" y="0"/>
                    </a:moveTo>
                    <a:lnTo>
                      <a:pt x="3114165" y="0"/>
                    </a:lnTo>
                    <a:lnTo>
                      <a:pt x="3114165" y="2133143"/>
                    </a:lnTo>
                    <a:lnTo>
                      <a:pt x="0" y="213314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F9869">
                      <a:alpha val="100000"/>
                    </a:srgbClr>
                  </a:gs>
                  <a:gs pos="100000">
                    <a:srgbClr val="FFD2BD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0" y="-38100"/>
                <a:ext cx="3114165" cy="2171243"/>
              </a:xfrm>
              <a:prstGeom prst="rect">
                <a:avLst/>
              </a:prstGeom>
            </p:spPr>
            <p:txBody>
              <a:bodyPr lIns="8364" tIns="8364" rIns="8364" bIns="8364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21" name="Freeform 21"/>
            <p:cNvSpPr/>
            <p:nvPr/>
          </p:nvSpPr>
          <p:spPr>
            <a:xfrm>
              <a:off x="515421" y="2663592"/>
              <a:ext cx="14096177" cy="8810111"/>
            </a:xfrm>
            <a:custGeom>
              <a:avLst/>
              <a:gdLst/>
              <a:ahLst/>
              <a:cxnLst/>
              <a:rect l="l" t="t" r="r" b="b"/>
              <a:pathLst>
                <a:path w="14096177" h="8810111">
                  <a:moveTo>
                    <a:pt x="0" y="0"/>
                  </a:moveTo>
                  <a:lnTo>
                    <a:pt x="14096177" y="0"/>
                  </a:lnTo>
                  <a:lnTo>
                    <a:pt x="14096177" y="8810111"/>
                  </a:lnTo>
                  <a:lnTo>
                    <a:pt x="0" y="88101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200025"/>
              <a:ext cx="15127020" cy="208781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833"/>
                </a:lnSpc>
              </a:pPr>
              <a:r>
                <a:rPr lang="en-US" sz="9317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Vista del Mecanico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058239" y="124990"/>
            <a:ext cx="2250592" cy="1439886"/>
            <a:chOff x="0" y="0"/>
            <a:chExt cx="3000789" cy="1919848"/>
          </a:xfrm>
        </p:grpSpPr>
        <p:grpSp>
          <p:nvGrpSpPr>
            <p:cNvPr id="24" name="Group 24"/>
            <p:cNvGrpSpPr/>
            <p:nvPr/>
          </p:nvGrpSpPr>
          <p:grpSpPr>
            <a:xfrm>
              <a:off x="245187" y="275505"/>
              <a:ext cx="2510416" cy="1644343"/>
              <a:chOff x="0" y="0"/>
              <a:chExt cx="3114165" cy="2039803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3114165" cy="2039803"/>
              </a:xfrm>
              <a:custGeom>
                <a:avLst/>
                <a:gdLst/>
                <a:ahLst/>
                <a:cxnLst/>
                <a:rect l="l" t="t" r="r" b="b"/>
                <a:pathLst>
                  <a:path w="3114165" h="2039803">
                    <a:moveTo>
                      <a:pt x="0" y="0"/>
                    </a:moveTo>
                    <a:lnTo>
                      <a:pt x="3114165" y="0"/>
                    </a:lnTo>
                    <a:lnTo>
                      <a:pt x="3114165" y="2039803"/>
                    </a:lnTo>
                    <a:lnTo>
                      <a:pt x="0" y="203980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FDA6A">
                      <a:alpha val="100000"/>
                    </a:srgbClr>
                  </a:gs>
                  <a:gs pos="100000">
                    <a:srgbClr val="FFF7DE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0" y="-38100"/>
                <a:ext cx="3114165" cy="2077903"/>
              </a:xfrm>
              <a:prstGeom prst="rect">
                <a:avLst/>
              </a:prstGeom>
            </p:spPr>
            <p:txBody>
              <a:bodyPr lIns="8364" tIns="8364" rIns="8364" bIns="8364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27" name="Freeform 27"/>
            <p:cNvSpPr/>
            <p:nvPr/>
          </p:nvSpPr>
          <p:spPr>
            <a:xfrm>
              <a:off x="348303" y="377619"/>
              <a:ext cx="2304183" cy="1440114"/>
            </a:xfrm>
            <a:custGeom>
              <a:avLst/>
              <a:gdLst/>
              <a:ahLst/>
              <a:cxnLst/>
              <a:rect l="l" t="t" r="r" b="b"/>
              <a:pathLst>
                <a:path w="2304183" h="1440114">
                  <a:moveTo>
                    <a:pt x="0" y="0"/>
                  </a:moveTo>
                  <a:lnTo>
                    <a:pt x="2304183" y="0"/>
                  </a:lnTo>
                  <a:lnTo>
                    <a:pt x="2304183" y="1440115"/>
                  </a:lnTo>
                  <a:lnTo>
                    <a:pt x="0" y="14401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38100"/>
              <a:ext cx="3000789" cy="3136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</a:pPr>
              <a:r>
                <a:rPr lang="en-US" sz="14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Vista del Jefe de Taller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676654" y="1657695"/>
            <a:ext cx="3013762" cy="1757247"/>
            <a:chOff x="0" y="0"/>
            <a:chExt cx="4018349" cy="2342996"/>
          </a:xfrm>
        </p:grpSpPr>
        <p:grpSp>
          <p:nvGrpSpPr>
            <p:cNvPr id="30" name="Group 30"/>
            <p:cNvGrpSpPr/>
            <p:nvPr/>
          </p:nvGrpSpPr>
          <p:grpSpPr>
            <a:xfrm>
              <a:off x="753967" y="275505"/>
              <a:ext cx="2510416" cy="2067491"/>
              <a:chOff x="0" y="0"/>
              <a:chExt cx="2623623" cy="2160724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2623623" cy="2160724"/>
              </a:xfrm>
              <a:custGeom>
                <a:avLst/>
                <a:gdLst/>
                <a:ahLst/>
                <a:cxnLst/>
                <a:rect l="l" t="t" r="r" b="b"/>
                <a:pathLst>
                  <a:path w="2623623" h="2160724">
                    <a:moveTo>
                      <a:pt x="0" y="0"/>
                    </a:moveTo>
                    <a:lnTo>
                      <a:pt x="2623623" y="0"/>
                    </a:lnTo>
                    <a:lnTo>
                      <a:pt x="2623623" y="2160724"/>
                    </a:lnTo>
                    <a:lnTo>
                      <a:pt x="0" y="2160724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7CCE6B">
                      <a:alpha val="100000"/>
                    </a:srgbClr>
                  </a:gs>
                  <a:gs pos="100000">
                    <a:srgbClr val="D8FFD0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38100"/>
                <a:ext cx="2623623" cy="2198824"/>
              </a:xfrm>
              <a:prstGeom prst="rect">
                <a:avLst/>
              </a:prstGeom>
            </p:spPr>
            <p:txBody>
              <a:bodyPr lIns="33077" tIns="33077" rIns="33077" bIns="33077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33" name="Freeform 33"/>
            <p:cNvSpPr/>
            <p:nvPr/>
          </p:nvSpPr>
          <p:spPr>
            <a:xfrm>
              <a:off x="893662" y="387358"/>
              <a:ext cx="2231025" cy="1851750"/>
            </a:xfrm>
            <a:custGeom>
              <a:avLst/>
              <a:gdLst/>
              <a:ahLst/>
              <a:cxnLst/>
              <a:rect l="l" t="t" r="r" b="b"/>
              <a:pathLst>
                <a:path w="2231025" h="1851750">
                  <a:moveTo>
                    <a:pt x="0" y="0"/>
                  </a:moveTo>
                  <a:lnTo>
                    <a:pt x="2231025" y="0"/>
                  </a:lnTo>
                  <a:lnTo>
                    <a:pt x="2231025" y="1851751"/>
                  </a:lnTo>
                  <a:lnTo>
                    <a:pt x="0" y="18517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38100"/>
              <a:ext cx="4018349" cy="3136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</a:pPr>
              <a:r>
                <a:rPr lang="en-US" sz="14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Vista del Asistente de Repuesto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809430" y="3507761"/>
            <a:ext cx="2748210" cy="1658253"/>
            <a:chOff x="0" y="0"/>
            <a:chExt cx="3664279" cy="2211004"/>
          </a:xfrm>
        </p:grpSpPr>
        <p:grpSp>
          <p:nvGrpSpPr>
            <p:cNvPr id="36" name="Group 36"/>
            <p:cNvGrpSpPr/>
            <p:nvPr/>
          </p:nvGrpSpPr>
          <p:grpSpPr>
            <a:xfrm>
              <a:off x="576932" y="313289"/>
              <a:ext cx="2510416" cy="1897715"/>
              <a:chOff x="0" y="0"/>
              <a:chExt cx="2787980" cy="2107536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0" y="0"/>
                <a:ext cx="2787980" cy="2107536"/>
              </a:xfrm>
              <a:custGeom>
                <a:avLst/>
                <a:gdLst/>
                <a:ahLst/>
                <a:cxnLst/>
                <a:rect l="l" t="t" r="r" b="b"/>
                <a:pathLst>
                  <a:path w="2787980" h="2107536">
                    <a:moveTo>
                      <a:pt x="0" y="0"/>
                    </a:moveTo>
                    <a:lnTo>
                      <a:pt x="2787980" y="0"/>
                    </a:lnTo>
                    <a:lnTo>
                      <a:pt x="2787980" y="2107536"/>
                    </a:lnTo>
                    <a:lnTo>
                      <a:pt x="0" y="2107536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7AF6EE">
                      <a:alpha val="100000"/>
                    </a:srgbClr>
                  </a:gs>
                  <a:gs pos="100000">
                    <a:srgbClr val="EAFFFE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0" y="-38100"/>
                <a:ext cx="2787980" cy="2145636"/>
              </a:xfrm>
              <a:prstGeom prst="rect">
                <a:avLst/>
              </a:prstGeom>
            </p:spPr>
            <p:txBody>
              <a:bodyPr lIns="27060" tIns="27060" rIns="27060" bIns="27060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39" name="Freeform 39"/>
            <p:cNvSpPr/>
            <p:nvPr/>
          </p:nvSpPr>
          <p:spPr>
            <a:xfrm>
              <a:off x="687262" y="410644"/>
              <a:ext cx="2289755" cy="1703005"/>
            </a:xfrm>
            <a:custGeom>
              <a:avLst/>
              <a:gdLst/>
              <a:ahLst/>
              <a:cxnLst/>
              <a:rect l="l" t="t" r="r" b="b"/>
              <a:pathLst>
                <a:path w="2289755" h="1703005">
                  <a:moveTo>
                    <a:pt x="0" y="0"/>
                  </a:moveTo>
                  <a:lnTo>
                    <a:pt x="2289755" y="0"/>
                  </a:lnTo>
                  <a:lnTo>
                    <a:pt x="2289755" y="1703005"/>
                  </a:lnTo>
                  <a:lnTo>
                    <a:pt x="0" y="17030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38100"/>
              <a:ext cx="3664279" cy="3136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</a:pPr>
              <a:r>
                <a:rPr lang="en-US" sz="14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Vista del Coordinador Zonal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1202038" y="5230496"/>
            <a:ext cx="1962994" cy="1670818"/>
            <a:chOff x="0" y="0"/>
            <a:chExt cx="2617325" cy="2227758"/>
          </a:xfrm>
        </p:grpSpPr>
        <p:grpSp>
          <p:nvGrpSpPr>
            <p:cNvPr id="42" name="Group 42"/>
            <p:cNvGrpSpPr/>
            <p:nvPr/>
          </p:nvGrpSpPr>
          <p:grpSpPr>
            <a:xfrm>
              <a:off x="53455" y="313289"/>
              <a:ext cx="2510416" cy="1914469"/>
              <a:chOff x="0" y="0"/>
              <a:chExt cx="2904776" cy="2215212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0" y="0"/>
                <a:ext cx="2904776" cy="2215212"/>
              </a:xfrm>
              <a:custGeom>
                <a:avLst/>
                <a:gdLst/>
                <a:ahLst/>
                <a:cxnLst/>
                <a:rect l="l" t="t" r="r" b="b"/>
                <a:pathLst>
                  <a:path w="2904776" h="2215212">
                    <a:moveTo>
                      <a:pt x="0" y="0"/>
                    </a:moveTo>
                    <a:lnTo>
                      <a:pt x="2904776" y="0"/>
                    </a:lnTo>
                    <a:lnTo>
                      <a:pt x="2904776" y="2215212"/>
                    </a:lnTo>
                    <a:lnTo>
                      <a:pt x="0" y="2215212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093FF">
                      <a:alpha val="100000"/>
                    </a:srgbClr>
                  </a:gs>
                  <a:gs pos="100000">
                    <a:srgbClr val="FDF1FF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0" y="-38100"/>
                <a:ext cx="2904776" cy="2253312"/>
              </a:xfrm>
              <a:prstGeom prst="rect">
                <a:avLst/>
              </a:prstGeom>
            </p:spPr>
            <p:txBody>
              <a:bodyPr lIns="7852" tIns="7852" rIns="7852" bIns="7852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45" name="Freeform 45"/>
            <p:cNvSpPr/>
            <p:nvPr/>
          </p:nvSpPr>
          <p:spPr>
            <a:xfrm>
              <a:off x="181161" y="474226"/>
              <a:ext cx="2255003" cy="1592596"/>
            </a:xfrm>
            <a:custGeom>
              <a:avLst/>
              <a:gdLst/>
              <a:ahLst/>
              <a:cxnLst/>
              <a:rect l="l" t="t" r="r" b="b"/>
              <a:pathLst>
                <a:path w="2255003" h="1592596">
                  <a:moveTo>
                    <a:pt x="0" y="0"/>
                  </a:moveTo>
                  <a:lnTo>
                    <a:pt x="2255003" y="0"/>
                  </a:lnTo>
                  <a:lnTo>
                    <a:pt x="2255003" y="1592595"/>
                  </a:lnTo>
                  <a:lnTo>
                    <a:pt x="0" y="15925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38100"/>
              <a:ext cx="2617325" cy="3136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</a:pPr>
              <a:r>
                <a:rPr lang="en-US" sz="14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Vista del Supervisor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1038194" y="6965796"/>
            <a:ext cx="2290683" cy="1491307"/>
            <a:chOff x="0" y="0"/>
            <a:chExt cx="3054244" cy="1988409"/>
          </a:xfrm>
        </p:grpSpPr>
        <p:grpSp>
          <p:nvGrpSpPr>
            <p:cNvPr id="48" name="Group 48"/>
            <p:cNvGrpSpPr/>
            <p:nvPr/>
          </p:nvGrpSpPr>
          <p:grpSpPr>
            <a:xfrm>
              <a:off x="271914" y="313289"/>
              <a:ext cx="2510416" cy="1675120"/>
              <a:chOff x="0" y="0"/>
              <a:chExt cx="3286308" cy="2192849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0" y="0"/>
                <a:ext cx="3286308" cy="2192849"/>
              </a:xfrm>
              <a:custGeom>
                <a:avLst/>
                <a:gdLst/>
                <a:ahLst/>
                <a:cxnLst/>
                <a:rect l="l" t="t" r="r" b="b"/>
                <a:pathLst>
                  <a:path w="3286308" h="2192849">
                    <a:moveTo>
                      <a:pt x="0" y="0"/>
                    </a:moveTo>
                    <a:lnTo>
                      <a:pt x="3286308" y="0"/>
                    </a:lnTo>
                    <a:lnTo>
                      <a:pt x="3286308" y="2192849"/>
                    </a:lnTo>
                    <a:lnTo>
                      <a:pt x="0" y="219284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4A9FF">
                      <a:alpha val="100000"/>
                    </a:srgbClr>
                  </a:gs>
                  <a:gs pos="100000">
                    <a:srgbClr val="F5F8FF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0" y="-38100"/>
                <a:ext cx="3286308" cy="2230949"/>
              </a:xfrm>
              <a:prstGeom prst="rect">
                <a:avLst/>
              </a:prstGeom>
            </p:spPr>
            <p:txBody>
              <a:bodyPr lIns="7665" tIns="7665" rIns="7665" bIns="7665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51" name="Freeform 51"/>
            <p:cNvSpPr/>
            <p:nvPr/>
          </p:nvSpPr>
          <p:spPr>
            <a:xfrm>
              <a:off x="399867" y="446315"/>
              <a:ext cx="2254510" cy="1409069"/>
            </a:xfrm>
            <a:custGeom>
              <a:avLst/>
              <a:gdLst/>
              <a:ahLst/>
              <a:cxnLst/>
              <a:rect l="l" t="t" r="r" b="b"/>
              <a:pathLst>
                <a:path w="2254510" h="1409069">
                  <a:moveTo>
                    <a:pt x="0" y="0"/>
                  </a:moveTo>
                  <a:lnTo>
                    <a:pt x="2254510" y="0"/>
                  </a:lnTo>
                  <a:lnTo>
                    <a:pt x="2254510" y="1409069"/>
                  </a:lnTo>
                  <a:lnTo>
                    <a:pt x="0" y="14090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0" y="-38100"/>
              <a:ext cx="3054244" cy="3136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</a:pPr>
              <a:r>
                <a:rPr lang="en-US" sz="14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Vista del Administrador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393124" y="-3636628"/>
            <a:ext cx="5033565" cy="5033565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464183" y="-1794490"/>
            <a:ext cx="3896277" cy="3896277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5307030" y="9025192"/>
            <a:ext cx="2894697" cy="289469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386829" y="6975928"/>
            <a:ext cx="3851298" cy="1638232"/>
            <a:chOff x="0" y="0"/>
            <a:chExt cx="5135064" cy="2184310"/>
          </a:xfrm>
        </p:grpSpPr>
        <p:grpSp>
          <p:nvGrpSpPr>
            <p:cNvPr id="12" name="Group 12"/>
            <p:cNvGrpSpPr/>
            <p:nvPr/>
          </p:nvGrpSpPr>
          <p:grpSpPr>
            <a:xfrm>
              <a:off x="1312324" y="275505"/>
              <a:ext cx="2510416" cy="1908805"/>
              <a:chOff x="0" y="0"/>
              <a:chExt cx="2706619" cy="2057989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2706619" cy="2057989"/>
              </a:xfrm>
              <a:custGeom>
                <a:avLst/>
                <a:gdLst/>
                <a:ahLst/>
                <a:cxnLst/>
                <a:rect l="l" t="t" r="r" b="b"/>
                <a:pathLst>
                  <a:path w="2706619" h="2057989">
                    <a:moveTo>
                      <a:pt x="0" y="0"/>
                    </a:moveTo>
                    <a:lnTo>
                      <a:pt x="2706619" y="0"/>
                    </a:lnTo>
                    <a:lnTo>
                      <a:pt x="2706619" y="2057989"/>
                    </a:lnTo>
                    <a:lnTo>
                      <a:pt x="0" y="205798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F6767">
                      <a:alpha val="100000"/>
                    </a:srgbClr>
                  </a:gs>
                  <a:gs pos="100000">
                    <a:srgbClr val="FFD1D1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0" y="-38100"/>
                <a:ext cx="2706619" cy="2096089"/>
              </a:xfrm>
              <a:prstGeom prst="rect">
                <a:avLst/>
              </a:prstGeom>
            </p:spPr>
            <p:txBody>
              <a:bodyPr lIns="8682" tIns="8682" rIns="8682" bIns="8682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15" name="Freeform 15"/>
            <p:cNvSpPr/>
            <p:nvPr/>
          </p:nvSpPr>
          <p:spPr>
            <a:xfrm>
              <a:off x="1408597" y="353506"/>
              <a:ext cx="2317870" cy="1752804"/>
            </a:xfrm>
            <a:custGeom>
              <a:avLst/>
              <a:gdLst/>
              <a:ahLst/>
              <a:cxnLst/>
              <a:rect l="l" t="t" r="r" b="b"/>
              <a:pathLst>
                <a:path w="2317870" h="1752804">
                  <a:moveTo>
                    <a:pt x="0" y="0"/>
                  </a:moveTo>
                  <a:lnTo>
                    <a:pt x="2317870" y="0"/>
                  </a:lnTo>
                  <a:lnTo>
                    <a:pt x="2317870" y="1752803"/>
                  </a:lnTo>
                  <a:lnTo>
                    <a:pt x="0" y="1752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3944" r="-2063" b="-3944"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5135064" cy="3136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</a:pPr>
              <a:r>
                <a:rPr lang="en-US" sz="14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Vista del Recepcionista y Guardia de Acceso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4031818" y="783998"/>
            <a:ext cx="13628106" cy="8719003"/>
            <a:chOff x="0" y="0"/>
            <a:chExt cx="18170809" cy="11625337"/>
          </a:xfrm>
        </p:grpSpPr>
        <p:grpSp>
          <p:nvGrpSpPr>
            <p:cNvPr id="18" name="Group 18"/>
            <p:cNvGrpSpPr/>
            <p:nvPr/>
          </p:nvGrpSpPr>
          <p:grpSpPr>
            <a:xfrm>
              <a:off x="1484691" y="1668279"/>
              <a:ext cx="15201428" cy="9957058"/>
              <a:chOff x="0" y="0"/>
              <a:chExt cx="3114165" cy="2039803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3114165" cy="2039803"/>
              </a:xfrm>
              <a:custGeom>
                <a:avLst/>
                <a:gdLst/>
                <a:ahLst/>
                <a:cxnLst/>
                <a:rect l="l" t="t" r="r" b="b"/>
                <a:pathLst>
                  <a:path w="3114165" h="2039803">
                    <a:moveTo>
                      <a:pt x="0" y="0"/>
                    </a:moveTo>
                    <a:lnTo>
                      <a:pt x="3114165" y="0"/>
                    </a:lnTo>
                    <a:lnTo>
                      <a:pt x="3114165" y="2039803"/>
                    </a:lnTo>
                    <a:lnTo>
                      <a:pt x="0" y="203980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FDA6A">
                      <a:alpha val="100000"/>
                    </a:srgbClr>
                  </a:gs>
                  <a:gs pos="100000">
                    <a:srgbClr val="FFF7DE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0" y="-38100"/>
                <a:ext cx="3114165" cy="2077903"/>
              </a:xfrm>
              <a:prstGeom prst="rect">
                <a:avLst/>
              </a:prstGeom>
            </p:spPr>
            <p:txBody>
              <a:bodyPr lIns="8364" tIns="8364" rIns="8364" bIns="8364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21" name="Freeform 21"/>
            <p:cNvSpPr/>
            <p:nvPr/>
          </p:nvSpPr>
          <p:spPr>
            <a:xfrm>
              <a:off x="2109096" y="2286616"/>
              <a:ext cx="13952617" cy="8720385"/>
            </a:xfrm>
            <a:custGeom>
              <a:avLst/>
              <a:gdLst/>
              <a:ahLst/>
              <a:cxnLst/>
              <a:rect l="l" t="t" r="r" b="b"/>
              <a:pathLst>
                <a:path w="13952617" h="8720385">
                  <a:moveTo>
                    <a:pt x="0" y="0"/>
                  </a:moveTo>
                  <a:lnTo>
                    <a:pt x="13952617" y="0"/>
                  </a:lnTo>
                  <a:lnTo>
                    <a:pt x="13952617" y="8720385"/>
                  </a:lnTo>
                  <a:lnTo>
                    <a:pt x="0" y="87203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180975"/>
              <a:ext cx="18170809" cy="184925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766"/>
                </a:lnSpc>
              </a:pPr>
              <a:r>
                <a:rPr lang="en-US" sz="8477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Vista del Jefe de Taller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805597" y="109846"/>
            <a:ext cx="3013762" cy="1757247"/>
            <a:chOff x="0" y="0"/>
            <a:chExt cx="4018349" cy="2342996"/>
          </a:xfrm>
        </p:grpSpPr>
        <p:grpSp>
          <p:nvGrpSpPr>
            <p:cNvPr id="24" name="Group 24"/>
            <p:cNvGrpSpPr/>
            <p:nvPr/>
          </p:nvGrpSpPr>
          <p:grpSpPr>
            <a:xfrm>
              <a:off x="753967" y="275505"/>
              <a:ext cx="2510416" cy="2067491"/>
              <a:chOff x="0" y="0"/>
              <a:chExt cx="2623623" cy="2160724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2623623" cy="2160724"/>
              </a:xfrm>
              <a:custGeom>
                <a:avLst/>
                <a:gdLst/>
                <a:ahLst/>
                <a:cxnLst/>
                <a:rect l="l" t="t" r="r" b="b"/>
                <a:pathLst>
                  <a:path w="2623623" h="2160724">
                    <a:moveTo>
                      <a:pt x="0" y="0"/>
                    </a:moveTo>
                    <a:lnTo>
                      <a:pt x="2623623" y="0"/>
                    </a:lnTo>
                    <a:lnTo>
                      <a:pt x="2623623" y="2160724"/>
                    </a:lnTo>
                    <a:lnTo>
                      <a:pt x="0" y="2160724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7CCE6B">
                      <a:alpha val="100000"/>
                    </a:srgbClr>
                  </a:gs>
                  <a:gs pos="100000">
                    <a:srgbClr val="D8FFD0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0" y="-38100"/>
                <a:ext cx="2623623" cy="2198824"/>
              </a:xfrm>
              <a:prstGeom prst="rect">
                <a:avLst/>
              </a:prstGeom>
            </p:spPr>
            <p:txBody>
              <a:bodyPr lIns="33077" tIns="33077" rIns="33077" bIns="33077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27" name="Freeform 27"/>
            <p:cNvSpPr/>
            <p:nvPr/>
          </p:nvSpPr>
          <p:spPr>
            <a:xfrm>
              <a:off x="893662" y="387358"/>
              <a:ext cx="2231025" cy="1851750"/>
            </a:xfrm>
            <a:custGeom>
              <a:avLst/>
              <a:gdLst/>
              <a:ahLst/>
              <a:cxnLst/>
              <a:rect l="l" t="t" r="r" b="b"/>
              <a:pathLst>
                <a:path w="2231025" h="1851750">
                  <a:moveTo>
                    <a:pt x="0" y="0"/>
                  </a:moveTo>
                  <a:lnTo>
                    <a:pt x="2231025" y="0"/>
                  </a:lnTo>
                  <a:lnTo>
                    <a:pt x="2231025" y="1851751"/>
                  </a:lnTo>
                  <a:lnTo>
                    <a:pt x="0" y="18517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38100"/>
              <a:ext cx="4018349" cy="3136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</a:pPr>
              <a:r>
                <a:rPr lang="en-US" sz="14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Vista del Asistente de Repuesto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38373" y="1959912"/>
            <a:ext cx="2748210" cy="1658253"/>
            <a:chOff x="0" y="0"/>
            <a:chExt cx="3664279" cy="2211004"/>
          </a:xfrm>
        </p:grpSpPr>
        <p:grpSp>
          <p:nvGrpSpPr>
            <p:cNvPr id="30" name="Group 30"/>
            <p:cNvGrpSpPr/>
            <p:nvPr/>
          </p:nvGrpSpPr>
          <p:grpSpPr>
            <a:xfrm>
              <a:off x="576932" y="313289"/>
              <a:ext cx="2510416" cy="1897715"/>
              <a:chOff x="0" y="0"/>
              <a:chExt cx="2787980" cy="2107536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2787980" cy="2107536"/>
              </a:xfrm>
              <a:custGeom>
                <a:avLst/>
                <a:gdLst/>
                <a:ahLst/>
                <a:cxnLst/>
                <a:rect l="l" t="t" r="r" b="b"/>
                <a:pathLst>
                  <a:path w="2787980" h="2107536">
                    <a:moveTo>
                      <a:pt x="0" y="0"/>
                    </a:moveTo>
                    <a:lnTo>
                      <a:pt x="2787980" y="0"/>
                    </a:lnTo>
                    <a:lnTo>
                      <a:pt x="2787980" y="2107536"/>
                    </a:lnTo>
                    <a:lnTo>
                      <a:pt x="0" y="2107536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7AF6EE">
                      <a:alpha val="100000"/>
                    </a:srgbClr>
                  </a:gs>
                  <a:gs pos="100000">
                    <a:srgbClr val="EAFFFE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38100"/>
                <a:ext cx="2787980" cy="2145636"/>
              </a:xfrm>
              <a:prstGeom prst="rect">
                <a:avLst/>
              </a:prstGeom>
            </p:spPr>
            <p:txBody>
              <a:bodyPr lIns="27060" tIns="27060" rIns="27060" bIns="27060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33" name="Freeform 33"/>
            <p:cNvSpPr/>
            <p:nvPr/>
          </p:nvSpPr>
          <p:spPr>
            <a:xfrm>
              <a:off x="687262" y="410644"/>
              <a:ext cx="2289755" cy="1703005"/>
            </a:xfrm>
            <a:custGeom>
              <a:avLst/>
              <a:gdLst/>
              <a:ahLst/>
              <a:cxnLst/>
              <a:rect l="l" t="t" r="r" b="b"/>
              <a:pathLst>
                <a:path w="2289755" h="1703005">
                  <a:moveTo>
                    <a:pt x="0" y="0"/>
                  </a:moveTo>
                  <a:lnTo>
                    <a:pt x="2289755" y="0"/>
                  </a:lnTo>
                  <a:lnTo>
                    <a:pt x="2289755" y="1703005"/>
                  </a:lnTo>
                  <a:lnTo>
                    <a:pt x="0" y="17030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38100"/>
              <a:ext cx="3664279" cy="3136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</a:pPr>
              <a:r>
                <a:rPr lang="en-US" sz="14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Vista del Coordinador Zonal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330981" y="3682646"/>
            <a:ext cx="1962994" cy="1670818"/>
            <a:chOff x="0" y="0"/>
            <a:chExt cx="2617325" cy="2227758"/>
          </a:xfrm>
        </p:grpSpPr>
        <p:grpSp>
          <p:nvGrpSpPr>
            <p:cNvPr id="36" name="Group 36"/>
            <p:cNvGrpSpPr/>
            <p:nvPr/>
          </p:nvGrpSpPr>
          <p:grpSpPr>
            <a:xfrm>
              <a:off x="53455" y="313289"/>
              <a:ext cx="2510416" cy="1914469"/>
              <a:chOff x="0" y="0"/>
              <a:chExt cx="2904776" cy="2215212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0" y="0"/>
                <a:ext cx="2904776" cy="2215212"/>
              </a:xfrm>
              <a:custGeom>
                <a:avLst/>
                <a:gdLst/>
                <a:ahLst/>
                <a:cxnLst/>
                <a:rect l="l" t="t" r="r" b="b"/>
                <a:pathLst>
                  <a:path w="2904776" h="2215212">
                    <a:moveTo>
                      <a:pt x="0" y="0"/>
                    </a:moveTo>
                    <a:lnTo>
                      <a:pt x="2904776" y="0"/>
                    </a:lnTo>
                    <a:lnTo>
                      <a:pt x="2904776" y="2215212"/>
                    </a:lnTo>
                    <a:lnTo>
                      <a:pt x="0" y="2215212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093FF">
                      <a:alpha val="100000"/>
                    </a:srgbClr>
                  </a:gs>
                  <a:gs pos="100000">
                    <a:srgbClr val="FDF1FF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0" y="-38100"/>
                <a:ext cx="2904776" cy="2253312"/>
              </a:xfrm>
              <a:prstGeom prst="rect">
                <a:avLst/>
              </a:prstGeom>
            </p:spPr>
            <p:txBody>
              <a:bodyPr lIns="7852" tIns="7852" rIns="7852" bIns="7852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39" name="Freeform 39"/>
            <p:cNvSpPr/>
            <p:nvPr/>
          </p:nvSpPr>
          <p:spPr>
            <a:xfrm>
              <a:off x="181161" y="474226"/>
              <a:ext cx="2255003" cy="1592596"/>
            </a:xfrm>
            <a:custGeom>
              <a:avLst/>
              <a:gdLst/>
              <a:ahLst/>
              <a:cxnLst/>
              <a:rect l="l" t="t" r="r" b="b"/>
              <a:pathLst>
                <a:path w="2255003" h="1592596">
                  <a:moveTo>
                    <a:pt x="0" y="0"/>
                  </a:moveTo>
                  <a:lnTo>
                    <a:pt x="2255003" y="0"/>
                  </a:lnTo>
                  <a:lnTo>
                    <a:pt x="2255003" y="1592595"/>
                  </a:lnTo>
                  <a:lnTo>
                    <a:pt x="0" y="15925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38100"/>
              <a:ext cx="2617325" cy="3136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</a:pPr>
              <a:r>
                <a:rPr lang="en-US" sz="14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Vista del Supervisor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1167137" y="5417946"/>
            <a:ext cx="2290683" cy="1491307"/>
            <a:chOff x="0" y="0"/>
            <a:chExt cx="3054244" cy="1988409"/>
          </a:xfrm>
        </p:grpSpPr>
        <p:grpSp>
          <p:nvGrpSpPr>
            <p:cNvPr id="42" name="Group 42"/>
            <p:cNvGrpSpPr/>
            <p:nvPr/>
          </p:nvGrpSpPr>
          <p:grpSpPr>
            <a:xfrm>
              <a:off x="271914" y="313289"/>
              <a:ext cx="2510416" cy="1675120"/>
              <a:chOff x="0" y="0"/>
              <a:chExt cx="3286308" cy="2192849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0" y="0"/>
                <a:ext cx="3286308" cy="2192849"/>
              </a:xfrm>
              <a:custGeom>
                <a:avLst/>
                <a:gdLst/>
                <a:ahLst/>
                <a:cxnLst/>
                <a:rect l="l" t="t" r="r" b="b"/>
                <a:pathLst>
                  <a:path w="3286308" h="2192849">
                    <a:moveTo>
                      <a:pt x="0" y="0"/>
                    </a:moveTo>
                    <a:lnTo>
                      <a:pt x="3286308" y="0"/>
                    </a:lnTo>
                    <a:lnTo>
                      <a:pt x="3286308" y="2192849"/>
                    </a:lnTo>
                    <a:lnTo>
                      <a:pt x="0" y="219284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4A9FF">
                      <a:alpha val="100000"/>
                    </a:srgbClr>
                  </a:gs>
                  <a:gs pos="100000">
                    <a:srgbClr val="F5F8FF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0" y="-38100"/>
                <a:ext cx="3286308" cy="2230949"/>
              </a:xfrm>
              <a:prstGeom prst="rect">
                <a:avLst/>
              </a:prstGeom>
            </p:spPr>
            <p:txBody>
              <a:bodyPr lIns="7665" tIns="7665" rIns="7665" bIns="7665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45" name="Freeform 45"/>
            <p:cNvSpPr/>
            <p:nvPr/>
          </p:nvSpPr>
          <p:spPr>
            <a:xfrm>
              <a:off x="399867" y="446315"/>
              <a:ext cx="2254510" cy="1409069"/>
            </a:xfrm>
            <a:custGeom>
              <a:avLst/>
              <a:gdLst/>
              <a:ahLst/>
              <a:cxnLst/>
              <a:rect l="l" t="t" r="r" b="b"/>
              <a:pathLst>
                <a:path w="2254510" h="1409069">
                  <a:moveTo>
                    <a:pt x="0" y="0"/>
                  </a:moveTo>
                  <a:lnTo>
                    <a:pt x="2254510" y="0"/>
                  </a:lnTo>
                  <a:lnTo>
                    <a:pt x="2254510" y="1409069"/>
                  </a:lnTo>
                  <a:lnTo>
                    <a:pt x="0" y="14090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38100"/>
              <a:ext cx="3054244" cy="3136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</a:pPr>
              <a:r>
                <a:rPr lang="en-US" sz="14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Vista del Administrador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1371072" y="8680836"/>
            <a:ext cx="1882812" cy="1496319"/>
            <a:chOff x="0" y="0"/>
            <a:chExt cx="2510416" cy="1995092"/>
          </a:xfrm>
        </p:grpSpPr>
        <p:grpSp>
          <p:nvGrpSpPr>
            <p:cNvPr id="48" name="Group 48"/>
            <p:cNvGrpSpPr/>
            <p:nvPr/>
          </p:nvGrpSpPr>
          <p:grpSpPr>
            <a:xfrm>
              <a:off x="0" y="275505"/>
              <a:ext cx="2510416" cy="1719587"/>
              <a:chOff x="0" y="0"/>
              <a:chExt cx="3114165" cy="2133143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0" y="0"/>
                <a:ext cx="3114165" cy="2133143"/>
              </a:xfrm>
              <a:custGeom>
                <a:avLst/>
                <a:gdLst/>
                <a:ahLst/>
                <a:cxnLst/>
                <a:rect l="l" t="t" r="r" b="b"/>
                <a:pathLst>
                  <a:path w="3114165" h="2133143">
                    <a:moveTo>
                      <a:pt x="0" y="0"/>
                    </a:moveTo>
                    <a:lnTo>
                      <a:pt x="3114165" y="0"/>
                    </a:lnTo>
                    <a:lnTo>
                      <a:pt x="3114165" y="2133143"/>
                    </a:lnTo>
                    <a:lnTo>
                      <a:pt x="0" y="213314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F9869">
                      <a:alpha val="100000"/>
                    </a:srgbClr>
                  </a:gs>
                  <a:gs pos="100000">
                    <a:srgbClr val="FFD2BD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0" y="-38100"/>
                <a:ext cx="3114165" cy="2171243"/>
              </a:xfrm>
              <a:prstGeom prst="rect">
                <a:avLst/>
              </a:prstGeom>
            </p:spPr>
            <p:txBody>
              <a:bodyPr lIns="8364" tIns="8364" rIns="8364" bIns="8364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51" name="Freeform 51"/>
            <p:cNvSpPr/>
            <p:nvPr/>
          </p:nvSpPr>
          <p:spPr>
            <a:xfrm>
              <a:off x="85537" y="404254"/>
              <a:ext cx="2339341" cy="1462088"/>
            </a:xfrm>
            <a:custGeom>
              <a:avLst/>
              <a:gdLst/>
              <a:ahLst/>
              <a:cxnLst/>
              <a:rect l="l" t="t" r="r" b="b"/>
              <a:pathLst>
                <a:path w="2339341" h="1462088">
                  <a:moveTo>
                    <a:pt x="0" y="0"/>
                  </a:moveTo>
                  <a:lnTo>
                    <a:pt x="2339341" y="0"/>
                  </a:lnTo>
                  <a:lnTo>
                    <a:pt x="2339341" y="1462089"/>
                  </a:lnTo>
                  <a:lnTo>
                    <a:pt x="0" y="14620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0" y="-38100"/>
              <a:ext cx="2510416" cy="3136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</a:pPr>
              <a:r>
                <a:rPr lang="en-US" sz="14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Vista del Mecanico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393124" y="-3636628"/>
            <a:ext cx="5033565" cy="5033565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464183" y="-1794490"/>
            <a:ext cx="3896277" cy="3896277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5307030" y="9025192"/>
            <a:ext cx="2894697" cy="289469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412618" y="5297615"/>
            <a:ext cx="3851298" cy="1638232"/>
            <a:chOff x="0" y="0"/>
            <a:chExt cx="5135064" cy="2184310"/>
          </a:xfrm>
        </p:grpSpPr>
        <p:grpSp>
          <p:nvGrpSpPr>
            <p:cNvPr id="12" name="Group 12"/>
            <p:cNvGrpSpPr/>
            <p:nvPr/>
          </p:nvGrpSpPr>
          <p:grpSpPr>
            <a:xfrm>
              <a:off x="1312324" y="275505"/>
              <a:ext cx="2510416" cy="1908805"/>
              <a:chOff x="0" y="0"/>
              <a:chExt cx="2706619" cy="2057989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2706619" cy="2057989"/>
              </a:xfrm>
              <a:custGeom>
                <a:avLst/>
                <a:gdLst/>
                <a:ahLst/>
                <a:cxnLst/>
                <a:rect l="l" t="t" r="r" b="b"/>
                <a:pathLst>
                  <a:path w="2706619" h="2057989">
                    <a:moveTo>
                      <a:pt x="0" y="0"/>
                    </a:moveTo>
                    <a:lnTo>
                      <a:pt x="2706619" y="0"/>
                    </a:lnTo>
                    <a:lnTo>
                      <a:pt x="2706619" y="2057989"/>
                    </a:lnTo>
                    <a:lnTo>
                      <a:pt x="0" y="205798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F6767">
                      <a:alpha val="100000"/>
                    </a:srgbClr>
                  </a:gs>
                  <a:gs pos="100000">
                    <a:srgbClr val="FFD1D1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0" y="-38100"/>
                <a:ext cx="2706619" cy="2096089"/>
              </a:xfrm>
              <a:prstGeom prst="rect">
                <a:avLst/>
              </a:prstGeom>
            </p:spPr>
            <p:txBody>
              <a:bodyPr lIns="8682" tIns="8682" rIns="8682" bIns="8682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15" name="Freeform 15"/>
            <p:cNvSpPr/>
            <p:nvPr/>
          </p:nvSpPr>
          <p:spPr>
            <a:xfrm>
              <a:off x="1408597" y="353506"/>
              <a:ext cx="2317870" cy="1752804"/>
            </a:xfrm>
            <a:custGeom>
              <a:avLst/>
              <a:gdLst/>
              <a:ahLst/>
              <a:cxnLst/>
              <a:rect l="l" t="t" r="r" b="b"/>
              <a:pathLst>
                <a:path w="2317870" h="1752804">
                  <a:moveTo>
                    <a:pt x="0" y="0"/>
                  </a:moveTo>
                  <a:lnTo>
                    <a:pt x="2317870" y="0"/>
                  </a:lnTo>
                  <a:lnTo>
                    <a:pt x="2317870" y="1752803"/>
                  </a:lnTo>
                  <a:lnTo>
                    <a:pt x="0" y="1752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3944" r="-2063" b="-3944"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5135064" cy="3136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</a:pPr>
              <a:r>
                <a:rPr lang="en-US" sz="14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Vista del Recepcionista y Guardia de Acceso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3432094" y="868438"/>
            <a:ext cx="14663869" cy="8550124"/>
            <a:chOff x="0" y="0"/>
            <a:chExt cx="19551826" cy="11400165"/>
          </a:xfrm>
        </p:grpSpPr>
        <p:grpSp>
          <p:nvGrpSpPr>
            <p:cNvPr id="18" name="Group 18"/>
            <p:cNvGrpSpPr/>
            <p:nvPr/>
          </p:nvGrpSpPr>
          <p:grpSpPr>
            <a:xfrm>
              <a:off x="3668529" y="1340509"/>
              <a:ext cx="12214768" cy="10059657"/>
              <a:chOff x="0" y="0"/>
              <a:chExt cx="2623623" cy="2160724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2623623" cy="2160724"/>
              </a:xfrm>
              <a:custGeom>
                <a:avLst/>
                <a:gdLst/>
                <a:ahLst/>
                <a:cxnLst/>
                <a:rect l="l" t="t" r="r" b="b"/>
                <a:pathLst>
                  <a:path w="2623623" h="2160724">
                    <a:moveTo>
                      <a:pt x="0" y="0"/>
                    </a:moveTo>
                    <a:lnTo>
                      <a:pt x="2623623" y="0"/>
                    </a:lnTo>
                    <a:lnTo>
                      <a:pt x="2623623" y="2160724"/>
                    </a:lnTo>
                    <a:lnTo>
                      <a:pt x="0" y="2160724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7CCE6B">
                      <a:alpha val="100000"/>
                    </a:srgbClr>
                  </a:gs>
                  <a:gs pos="100000">
                    <a:srgbClr val="D8FFD0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0" y="-38100"/>
                <a:ext cx="2623623" cy="2198824"/>
              </a:xfrm>
              <a:prstGeom prst="rect">
                <a:avLst/>
              </a:prstGeom>
            </p:spPr>
            <p:txBody>
              <a:bodyPr lIns="33077" tIns="33077" rIns="33077" bIns="33077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21" name="Freeform 21"/>
            <p:cNvSpPr/>
            <p:nvPr/>
          </p:nvSpPr>
          <p:spPr>
            <a:xfrm>
              <a:off x="4348236" y="1884744"/>
              <a:ext cx="10855354" cy="9009944"/>
            </a:xfrm>
            <a:custGeom>
              <a:avLst/>
              <a:gdLst/>
              <a:ahLst/>
              <a:cxnLst/>
              <a:rect l="l" t="t" r="r" b="b"/>
              <a:pathLst>
                <a:path w="10855354" h="9009944">
                  <a:moveTo>
                    <a:pt x="0" y="0"/>
                  </a:moveTo>
                  <a:lnTo>
                    <a:pt x="10855354" y="0"/>
                  </a:lnTo>
                  <a:lnTo>
                    <a:pt x="10855354" y="9009944"/>
                  </a:lnTo>
                  <a:lnTo>
                    <a:pt x="0" y="90099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152400"/>
              <a:ext cx="19551826" cy="14929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651"/>
                </a:lnSpc>
              </a:pPr>
              <a:r>
                <a:rPr lang="en-US" sz="6811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Vista del Asistente de Repuesto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64162" y="281598"/>
            <a:ext cx="2748210" cy="1658253"/>
            <a:chOff x="0" y="0"/>
            <a:chExt cx="3664279" cy="2211004"/>
          </a:xfrm>
        </p:grpSpPr>
        <p:grpSp>
          <p:nvGrpSpPr>
            <p:cNvPr id="24" name="Group 24"/>
            <p:cNvGrpSpPr/>
            <p:nvPr/>
          </p:nvGrpSpPr>
          <p:grpSpPr>
            <a:xfrm>
              <a:off x="576932" y="313289"/>
              <a:ext cx="2510416" cy="1897715"/>
              <a:chOff x="0" y="0"/>
              <a:chExt cx="2787980" cy="2107536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2787980" cy="2107536"/>
              </a:xfrm>
              <a:custGeom>
                <a:avLst/>
                <a:gdLst/>
                <a:ahLst/>
                <a:cxnLst/>
                <a:rect l="l" t="t" r="r" b="b"/>
                <a:pathLst>
                  <a:path w="2787980" h="2107536">
                    <a:moveTo>
                      <a:pt x="0" y="0"/>
                    </a:moveTo>
                    <a:lnTo>
                      <a:pt x="2787980" y="0"/>
                    </a:lnTo>
                    <a:lnTo>
                      <a:pt x="2787980" y="2107536"/>
                    </a:lnTo>
                    <a:lnTo>
                      <a:pt x="0" y="2107536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7AF6EE">
                      <a:alpha val="100000"/>
                    </a:srgbClr>
                  </a:gs>
                  <a:gs pos="100000">
                    <a:srgbClr val="EAFFFE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0" y="-38100"/>
                <a:ext cx="2787980" cy="2145636"/>
              </a:xfrm>
              <a:prstGeom prst="rect">
                <a:avLst/>
              </a:prstGeom>
            </p:spPr>
            <p:txBody>
              <a:bodyPr lIns="27060" tIns="27060" rIns="27060" bIns="27060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27" name="Freeform 27"/>
            <p:cNvSpPr/>
            <p:nvPr/>
          </p:nvSpPr>
          <p:spPr>
            <a:xfrm>
              <a:off x="687262" y="410644"/>
              <a:ext cx="2289755" cy="1703005"/>
            </a:xfrm>
            <a:custGeom>
              <a:avLst/>
              <a:gdLst/>
              <a:ahLst/>
              <a:cxnLst/>
              <a:rect l="l" t="t" r="r" b="b"/>
              <a:pathLst>
                <a:path w="2289755" h="1703005">
                  <a:moveTo>
                    <a:pt x="0" y="0"/>
                  </a:moveTo>
                  <a:lnTo>
                    <a:pt x="2289755" y="0"/>
                  </a:lnTo>
                  <a:lnTo>
                    <a:pt x="2289755" y="1703005"/>
                  </a:lnTo>
                  <a:lnTo>
                    <a:pt x="0" y="17030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38100"/>
              <a:ext cx="3664279" cy="3136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</a:pPr>
              <a:r>
                <a:rPr lang="en-US" sz="14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Vista del Coordinador Zonal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1356770" y="2004333"/>
            <a:ext cx="1962994" cy="1670818"/>
            <a:chOff x="0" y="0"/>
            <a:chExt cx="2617325" cy="2227758"/>
          </a:xfrm>
        </p:grpSpPr>
        <p:grpSp>
          <p:nvGrpSpPr>
            <p:cNvPr id="30" name="Group 30"/>
            <p:cNvGrpSpPr/>
            <p:nvPr/>
          </p:nvGrpSpPr>
          <p:grpSpPr>
            <a:xfrm>
              <a:off x="53455" y="313289"/>
              <a:ext cx="2510416" cy="1914469"/>
              <a:chOff x="0" y="0"/>
              <a:chExt cx="2904776" cy="2215212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2904776" cy="2215212"/>
              </a:xfrm>
              <a:custGeom>
                <a:avLst/>
                <a:gdLst/>
                <a:ahLst/>
                <a:cxnLst/>
                <a:rect l="l" t="t" r="r" b="b"/>
                <a:pathLst>
                  <a:path w="2904776" h="2215212">
                    <a:moveTo>
                      <a:pt x="0" y="0"/>
                    </a:moveTo>
                    <a:lnTo>
                      <a:pt x="2904776" y="0"/>
                    </a:lnTo>
                    <a:lnTo>
                      <a:pt x="2904776" y="2215212"/>
                    </a:lnTo>
                    <a:lnTo>
                      <a:pt x="0" y="2215212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093FF">
                      <a:alpha val="100000"/>
                    </a:srgbClr>
                  </a:gs>
                  <a:gs pos="100000">
                    <a:srgbClr val="FDF1FF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38100"/>
                <a:ext cx="2904776" cy="2253312"/>
              </a:xfrm>
              <a:prstGeom prst="rect">
                <a:avLst/>
              </a:prstGeom>
            </p:spPr>
            <p:txBody>
              <a:bodyPr lIns="7852" tIns="7852" rIns="7852" bIns="7852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33" name="Freeform 33"/>
            <p:cNvSpPr/>
            <p:nvPr/>
          </p:nvSpPr>
          <p:spPr>
            <a:xfrm>
              <a:off x="181161" y="474226"/>
              <a:ext cx="2255003" cy="1592596"/>
            </a:xfrm>
            <a:custGeom>
              <a:avLst/>
              <a:gdLst/>
              <a:ahLst/>
              <a:cxnLst/>
              <a:rect l="l" t="t" r="r" b="b"/>
              <a:pathLst>
                <a:path w="2255003" h="1592596">
                  <a:moveTo>
                    <a:pt x="0" y="0"/>
                  </a:moveTo>
                  <a:lnTo>
                    <a:pt x="2255003" y="0"/>
                  </a:lnTo>
                  <a:lnTo>
                    <a:pt x="2255003" y="1592595"/>
                  </a:lnTo>
                  <a:lnTo>
                    <a:pt x="0" y="15925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38100"/>
              <a:ext cx="2617325" cy="3136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</a:pPr>
              <a:r>
                <a:rPr lang="en-US" sz="14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Vista del Supervisor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192925" y="3739633"/>
            <a:ext cx="2290683" cy="1491307"/>
            <a:chOff x="0" y="0"/>
            <a:chExt cx="3054244" cy="1988409"/>
          </a:xfrm>
        </p:grpSpPr>
        <p:grpSp>
          <p:nvGrpSpPr>
            <p:cNvPr id="36" name="Group 36"/>
            <p:cNvGrpSpPr/>
            <p:nvPr/>
          </p:nvGrpSpPr>
          <p:grpSpPr>
            <a:xfrm>
              <a:off x="271914" y="313289"/>
              <a:ext cx="2510416" cy="1675120"/>
              <a:chOff x="0" y="0"/>
              <a:chExt cx="3286308" cy="2192849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0" y="0"/>
                <a:ext cx="3286308" cy="2192849"/>
              </a:xfrm>
              <a:custGeom>
                <a:avLst/>
                <a:gdLst/>
                <a:ahLst/>
                <a:cxnLst/>
                <a:rect l="l" t="t" r="r" b="b"/>
                <a:pathLst>
                  <a:path w="3286308" h="2192849">
                    <a:moveTo>
                      <a:pt x="0" y="0"/>
                    </a:moveTo>
                    <a:lnTo>
                      <a:pt x="3286308" y="0"/>
                    </a:lnTo>
                    <a:lnTo>
                      <a:pt x="3286308" y="2192849"/>
                    </a:lnTo>
                    <a:lnTo>
                      <a:pt x="0" y="219284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4A9FF">
                      <a:alpha val="100000"/>
                    </a:srgbClr>
                  </a:gs>
                  <a:gs pos="100000">
                    <a:srgbClr val="F5F8FF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0" y="-38100"/>
                <a:ext cx="3286308" cy="2230949"/>
              </a:xfrm>
              <a:prstGeom prst="rect">
                <a:avLst/>
              </a:prstGeom>
            </p:spPr>
            <p:txBody>
              <a:bodyPr lIns="7665" tIns="7665" rIns="7665" bIns="7665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39" name="Freeform 39"/>
            <p:cNvSpPr/>
            <p:nvPr/>
          </p:nvSpPr>
          <p:spPr>
            <a:xfrm>
              <a:off x="399867" y="446315"/>
              <a:ext cx="2254510" cy="1409069"/>
            </a:xfrm>
            <a:custGeom>
              <a:avLst/>
              <a:gdLst/>
              <a:ahLst/>
              <a:cxnLst/>
              <a:rect l="l" t="t" r="r" b="b"/>
              <a:pathLst>
                <a:path w="2254510" h="1409069">
                  <a:moveTo>
                    <a:pt x="0" y="0"/>
                  </a:moveTo>
                  <a:lnTo>
                    <a:pt x="2254510" y="0"/>
                  </a:lnTo>
                  <a:lnTo>
                    <a:pt x="2254510" y="1409069"/>
                  </a:lnTo>
                  <a:lnTo>
                    <a:pt x="0" y="14090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38100"/>
              <a:ext cx="3054244" cy="3136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</a:pPr>
              <a:r>
                <a:rPr lang="en-US" sz="14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Vista del Administrador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1396861" y="7002522"/>
            <a:ext cx="1882812" cy="1496319"/>
            <a:chOff x="0" y="0"/>
            <a:chExt cx="2510416" cy="1995092"/>
          </a:xfrm>
        </p:grpSpPr>
        <p:grpSp>
          <p:nvGrpSpPr>
            <p:cNvPr id="42" name="Group 42"/>
            <p:cNvGrpSpPr/>
            <p:nvPr/>
          </p:nvGrpSpPr>
          <p:grpSpPr>
            <a:xfrm>
              <a:off x="0" y="275505"/>
              <a:ext cx="2510416" cy="1719587"/>
              <a:chOff x="0" y="0"/>
              <a:chExt cx="3114165" cy="2133143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0" y="0"/>
                <a:ext cx="3114165" cy="2133143"/>
              </a:xfrm>
              <a:custGeom>
                <a:avLst/>
                <a:gdLst/>
                <a:ahLst/>
                <a:cxnLst/>
                <a:rect l="l" t="t" r="r" b="b"/>
                <a:pathLst>
                  <a:path w="3114165" h="2133143">
                    <a:moveTo>
                      <a:pt x="0" y="0"/>
                    </a:moveTo>
                    <a:lnTo>
                      <a:pt x="3114165" y="0"/>
                    </a:lnTo>
                    <a:lnTo>
                      <a:pt x="3114165" y="2133143"/>
                    </a:lnTo>
                    <a:lnTo>
                      <a:pt x="0" y="213314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F9869">
                      <a:alpha val="100000"/>
                    </a:srgbClr>
                  </a:gs>
                  <a:gs pos="100000">
                    <a:srgbClr val="FFD2BD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0" y="-38100"/>
                <a:ext cx="3114165" cy="2171243"/>
              </a:xfrm>
              <a:prstGeom prst="rect">
                <a:avLst/>
              </a:prstGeom>
            </p:spPr>
            <p:txBody>
              <a:bodyPr lIns="8364" tIns="8364" rIns="8364" bIns="8364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45" name="Freeform 45"/>
            <p:cNvSpPr/>
            <p:nvPr/>
          </p:nvSpPr>
          <p:spPr>
            <a:xfrm>
              <a:off x="85537" y="404254"/>
              <a:ext cx="2339341" cy="1462088"/>
            </a:xfrm>
            <a:custGeom>
              <a:avLst/>
              <a:gdLst/>
              <a:ahLst/>
              <a:cxnLst/>
              <a:rect l="l" t="t" r="r" b="b"/>
              <a:pathLst>
                <a:path w="2339341" h="1462088">
                  <a:moveTo>
                    <a:pt x="0" y="0"/>
                  </a:moveTo>
                  <a:lnTo>
                    <a:pt x="2339341" y="0"/>
                  </a:lnTo>
                  <a:lnTo>
                    <a:pt x="2339341" y="1462089"/>
                  </a:lnTo>
                  <a:lnTo>
                    <a:pt x="0" y="14620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38100"/>
              <a:ext cx="2510416" cy="3136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</a:pPr>
              <a:r>
                <a:rPr lang="en-US" sz="14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Vista del Mecanico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1212971" y="8565516"/>
            <a:ext cx="2250592" cy="1439886"/>
            <a:chOff x="0" y="0"/>
            <a:chExt cx="3000789" cy="1919848"/>
          </a:xfrm>
        </p:grpSpPr>
        <p:grpSp>
          <p:nvGrpSpPr>
            <p:cNvPr id="48" name="Group 48"/>
            <p:cNvGrpSpPr/>
            <p:nvPr/>
          </p:nvGrpSpPr>
          <p:grpSpPr>
            <a:xfrm>
              <a:off x="245187" y="275505"/>
              <a:ext cx="2510416" cy="1644343"/>
              <a:chOff x="0" y="0"/>
              <a:chExt cx="3114165" cy="2039803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0" y="0"/>
                <a:ext cx="3114165" cy="2039803"/>
              </a:xfrm>
              <a:custGeom>
                <a:avLst/>
                <a:gdLst/>
                <a:ahLst/>
                <a:cxnLst/>
                <a:rect l="l" t="t" r="r" b="b"/>
                <a:pathLst>
                  <a:path w="3114165" h="2039803">
                    <a:moveTo>
                      <a:pt x="0" y="0"/>
                    </a:moveTo>
                    <a:lnTo>
                      <a:pt x="3114165" y="0"/>
                    </a:lnTo>
                    <a:lnTo>
                      <a:pt x="3114165" y="2039803"/>
                    </a:lnTo>
                    <a:lnTo>
                      <a:pt x="0" y="203980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FDA6A">
                      <a:alpha val="100000"/>
                    </a:srgbClr>
                  </a:gs>
                  <a:gs pos="100000">
                    <a:srgbClr val="FFF7DE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0" y="-38100"/>
                <a:ext cx="3114165" cy="2077903"/>
              </a:xfrm>
              <a:prstGeom prst="rect">
                <a:avLst/>
              </a:prstGeom>
            </p:spPr>
            <p:txBody>
              <a:bodyPr lIns="8364" tIns="8364" rIns="8364" bIns="8364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51" name="Freeform 51"/>
            <p:cNvSpPr/>
            <p:nvPr/>
          </p:nvSpPr>
          <p:spPr>
            <a:xfrm>
              <a:off x="348303" y="377619"/>
              <a:ext cx="2304183" cy="1440114"/>
            </a:xfrm>
            <a:custGeom>
              <a:avLst/>
              <a:gdLst/>
              <a:ahLst/>
              <a:cxnLst/>
              <a:rect l="l" t="t" r="r" b="b"/>
              <a:pathLst>
                <a:path w="2304183" h="1440114">
                  <a:moveTo>
                    <a:pt x="0" y="0"/>
                  </a:moveTo>
                  <a:lnTo>
                    <a:pt x="2304183" y="0"/>
                  </a:lnTo>
                  <a:lnTo>
                    <a:pt x="2304183" y="1440115"/>
                  </a:lnTo>
                  <a:lnTo>
                    <a:pt x="0" y="14401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0" y="-38100"/>
              <a:ext cx="3000789" cy="3136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</a:pPr>
              <a:r>
                <a:rPr lang="en-US" sz="14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Vista del Jefe de Taller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393124" y="-3636628"/>
            <a:ext cx="5033565" cy="5033565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464183" y="-1794490"/>
            <a:ext cx="3896277" cy="3896277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5307030" y="9025192"/>
            <a:ext cx="2894697" cy="289469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386829" y="3524286"/>
            <a:ext cx="3851298" cy="1638232"/>
            <a:chOff x="0" y="0"/>
            <a:chExt cx="5135064" cy="2184310"/>
          </a:xfrm>
        </p:grpSpPr>
        <p:grpSp>
          <p:nvGrpSpPr>
            <p:cNvPr id="12" name="Group 12"/>
            <p:cNvGrpSpPr/>
            <p:nvPr/>
          </p:nvGrpSpPr>
          <p:grpSpPr>
            <a:xfrm>
              <a:off x="1312324" y="275505"/>
              <a:ext cx="2510416" cy="1908805"/>
              <a:chOff x="0" y="0"/>
              <a:chExt cx="2706619" cy="2057989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2706619" cy="2057989"/>
              </a:xfrm>
              <a:custGeom>
                <a:avLst/>
                <a:gdLst/>
                <a:ahLst/>
                <a:cxnLst/>
                <a:rect l="l" t="t" r="r" b="b"/>
                <a:pathLst>
                  <a:path w="2706619" h="2057989">
                    <a:moveTo>
                      <a:pt x="0" y="0"/>
                    </a:moveTo>
                    <a:lnTo>
                      <a:pt x="2706619" y="0"/>
                    </a:lnTo>
                    <a:lnTo>
                      <a:pt x="2706619" y="2057989"/>
                    </a:lnTo>
                    <a:lnTo>
                      <a:pt x="0" y="205798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F6767">
                      <a:alpha val="100000"/>
                    </a:srgbClr>
                  </a:gs>
                  <a:gs pos="100000">
                    <a:srgbClr val="FFD1D1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0" y="-38100"/>
                <a:ext cx="2706619" cy="2096089"/>
              </a:xfrm>
              <a:prstGeom prst="rect">
                <a:avLst/>
              </a:prstGeom>
            </p:spPr>
            <p:txBody>
              <a:bodyPr lIns="8682" tIns="8682" rIns="8682" bIns="8682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15" name="Freeform 15"/>
            <p:cNvSpPr/>
            <p:nvPr/>
          </p:nvSpPr>
          <p:spPr>
            <a:xfrm>
              <a:off x="1408597" y="353506"/>
              <a:ext cx="2317870" cy="1752804"/>
            </a:xfrm>
            <a:custGeom>
              <a:avLst/>
              <a:gdLst/>
              <a:ahLst/>
              <a:cxnLst/>
              <a:rect l="l" t="t" r="r" b="b"/>
              <a:pathLst>
                <a:path w="2317870" h="1752804">
                  <a:moveTo>
                    <a:pt x="0" y="0"/>
                  </a:moveTo>
                  <a:lnTo>
                    <a:pt x="2317870" y="0"/>
                  </a:lnTo>
                  <a:lnTo>
                    <a:pt x="2317870" y="1752803"/>
                  </a:lnTo>
                  <a:lnTo>
                    <a:pt x="0" y="1752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3944" r="-2063" b="-3944"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5135064" cy="3136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</a:pPr>
              <a:r>
                <a:rPr lang="en-US" sz="14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Vista del Recepcionista y Guardia de Acceso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3819359" y="905332"/>
            <a:ext cx="14047763" cy="8476335"/>
            <a:chOff x="0" y="0"/>
            <a:chExt cx="18730350" cy="11301781"/>
          </a:xfrm>
        </p:grpSpPr>
        <p:grpSp>
          <p:nvGrpSpPr>
            <p:cNvPr id="18" name="Group 18"/>
            <p:cNvGrpSpPr/>
            <p:nvPr/>
          </p:nvGrpSpPr>
          <p:grpSpPr>
            <a:xfrm>
              <a:off x="2949048" y="1601411"/>
              <a:ext cx="12832254" cy="9700370"/>
              <a:chOff x="0" y="0"/>
              <a:chExt cx="2787980" cy="2107536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2787980" cy="2107536"/>
              </a:xfrm>
              <a:custGeom>
                <a:avLst/>
                <a:gdLst/>
                <a:ahLst/>
                <a:cxnLst/>
                <a:rect l="l" t="t" r="r" b="b"/>
                <a:pathLst>
                  <a:path w="2787980" h="2107536">
                    <a:moveTo>
                      <a:pt x="0" y="0"/>
                    </a:moveTo>
                    <a:lnTo>
                      <a:pt x="2787980" y="0"/>
                    </a:lnTo>
                    <a:lnTo>
                      <a:pt x="2787980" y="2107536"/>
                    </a:lnTo>
                    <a:lnTo>
                      <a:pt x="0" y="2107536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7AF6EE">
                      <a:alpha val="100000"/>
                    </a:srgbClr>
                  </a:gs>
                  <a:gs pos="100000">
                    <a:srgbClr val="EAFFFE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0" y="-38100"/>
                <a:ext cx="2787980" cy="2145636"/>
              </a:xfrm>
              <a:prstGeom prst="rect">
                <a:avLst/>
              </a:prstGeom>
            </p:spPr>
            <p:txBody>
              <a:bodyPr lIns="27060" tIns="27060" rIns="27060" bIns="27060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21" name="Freeform 21"/>
            <p:cNvSpPr/>
            <p:nvPr/>
          </p:nvSpPr>
          <p:spPr>
            <a:xfrm>
              <a:off x="3513014" y="2099051"/>
              <a:ext cx="11704323" cy="8705090"/>
            </a:xfrm>
            <a:custGeom>
              <a:avLst/>
              <a:gdLst/>
              <a:ahLst/>
              <a:cxnLst/>
              <a:rect l="l" t="t" r="r" b="b"/>
              <a:pathLst>
                <a:path w="11704323" h="8705090">
                  <a:moveTo>
                    <a:pt x="0" y="0"/>
                  </a:moveTo>
                  <a:lnTo>
                    <a:pt x="11704323" y="0"/>
                  </a:lnTo>
                  <a:lnTo>
                    <a:pt x="11704323" y="8705090"/>
                  </a:lnTo>
                  <a:lnTo>
                    <a:pt x="0" y="87050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142875"/>
              <a:ext cx="18730350" cy="155114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088"/>
                </a:lnSpc>
              </a:pPr>
              <a:r>
                <a:rPr lang="en-US" sz="7156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Vista del Coordinador Zonal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330981" y="231005"/>
            <a:ext cx="1962994" cy="1670818"/>
            <a:chOff x="0" y="0"/>
            <a:chExt cx="2617325" cy="2227758"/>
          </a:xfrm>
        </p:grpSpPr>
        <p:grpSp>
          <p:nvGrpSpPr>
            <p:cNvPr id="24" name="Group 24"/>
            <p:cNvGrpSpPr/>
            <p:nvPr/>
          </p:nvGrpSpPr>
          <p:grpSpPr>
            <a:xfrm>
              <a:off x="53455" y="313289"/>
              <a:ext cx="2510416" cy="1914469"/>
              <a:chOff x="0" y="0"/>
              <a:chExt cx="2904776" cy="2215212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2904776" cy="2215212"/>
              </a:xfrm>
              <a:custGeom>
                <a:avLst/>
                <a:gdLst/>
                <a:ahLst/>
                <a:cxnLst/>
                <a:rect l="l" t="t" r="r" b="b"/>
                <a:pathLst>
                  <a:path w="2904776" h="2215212">
                    <a:moveTo>
                      <a:pt x="0" y="0"/>
                    </a:moveTo>
                    <a:lnTo>
                      <a:pt x="2904776" y="0"/>
                    </a:lnTo>
                    <a:lnTo>
                      <a:pt x="2904776" y="2215212"/>
                    </a:lnTo>
                    <a:lnTo>
                      <a:pt x="0" y="2215212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093FF">
                      <a:alpha val="100000"/>
                    </a:srgbClr>
                  </a:gs>
                  <a:gs pos="100000">
                    <a:srgbClr val="FDF1FF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0" y="-38100"/>
                <a:ext cx="2904776" cy="2253312"/>
              </a:xfrm>
              <a:prstGeom prst="rect">
                <a:avLst/>
              </a:prstGeom>
            </p:spPr>
            <p:txBody>
              <a:bodyPr lIns="7852" tIns="7852" rIns="7852" bIns="7852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27" name="Freeform 27"/>
            <p:cNvSpPr/>
            <p:nvPr/>
          </p:nvSpPr>
          <p:spPr>
            <a:xfrm>
              <a:off x="181161" y="474226"/>
              <a:ext cx="2255003" cy="1592596"/>
            </a:xfrm>
            <a:custGeom>
              <a:avLst/>
              <a:gdLst/>
              <a:ahLst/>
              <a:cxnLst/>
              <a:rect l="l" t="t" r="r" b="b"/>
              <a:pathLst>
                <a:path w="2255003" h="1592596">
                  <a:moveTo>
                    <a:pt x="0" y="0"/>
                  </a:moveTo>
                  <a:lnTo>
                    <a:pt x="2255003" y="0"/>
                  </a:lnTo>
                  <a:lnTo>
                    <a:pt x="2255003" y="1592595"/>
                  </a:lnTo>
                  <a:lnTo>
                    <a:pt x="0" y="15925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38100"/>
              <a:ext cx="2617325" cy="3136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</a:pPr>
              <a:r>
                <a:rPr lang="en-US" sz="14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Vista del Supervisor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1167137" y="1966304"/>
            <a:ext cx="2290683" cy="1491307"/>
            <a:chOff x="0" y="0"/>
            <a:chExt cx="3054244" cy="1988409"/>
          </a:xfrm>
        </p:grpSpPr>
        <p:grpSp>
          <p:nvGrpSpPr>
            <p:cNvPr id="30" name="Group 30"/>
            <p:cNvGrpSpPr/>
            <p:nvPr/>
          </p:nvGrpSpPr>
          <p:grpSpPr>
            <a:xfrm>
              <a:off x="271914" y="313289"/>
              <a:ext cx="2510416" cy="1675120"/>
              <a:chOff x="0" y="0"/>
              <a:chExt cx="3286308" cy="2192849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3286308" cy="2192849"/>
              </a:xfrm>
              <a:custGeom>
                <a:avLst/>
                <a:gdLst/>
                <a:ahLst/>
                <a:cxnLst/>
                <a:rect l="l" t="t" r="r" b="b"/>
                <a:pathLst>
                  <a:path w="3286308" h="2192849">
                    <a:moveTo>
                      <a:pt x="0" y="0"/>
                    </a:moveTo>
                    <a:lnTo>
                      <a:pt x="3286308" y="0"/>
                    </a:lnTo>
                    <a:lnTo>
                      <a:pt x="3286308" y="2192849"/>
                    </a:lnTo>
                    <a:lnTo>
                      <a:pt x="0" y="219284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4A9FF">
                      <a:alpha val="100000"/>
                    </a:srgbClr>
                  </a:gs>
                  <a:gs pos="100000">
                    <a:srgbClr val="F5F8FF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38100"/>
                <a:ext cx="3286308" cy="2230949"/>
              </a:xfrm>
              <a:prstGeom prst="rect">
                <a:avLst/>
              </a:prstGeom>
            </p:spPr>
            <p:txBody>
              <a:bodyPr lIns="7665" tIns="7665" rIns="7665" bIns="7665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33" name="Freeform 33"/>
            <p:cNvSpPr/>
            <p:nvPr/>
          </p:nvSpPr>
          <p:spPr>
            <a:xfrm>
              <a:off x="399867" y="446315"/>
              <a:ext cx="2254510" cy="1409069"/>
            </a:xfrm>
            <a:custGeom>
              <a:avLst/>
              <a:gdLst/>
              <a:ahLst/>
              <a:cxnLst/>
              <a:rect l="l" t="t" r="r" b="b"/>
              <a:pathLst>
                <a:path w="2254510" h="1409069">
                  <a:moveTo>
                    <a:pt x="0" y="0"/>
                  </a:moveTo>
                  <a:lnTo>
                    <a:pt x="2254510" y="0"/>
                  </a:lnTo>
                  <a:lnTo>
                    <a:pt x="2254510" y="1409069"/>
                  </a:lnTo>
                  <a:lnTo>
                    <a:pt x="0" y="14090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38100"/>
              <a:ext cx="3054244" cy="3136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</a:pPr>
              <a:r>
                <a:rPr lang="en-US" sz="14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Vista del Administrador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371072" y="5229194"/>
            <a:ext cx="1882812" cy="1496319"/>
            <a:chOff x="0" y="0"/>
            <a:chExt cx="2510416" cy="1995092"/>
          </a:xfrm>
        </p:grpSpPr>
        <p:grpSp>
          <p:nvGrpSpPr>
            <p:cNvPr id="36" name="Group 36"/>
            <p:cNvGrpSpPr/>
            <p:nvPr/>
          </p:nvGrpSpPr>
          <p:grpSpPr>
            <a:xfrm>
              <a:off x="0" y="275505"/>
              <a:ext cx="2510416" cy="1719587"/>
              <a:chOff x="0" y="0"/>
              <a:chExt cx="3114165" cy="2133143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0" y="0"/>
                <a:ext cx="3114165" cy="2133143"/>
              </a:xfrm>
              <a:custGeom>
                <a:avLst/>
                <a:gdLst/>
                <a:ahLst/>
                <a:cxnLst/>
                <a:rect l="l" t="t" r="r" b="b"/>
                <a:pathLst>
                  <a:path w="3114165" h="2133143">
                    <a:moveTo>
                      <a:pt x="0" y="0"/>
                    </a:moveTo>
                    <a:lnTo>
                      <a:pt x="3114165" y="0"/>
                    </a:lnTo>
                    <a:lnTo>
                      <a:pt x="3114165" y="2133143"/>
                    </a:lnTo>
                    <a:lnTo>
                      <a:pt x="0" y="213314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F9869">
                      <a:alpha val="100000"/>
                    </a:srgbClr>
                  </a:gs>
                  <a:gs pos="100000">
                    <a:srgbClr val="FFD2BD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0" y="-38100"/>
                <a:ext cx="3114165" cy="2171243"/>
              </a:xfrm>
              <a:prstGeom prst="rect">
                <a:avLst/>
              </a:prstGeom>
            </p:spPr>
            <p:txBody>
              <a:bodyPr lIns="8364" tIns="8364" rIns="8364" bIns="8364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39" name="Freeform 39"/>
            <p:cNvSpPr/>
            <p:nvPr/>
          </p:nvSpPr>
          <p:spPr>
            <a:xfrm>
              <a:off x="85537" y="404254"/>
              <a:ext cx="2339341" cy="1462088"/>
            </a:xfrm>
            <a:custGeom>
              <a:avLst/>
              <a:gdLst/>
              <a:ahLst/>
              <a:cxnLst/>
              <a:rect l="l" t="t" r="r" b="b"/>
              <a:pathLst>
                <a:path w="2339341" h="1462088">
                  <a:moveTo>
                    <a:pt x="0" y="0"/>
                  </a:moveTo>
                  <a:lnTo>
                    <a:pt x="2339341" y="0"/>
                  </a:lnTo>
                  <a:lnTo>
                    <a:pt x="2339341" y="1462089"/>
                  </a:lnTo>
                  <a:lnTo>
                    <a:pt x="0" y="14620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38100"/>
              <a:ext cx="2510416" cy="3136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</a:pPr>
              <a:r>
                <a:rPr lang="en-US" sz="14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Vista del Mecanico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1187182" y="6792188"/>
            <a:ext cx="2250592" cy="1439886"/>
            <a:chOff x="0" y="0"/>
            <a:chExt cx="3000789" cy="1919848"/>
          </a:xfrm>
        </p:grpSpPr>
        <p:grpSp>
          <p:nvGrpSpPr>
            <p:cNvPr id="42" name="Group 42"/>
            <p:cNvGrpSpPr/>
            <p:nvPr/>
          </p:nvGrpSpPr>
          <p:grpSpPr>
            <a:xfrm>
              <a:off x="245187" y="275505"/>
              <a:ext cx="2510416" cy="1644343"/>
              <a:chOff x="0" y="0"/>
              <a:chExt cx="3114165" cy="2039803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0" y="0"/>
                <a:ext cx="3114165" cy="2039803"/>
              </a:xfrm>
              <a:custGeom>
                <a:avLst/>
                <a:gdLst/>
                <a:ahLst/>
                <a:cxnLst/>
                <a:rect l="l" t="t" r="r" b="b"/>
                <a:pathLst>
                  <a:path w="3114165" h="2039803">
                    <a:moveTo>
                      <a:pt x="0" y="0"/>
                    </a:moveTo>
                    <a:lnTo>
                      <a:pt x="3114165" y="0"/>
                    </a:lnTo>
                    <a:lnTo>
                      <a:pt x="3114165" y="2039803"/>
                    </a:lnTo>
                    <a:lnTo>
                      <a:pt x="0" y="203980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FDA6A">
                      <a:alpha val="100000"/>
                    </a:srgbClr>
                  </a:gs>
                  <a:gs pos="100000">
                    <a:srgbClr val="FFF7DE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0" y="-38100"/>
                <a:ext cx="3114165" cy="2077903"/>
              </a:xfrm>
              <a:prstGeom prst="rect">
                <a:avLst/>
              </a:prstGeom>
            </p:spPr>
            <p:txBody>
              <a:bodyPr lIns="8364" tIns="8364" rIns="8364" bIns="8364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45" name="Freeform 45"/>
            <p:cNvSpPr/>
            <p:nvPr/>
          </p:nvSpPr>
          <p:spPr>
            <a:xfrm>
              <a:off x="348303" y="377619"/>
              <a:ext cx="2304183" cy="1440114"/>
            </a:xfrm>
            <a:custGeom>
              <a:avLst/>
              <a:gdLst/>
              <a:ahLst/>
              <a:cxnLst/>
              <a:rect l="l" t="t" r="r" b="b"/>
              <a:pathLst>
                <a:path w="2304183" h="1440114">
                  <a:moveTo>
                    <a:pt x="0" y="0"/>
                  </a:moveTo>
                  <a:lnTo>
                    <a:pt x="2304183" y="0"/>
                  </a:lnTo>
                  <a:lnTo>
                    <a:pt x="2304183" y="1440115"/>
                  </a:lnTo>
                  <a:lnTo>
                    <a:pt x="0" y="14401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38100"/>
              <a:ext cx="3000789" cy="3136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</a:pPr>
              <a:r>
                <a:rPr lang="en-US" sz="14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Vista del Jefe de Taller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805597" y="8298749"/>
            <a:ext cx="3013762" cy="1757247"/>
            <a:chOff x="0" y="0"/>
            <a:chExt cx="4018349" cy="2342996"/>
          </a:xfrm>
        </p:grpSpPr>
        <p:grpSp>
          <p:nvGrpSpPr>
            <p:cNvPr id="48" name="Group 48"/>
            <p:cNvGrpSpPr/>
            <p:nvPr/>
          </p:nvGrpSpPr>
          <p:grpSpPr>
            <a:xfrm>
              <a:off x="753967" y="275505"/>
              <a:ext cx="2510416" cy="2067491"/>
              <a:chOff x="0" y="0"/>
              <a:chExt cx="2623623" cy="2160724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0" y="0"/>
                <a:ext cx="2623623" cy="2160724"/>
              </a:xfrm>
              <a:custGeom>
                <a:avLst/>
                <a:gdLst/>
                <a:ahLst/>
                <a:cxnLst/>
                <a:rect l="l" t="t" r="r" b="b"/>
                <a:pathLst>
                  <a:path w="2623623" h="2160724">
                    <a:moveTo>
                      <a:pt x="0" y="0"/>
                    </a:moveTo>
                    <a:lnTo>
                      <a:pt x="2623623" y="0"/>
                    </a:lnTo>
                    <a:lnTo>
                      <a:pt x="2623623" y="2160724"/>
                    </a:lnTo>
                    <a:lnTo>
                      <a:pt x="0" y="2160724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7CCE6B">
                      <a:alpha val="100000"/>
                    </a:srgbClr>
                  </a:gs>
                  <a:gs pos="100000">
                    <a:srgbClr val="D8FFD0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0" y="-38100"/>
                <a:ext cx="2623623" cy="2198824"/>
              </a:xfrm>
              <a:prstGeom prst="rect">
                <a:avLst/>
              </a:prstGeom>
            </p:spPr>
            <p:txBody>
              <a:bodyPr lIns="33077" tIns="33077" rIns="33077" bIns="33077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51" name="Freeform 51"/>
            <p:cNvSpPr/>
            <p:nvPr/>
          </p:nvSpPr>
          <p:spPr>
            <a:xfrm>
              <a:off x="893662" y="387358"/>
              <a:ext cx="2231025" cy="1851750"/>
            </a:xfrm>
            <a:custGeom>
              <a:avLst/>
              <a:gdLst/>
              <a:ahLst/>
              <a:cxnLst/>
              <a:rect l="l" t="t" r="r" b="b"/>
              <a:pathLst>
                <a:path w="2231025" h="1851750">
                  <a:moveTo>
                    <a:pt x="0" y="0"/>
                  </a:moveTo>
                  <a:lnTo>
                    <a:pt x="2231025" y="0"/>
                  </a:lnTo>
                  <a:lnTo>
                    <a:pt x="2231025" y="1851751"/>
                  </a:lnTo>
                  <a:lnTo>
                    <a:pt x="0" y="18517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0" y="-38100"/>
              <a:ext cx="4018349" cy="3136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</a:pPr>
              <a:r>
                <a:rPr lang="en-US" sz="14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Vista del Asistente de Repuesto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393124" y="-3636628"/>
            <a:ext cx="5033565" cy="5033565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464183" y="-1794490"/>
            <a:ext cx="3896277" cy="3896277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5307030" y="9025192"/>
            <a:ext cx="2894697" cy="289469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412618" y="1794172"/>
            <a:ext cx="3851298" cy="1638232"/>
            <a:chOff x="0" y="0"/>
            <a:chExt cx="5135064" cy="2184310"/>
          </a:xfrm>
        </p:grpSpPr>
        <p:grpSp>
          <p:nvGrpSpPr>
            <p:cNvPr id="12" name="Group 12"/>
            <p:cNvGrpSpPr/>
            <p:nvPr/>
          </p:nvGrpSpPr>
          <p:grpSpPr>
            <a:xfrm>
              <a:off x="1312324" y="275505"/>
              <a:ext cx="2510416" cy="1908805"/>
              <a:chOff x="0" y="0"/>
              <a:chExt cx="2706619" cy="2057989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2706619" cy="2057989"/>
              </a:xfrm>
              <a:custGeom>
                <a:avLst/>
                <a:gdLst/>
                <a:ahLst/>
                <a:cxnLst/>
                <a:rect l="l" t="t" r="r" b="b"/>
                <a:pathLst>
                  <a:path w="2706619" h="2057989">
                    <a:moveTo>
                      <a:pt x="0" y="0"/>
                    </a:moveTo>
                    <a:lnTo>
                      <a:pt x="2706619" y="0"/>
                    </a:lnTo>
                    <a:lnTo>
                      <a:pt x="2706619" y="2057989"/>
                    </a:lnTo>
                    <a:lnTo>
                      <a:pt x="0" y="205798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F6767">
                      <a:alpha val="100000"/>
                    </a:srgbClr>
                  </a:gs>
                  <a:gs pos="100000">
                    <a:srgbClr val="FFD1D1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0" y="-38100"/>
                <a:ext cx="2706619" cy="2096089"/>
              </a:xfrm>
              <a:prstGeom prst="rect">
                <a:avLst/>
              </a:prstGeom>
            </p:spPr>
            <p:txBody>
              <a:bodyPr lIns="8682" tIns="8682" rIns="8682" bIns="8682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15" name="Freeform 15"/>
            <p:cNvSpPr/>
            <p:nvPr/>
          </p:nvSpPr>
          <p:spPr>
            <a:xfrm>
              <a:off x="1408597" y="353506"/>
              <a:ext cx="2317870" cy="1752804"/>
            </a:xfrm>
            <a:custGeom>
              <a:avLst/>
              <a:gdLst/>
              <a:ahLst/>
              <a:cxnLst/>
              <a:rect l="l" t="t" r="r" b="b"/>
              <a:pathLst>
                <a:path w="2317870" h="1752804">
                  <a:moveTo>
                    <a:pt x="0" y="0"/>
                  </a:moveTo>
                  <a:lnTo>
                    <a:pt x="2317870" y="0"/>
                  </a:lnTo>
                  <a:lnTo>
                    <a:pt x="2317870" y="1752803"/>
                  </a:lnTo>
                  <a:lnTo>
                    <a:pt x="0" y="1752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3944" r="-2063" b="-3944"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5135064" cy="3136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</a:pPr>
              <a:r>
                <a:rPr lang="en-US" sz="14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Vista del Recepcionista y Guardia de Acceso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5307030" y="375270"/>
            <a:ext cx="11204096" cy="9536460"/>
            <a:chOff x="0" y="0"/>
            <a:chExt cx="14938795" cy="12715280"/>
          </a:xfrm>
        </p:grpSpPr>
        <p:grpSp>
          <p:nvGrpSpPr>
            <p:cNvPr id="18" name="Group 18"/>
            <p:cNvGrpSpPr/>
            <p:nvPr/>
          </p:nvGrpSpPr>
          <p:grpSpPr>
            <a:xfrm>
              <a:off x="305101" y="1788147"/>
              <a:ext cx="14328593" cy="10927132"/>
              <a:chOff x="0" y="0"/>
              <a:chExt cx="2904776" cy="2215212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2904776" cy="2215212"/>
              </a:xfrm>
              <a:custGeom>
                <a:avLst/>
                <a:gdLst/>
                <a:ahLst/>
                <a:cxnLst/>
                <a:rect l="l" t="t" r="r" b="b"/>
                <a:pathLst>
                  <a:path w="2904776" h="2215212">
                    <a:moveTo>
                      <a:pt x="0" y="0"/>
                    </a:moveTo>
                    <a:lnTo>
                      <a:pt x="2904776" y="0"/>
                    </a:lnTo>
                    <a:lnTo>
                      <a:pt x="2904776" y="2215212"/>
                    </a:lnTo>
                    <a:lnTo>
                      <a:pt x="0" y="2215212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093FF">
                      <a:alpha val="100000"/>
                    </a:srgbClr>
                  </a:gs>
                  <a:gs pos="100000">
                    <a:srgbClr val="FDF1FF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0" y="-38100"/>
                <a:ext cx="2904776" cy="2253312"/>
              </a:xfrm>
              <a:prstGeom prst="rect">
                <a:avLst/>
              </a:prstGeom>
            </p:spPr>
            <p:txBody>
              <a:bodyPr lIns="7852" tIns="7852" rIns="7852" bIns="7852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21" name="Freeform 21"/>
            <p:cNvSpPr/>
            <p:nvPr/>
          </p:nvSpPr>
          <p:spPr>
            <a:xfrm>
              <a:off x="1034004" y="2706717"/>
              <a:ext cx="12870786" cy="9089993"/>
            </a:xfrm>
            <a:custGeom>
              <a:avLst/>
              <a:gdLst/>
              <a:ahLst/>
              <a:cxnLst/>
              <a:rect l="l" t="t" r="r" b="b"/>
              <a:pathLst>
                <a:path w="12870786" h="9089993">
                  <a:moveTo>
                    <a:pt x="0" y="0"/>
                  </a:moveTo>
                  <a:lnTo>
                    <a:pt x="12870786" y="0"/>
                  </a:lnTo>
                  <a:lnTo>
                    <a:pt x="12870786" y="9089993"/>
                  </a:lnTo>
                  <a:lnTo>
                    <a:pt x="0" y="90899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180975"/>
              <a:ext cx="14938795" cy="17534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148"/>
                </a:lnSpc>
              </a:pPr>
              <a:r>
                <a:rPr lang="en-US" sz="799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Vista del Supervisor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192925" y="236190"/>
            <a:ext cx="2290683" cy="1491307"/>
            <a:chOff x="0" y="0"/>
            <a:chExt cx="3054244" cy="1988409"/>
          </a:xfrm>
        </p:grpSpPr>
        <p:grpSp>
          <p:nvGrpSpPr>
            <p:cNvPr id="24" name="Group 24"/>
            <p:cNvGrpSpPr/>
            <p:nvPr/>
          </p:nvGrpSpPr>
          <p:grpSpPr>
            <a:xfrm>
              <a:off x="271914" y="313289"/>
              <a:ext cx="2510416" cy="1675120"/>
              <a:chOff x="0" y="0"/>
              <a:chExt cx="3286308" cy="2192849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3286308" cy="2192849"/>
              </a:xfrm>
              <a:custGeom>
                <a:avLst/>
                <a:gdLst/>
                <a:ahLst/>
                <a:cxnLst/>
                <a:rect l="l" t="t" r="r" b="b"/>
                <a:pathLst>
                  <a:path w="3286308" h="2192849">
                    <a:moveTo>
                      <a:pt x="0" y="0"/>
                    </a:moveTo>
                    <a:lnTo>
                      <a:pt x="3286308" y="0"/>
                    </a:lnTo>
                    <a:lnTo>
                      <a:pt x="3286308" y="2192849"/>
                    </a:lnTo>
                    <a:lnTo>
                      <a:pt x="0" y="219284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4A9FF">
                      <a:alpha val="100000"/>
                    </a:srgbClr>
                  </a:gs>
                  <a:gs pos="100000">
                    <a:srgbClr val="F5F8FF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0" y="-38100"/>
                <a:ext cx="3286308" cy="2230949"/>
              </a:xfrm>
              <a:prstGeom prst="rect">
                <a:avLst/>
              </a:prstGeom>
            </p:spPr>
            <p:txBody>
              <a:bodyPr lIns="7665" tIns="7665" rIns="7665" bIns="7665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27" name="Freeform 27"/>
            <p:cNvSpPr/>
            <p:nvPr/>
          </p:nvSpPr>
          <p:spPr>
            <a:xfrm>
              <a:off x="399867" y="446315"/>
              <a:ext cx="2254510" cy="1409069"/>
            </a:xfrm>
            <a:custGeom>
              <a:avLst/>
              <a:gdLst/>
              <a:ahLst/>
              <a:cxnLst/>
              <a:rect l="l" t="t" r="r" b="b"/>
              <a:pathLst>
                <a:path w="2254510" h="1409069">
                  <a:moveTo>
                    <a:pt x="0" y="0"/>
                  </a:moveTo>
                  <a:lnTo>
                    <a:pt x="2254510" y="0"/>
                  </a:lnTo>
                  <a:lnTo>
                    <a:pt x="2254510" y="1409069"/>
                  </a:lnTo>
                  <a:lnTo>
                    <a:pt x="0" y="14090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38100"/>
              <a:ext cx="3054244" cy="3136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</a:pPr>
              <a:r>
                <a:rPr lang="en-US" sz="14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Vista del Administrador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1396861" y="3499080"/>
            <a:ext cx="1882812" cy="1496319"/>
            <a:chOff x="0" y="0"/>
            <a:chExt cx="2510416" cy="1995092"/>
          </a:xfrm>
        </p:grpSpPr>
        <p:grpSp>
          <p:nvGrpSpPr>
            <p:cNvPr id="30" name="Group 30"/>
            <p:cNvGrpSpPr/>
            <p:nvPr/>
          </p:nvGrpSpPr>
          <p:grpSpPr>
            <a:xfrm>
              <a:off x="0" y="275505"/>
              <a:ext cx="2510416" cy="1719587"/>
              <a:chOff x="0" y="0"/>
              <a:chExt cx="3114165" cy="2133143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3114165" cy="2133143"/>
              </a:xfrm>
              <a:custGeom>
                <a:avLst/>
                <a:gdLst/>
                <a:ahLst/>
                <a:cxnLst/>
                <a:rect l="l" t="t" r="r" b="b"/>
                <a:pathLst>
                  <a:path w="3114165" h="2133143">
                    <a:moveTo>
                      <a:pt x="0" y="0"/>
                    </a:moveTo>
                    <a:lnTo>
                      <a:pt x="3114165" y="0"/>
                    </a:lnTo>
                    <a:lnTo>
                      <a:pt x="3114165" y="2133143"/>
                    </a:lnTo>
                    <a:lnTo>
                      <a:pt x="0" y="213314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F9869">
                      <a:alpha val="100000"/>
                    </a:srgbClr>
                  </a:gs>
                  <a:gs pos="100000">
                    <a:srgbClr val="FFD2BD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38100"/>
                <a:ext cx="3114165" cy="2171243"/>
              </a:xfrm>
              <a:prstGeom prst="rect">
                <a:avLst/>
              </a:prstGeom>
            </p:spPr>
            <p:txBody>
              <a:bodyPr lIns="8364" tIns="8364" rIns="8364" bIns="8364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33" name="Freeform 33"/>
            <p:cNvSpPr/>
            <p:nvPr/>
          </p:nvSpPr>
          <p:spPr>
            <a:xfrm>
              <a:off x="85537" y="404254"/>
              <a:ext cx="2339341" cy="1462088"/>
            </a:xfrm>
            <a:custGeom>
              <a:avLst/>
              <a:gdLst/>
              <a:ahLst/>
              <a:cxnLst/>
              <a:rect l="l" t="t" r="r" b="b"/>
              <a:pathLst>
                <a:path w="2339341" h="1462088">
                  <a:moveTo>
                    <a:pt x="0" y="0"/>
                  </a:moveTo>
                  <a:lnTo>
                    <a:pt x="2339341" y="0"/>
                  </a:lnTo>
                  <a:lnTo>
                    <a:pt x="2339341" y="1462089"/>
                  </a:lnTo>
                  <a:lnTo>
                    <a:pt x="0" y="14620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38100"/>
              <a:ext cx="2510416" cy="3136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</a:pPr>
              <a:r>
                <a:rPr lang="en-US" sz="14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Vista del Mecanico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212971" y="5062074"/>
            <a:ext cx="2250592" cy="1439886"/>
            <a:chOff x="0" y="0"/>
            <a:chExt cx="3000789" cy="1919848"/>
          </a:xfrm>
        </p:grpSpPr>
        <p:grpSp>
          <p:nvGrpSpPr>
            <p:cNvPr id="36" name="Group 36"/>
            <p:cNvGrpSpPr/>
            <p:nvPr/>
          </p:nvGrpSpPr>
          <p:grpSpPr>
            <a:xfrm>
              <a:off x="245187" y="275505"/>
              <a:ext cx="2510416" cy="1644343"/>
              <a:chOff x="0" y="0"/>
              <a:chExt cx="3114165" cy="2039803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0" y="0"/>
                <a:ext cx="3114165" cy="2039803"/>
              </a:xfrm>
              <a:custGeom>
                <a:avLst/>
                <a:gdLst/>
                <a:ahLst/>
                <a:cxnLst/>
                <a:rect l="l" t="t" r="r" b="b"/>
                <a:pathLst>
                  <a:path w="3114165" h="2039803">
                    <a:moveTo>
                      <a:pt x="0" y="0"/>
                    </a:moveTo>
                    <a:lnTo>
                      <a:pt x="3114165" y="0"/>
                    </a:lnTo>
                    <a:lnTo>
                      <a:pt x="3114165" y="2039803"/>
                    </a:lnTo>
                    <a:lnTo>
                      <a:pt x="0" y="203980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FDA6A">
                      <a:alpha val="100000"/>
                    </a:srgbClr>
                  </a:gs>
                  <a:gs pos="100000">
                    <a:srgbClr val="FFF7DE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0" y="-38100"/>
                <a:ext cx="3114165" cy="2077903"/>
              </a:xfrm>
              <a:prstGeom prst="rect">
                <a:avLst/>
              </a:prstGeom>
            </p:spPr>
            <p:txBody>
              <a:bodyPr lIns="8364" tIns="8364" rIns="8364" bIns="8364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39" name="Freeform 39"/>
            <p:cNvSpPr/>
            <p:nvPr/>
          </p:nvSpPr>
          <p:spPr>
            <a:xfrm>
              <a:off x="348303" y="377619"/>
              <a:ext cx="2304183" cy="1440114"/>
            </a:xfrm>
            <a:custGeom>
              <a:avLst/>
              <a:gdLst/>
              <a:ahLst/>
              <a:cxnLst/>
              <a:rect l="l" t="t" r="r" b="b"/>
              <a:pathLst>
                <a:path w="2304183" h="1440114">
                  <a:moveTo>
                    <a:pt x="0" y="0"/>
                  </a:moveTo>
                  <a:lnTo>
                    <a:pt x="2304183" y="0"/>
                  </a:lnTo>
                  <a:lnTo>
                    <a:pt x="2304183" y="1440115"/>
                  </a:lnTo>
                  <a:lnTo>
                    <a:pt x="0" y="14401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38100"/>
              <a:ext cx="3000789" cy="3136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</a:pPr>
              <a:r>
                <a:rPr lang="en-US" sz="14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Vista del Jefe de Taller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831386" y="6568635"/>
            <a:ext cx="3013762" cy="1757247"/>
            <a:chOff x="0" y="0"/>
            <a:chExt cx="4018349" cy="2342996"/>
          </a:xfrm>
        </p:grpSpPr>
        <p:grpSp>
          <p:nvGrpSpPr>
            <p:cNvPr id="42" name="Group 42"/>
            <p:cNvGrpSpPr/>
            <p:nvPr/>
          </p:nvGrpSpPr>
          <p:grpSpPr>
            <a:xfrm>
              <a:off x="753967" y="275505"/>
              <a:ext cx="2510416" cy="2067491"/>
              <a:chOff x="0" y="0"/>
              <a:chExt cx="2623623" cy="2160724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0" y="0"/>
                <a:ext cx="2623623" cy="2160724"/>
              </a:xfrm>
              <a:custGeom>
                <a:avLst/>
                <a:gdLst/>
                <a:ahLst/>
                <a:cxnLst/>
                <a:rect l="l" t="t" r="r" b="b"/>
                <a:pathLst>
                  <a:path w="2623623" h="2160724">
                    <a:moveTo>
                      <a:pt x="0" y="0"/>
                    </a:moveTo>
                    <a:lnTo>
                      <a:pt x="2623623" y="0"/>
                    </a:lnTo>
                    <a:lnTo>
                      <a:pt x="2623623" y="2160724"/>
                    </a:lnTo>
                    <a:lnTo>
                      <a:pt x="0" y="2160724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7CCE6B">
                      <a:alpha val="100000"/>
                    </a:srgbClr>
                  </a:gs>
                  <a:gs pos="100000">
                    <a:srgbClr val="D8FFD0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0" y="-38100"/>
                <a:ext cx="2623623" cy="2198824"/>
              </a:xfrm>
              <a:prstGeom prst="rect">
                <a:avLst/>
              </a:prstGeom>
            </p:spPr>
            <p:txBody>
              <a:bodyPr lIns="33077" tIns="33077" rIns="33077" bIns="33077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45" name="Freeform 45"/>
            <p:cNvSpPr/>
            <p:nvPr/>
          </p:nvSpPr>
          <p:spPr>
            <a:xfrm>
              <a:off x="893662" y="387358"/>
              <a:ext cx="2231025" cy="1851750"/>
            </a:xfrm>
            <a:custGeom>
              <a:avLst/>
              <a:gdLst/>
              <a:ahLst/>
              <a:cxnLst/>
              <a:rect l="l" t="t" r="r" b="b"/>
              <a:pathLst>
                <a:path w="2231025" h="1851750">
                  <a:moveTo>
                    <a:pt x="0" y="0"/>
                  </a:moveTo>
                  <a:lnTo>
                    <a:pt x="2231025" y="0"/>
                  </a:lnTo>
                  <a:lnTo>
                    <a:pt x="2231025" y="1851751"/>
                  </a:lnTo>
                  <a:lnTo>
                    <a:pt x="0" y="18517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38100"/>
              <a:ext cx="4018349" cy="3136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</a:pPr>
              <a:r>
                <a:rPr lang="en-US" sz="14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Vista del Asistente de Repuesto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964162" y="8392557"/>
            <a:ext cx="2748210" cy="1658253"/>
            <a:chOff x="0" y="0"/>
            <a:chExt cx="3664279" cy="2211004"/>
          </a:xfrm>
        </p:grpSpPr>
        <p:grpSp>
          <p:nvGrpSpPr>
            <p:cNvPr id="48" name="Group 48"/>
            <p:cNvGrpSpPr/>
            <p:nvPr/>
          </p:nvGrpSpPr>
          <p:grpSpPr>
            <a:xfrm>
              <a:off x="576932" y="313289"/>
              <a:ext cx="2510416" cy="1897715"/>
              <a:chOff x="0" y="0"/>
              <a:chExt cx="2787980" cy="2107536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0" y="0"/>
                <a:ext cx="2787980" cy="2107536"/>
              </a:xfrm>
              <a:custGeom>
                <a:avLst/>
                <a:gdLst/>
                <a:ahLst/>
                <a:cxnLst/>
                <a:rect l="l" t="t" r="r" b="b"/>
                <a:pathLst>
                  <a:path w="2787980" h="2107536">
                    <a:moveTo>
                      <a:pt x="0" y="0"/>
                    </a:moveTo>
                    <a:lnTo>
                      <a:pt x="2787980" y="0"/>
                    </a:lnTo>
                    <a:lnTo>
                      <a:pt x="2787980" y="2107536"/>
                    </a:lnTo>
                    <a:lnTo>
                      <a:pt x="0" y="2107536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7AF6EE">
                      <a:alpha val="100000"/>
                    </a:srgbClr>
                  </a:gs>
                  <a:gs pos="100000">
                    <a:srgbClr val="EAFFFE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0" y="-38100"/>
                <a:ext cx="2787980" cy="2145636"/>
              </a:xfrm>
              <a:prstGeom prst="rect">
                <a:avLst/>
              </a:prstGeom>
            </p:spPr>
            <p:txBody>
              <a:bodyPr lIns="27060" tIns="27060" rIns="27060" bIns="27060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51" name="Freeform 51"/>
            <p:cNvSpPr/>
            <p:nvPr/>
          </p:nvSpPr>
          <p:spPr>
            <a:xfrm>
              <a:off x="687262" y="410644"/>
              <a:ext cx="2289755" cy="1703005"/>
            </a:xfrm>
            <a:custGeom>
              <a:avLst/>
              <a:gdLst/>
              <a:ahLst/>
              <a:cxnLst/>
              <a:rect l="l" t="t" r="r" b="b"/>
              <a:pathLst>
                <a:path w="2289755" h="1703005">
                  <a:moveTo>
                    <a:pt x="0" y="0"/>
                  </a:moveTo>
                  <a:lnTo>
                    <a:pt x="2289755" y="0"/>
                  </a:lnTo>
                  <a:lnTo>
                    <a:pt x="2289755" y="1703005"/>
                  </a:lnTo>
                  <a:lnTo>
                    <a:pt x="0" y="17030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0" y="-38100"/>
              <a:ext cx="3664279" cy="3136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</a:pPr>
              <a:r>
                <a:rPr lang="en-US" sz="14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Vista del Coordinador Zonal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393124" y="-3636628"/>
            <a:ext cx="5033565" cy="5033565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464183" y="-1794490"/>
            <a:ext cx="3896277" cy="3896277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5307030" y="9025192"/>
            <a:ext cx="2894697" cy="289469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309463" y="146435"/>
            <a:ext cx="3851298" cy="1638232"/>
            <a:chOff x="0" y="0"/>
            <a:chExt cx="5135064" cy="2184310"/>
          </a:xfrm>
        </p:grpSpPr>
        <p:grpSp>
          <p:nvGrpSpPr>
            <p:cNvPr id="12" name="Group 12"/>
            <p:cNvGrpSpPr/>
            <p:nvPr/>
          </p:nvGrpSpPr>
          <p:grpSpPr>
            <a:xfrm>
              <a:off x="1312324" y="275505"/>
              <a:ext cx="2510416" cy="1908805"/>
              <a:chOff x="0" y="0"/>
              <a:chExt cx="2706619" cy="2057989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2706619" cy="2057989"/>
              </a:xfrm>
              <a:custGeom>
                <a:avLst/>
                <a:gdLst/>
                <a:ahLst/>
                <a:cxnLst/>
                <a:rect l="l" t="t" r="r" b="b"/>
                <a:pathLst>
                  <a:path w="2706619" h="2057989">
                    <a:moveTo>
                      <a:pt x="0" y="0"/>
                    </a:moveTo>
                    <a:lnTo>
                      <a:pt x="2706619" y="0"/>
                    </a:lnTo>
                    <a:lnTo>
                      <a:pt x="2706619" y="2057989"/>
                    </a:lnTo>
                    <a:lnTo>
                      <a:pt x="0" y="205798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F6767">
                      <a:alpha val="100000"/>
                    </a:srgbClr>
                  </a:gs>
                  <a:gs pos="100000">
                    <a:srgbClr val="FFD1D1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0" y="-38100"/>
                <a:ext cx="2706619" cy="2096089"/>
              </a:xfrm>
              <a:prstGeom prst="rect">
                <a:avLst/>
              </a:prstGeom>
            </p:spPr>
            <p:txBody>
              <a:bodyPr lIns="8682" tIns="8682" rIns="8682" bIns="8682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15" name="Freeform 15"/>
            <p:cNvSpPr/>
            <p:nvPr/>
          </p:nvSpPr>
          <p:spPr>
            <a:xfrm>
              <a:off x="1408597" y="353506"/>
              <a:ext cx="2317870" cy="1752804"/>
            </a:xfrm>
            <a:custGeom>
              <a:avLst/>
              <a:gdLst/>
              <a:ahLst/>
              <a:cxnLst/>
              <a:rect l="l" t="t" r="r" b="b"/>
              <a:pathLst>
                <a:path w="2317870" h="1752804">
                  <a:moveTo>
                    <a:pt x="0" y="0"/>
                  </a:moveTo>
                  <a:lnTo>
                    <a:pt x="2317870" y="0"/>
                  </a:lnTo>
                  <a:lnTo>
                    <a:pt x="2317870" y="1752803"/>
                  </a:lnTo>
                  <a:lnTo>
                    <a:pt x="0" y="1752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3944" r="-2063" b="-3944"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5135064" cy="3136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</a:pPr>
              <a:r>
                <a:rPr lang="en-US" sz="14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Vista del Recepcionista y Guardia de Acceso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4160761" y="703200"/>
            <a:ext cx="13640814" cy="8880601"/>
            <a:chOff x="0" y="0"/>
            <a:chExt cx="18187751" cy="11840801"/>
          </a:xfrm>
        </p:grpSpPr>
        <p:grpSp>
          <p:nvGrpSpPr>
            <p:cNvPr id="18" name="Group 18"/>
            <p:cNvGrpSpPr/>
            <p:nvPr/>
          </p:nvGrpSpPr>
          <p:grpSpPr>
            <a:xfrm>
              <a:off x="1619225" y="1865609"/>
              <a:ext cx="14949302" cy="9975192"/>
              <a:chOff x="0" y="0"/>
              <a:chExt cx="3286308" cy="2192849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3286308" cy="2192849"/>
              </a:xfrm>
              <a:custGeom>
                <a:avLst/>
                <a:gdLst/>
                <a:ahLst/>
                <a:cxnLst/>
                <a:rect l="l" t="t" r="r" b="b"/>
                <a:pathLst>
                  <a:path w="3286308" h="2192849">
                    <a:moveTo>
                      <a:pt x="0" y="0"/>
                    </a:moveTo>
                    <a:lnTo>
                      <a:pt x="3286308" y="0"/>
                    </a:lnTo>
                    <a:lnTo>
                      <a:pt x="3286308" y="2192849"/>
                    </a:lnTo>
                    <a:lnTo>
                      <a:pt x="0" y="2192849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4A9FF">
                      <a:alpha val="100000"/>
                    </a:srgbClr>
                  </a:gs>
                  <a:gs pos="100000">
                    <a:srgbClr val="F5F8FF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0" y="-38100"/>
                <a:ext cx="3286308" cy="2230949"/>
              </a:xfrm>
              <a:prstGeom prst="rect">
                <a:avLst/>
              </a:prstGeom>
            </p:spPr>
            <p:txBody>
              <a:bodyPr lIns="7665" tIns="7665" rIns="7665" bIns="7665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21" name="Freeform 21"/>
            <p:cNvSpPr/>
            <p:nvPr/>
          </p:nvSpPr>
          <p:spPr>
            <a:xfrm>
              <a:off x="2381172" y="2657765"/>
              <a:ext cx="13425408" cy="8390880"/>
            </a:xfrm>
            <a:custGeom>
              <a:avLst/>
              <a:gdLst/>
              <a:ahLst/>
              <a:cxnLst/>
              <a:rect l="l" t="t" r="r" b="b"/>
              <a:pathLst>
                <a:path w="13425408" h="8390880">
                  <a:moveTo>
                    <a:pt x="0" y="0"/>
                  </a:moveTo>
                  <a:lnTo>
                    <a:pt x="13425408" y="0"/>
                  </a:lnTo>
                  <a:lnTo>
                    <a:pt x="13425408" y="8390880"/>
                  </a:lnTo>
                  <a:lnTo>
                    <a:pt x="0" y="8390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171450"/>
              <a:ext cx="18187751" cy="181206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587"/>
                </a:lnSpc>
              </a:pPr>
              <a:r>
                <a:rPr lang="en-US" sz="8336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Vista del Administrador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293707" y="1851342"/>
            <a:ext cx="1882812" cy="1496319"/>
            <a:chOff x="0" y="0"/>
            <a:chExt cx="2510416" cy="1995092"/>
          </a:xfrm>
        </p:grpSpPr>
        <p:grpSp>
          <p:nvGrpSpPr>
            <p:cNvPr id="24" name="Group 24"/>
            <p:cNvGrpSpPr/>
            <p:nvPr/>
          </p:nvGrpSpPr>
          <p:grpSpPr>
            <a:xfrm>
              <a:off x="0" y="275505"/>
              <a:ext cx="2510416" cy="1719587"/>
              <a:chOff x="0" y="0"/>
              <a:chExt cx="3114165" cy="2133143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3114165" cy="2133143"/>
              </a:xfrm>
              <a:custGeom>
                <a:avLst/>
                <a:gdLst/>
                <a:ahLst/>
                <a:cxnLst/>
                <a:rect l="l" t="t" r="r" b="b"/>
                <a:pathLst>
                  <a:path w="3114165" h="2133143">
                    <a:moveTo>
                      <a:pt x="0" y="0"/>
                    </a:moveTo>
                    <a:lnTo>
                      <a:pt x="3114165" y="0"/>
                    </a:lnTo>
                    <a:lnTo>
                      <a:pt x="3114165" y="2133143"/>
                    </a:lnTo>
                    <a:lnTo>
                      <a:pt x="0" y="213314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F9869">
                      <a:alpha val="100000"/>
                    </a:srgbClr>
                  </a:gs>
                  <a:gs pos="100000">
                    <a:srgbClr val="FFD2BD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0" y="-38100"/>
                <a:ext cx="3114165" cy="2171243"/>
              </a:xfrm>
              <a:prstGeom prst="rect">
                <a:avLst/>
              </a:prstGeom>
            </p:spPr>
            <p:txBody>
              <a:bodyPr lIns="8364" tIns="8364" rIns="8364" bIns="8364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27" name="Freeform 27"/>
            <p:cNvSpPr/>
            <p:nvPr/>
          </p:nvSpPr>
          <p:spPr>
            <a:xfrm>
              <a:off x="85537" y="404254"/>
              <a:ext cx="2339341" cy="1462088"/>
            </a:xfrm>
            <a:custGeom>
              <a:avLst/>
              <a:gdLst/>
              <a:ahLst/>
              <a:cxnLst/>
              <a:rect l="l" t="t" r="r" b="b"/>
              <a:pathLst>
                <a:path w="2339341" h="1462088">
                  <a:moveTo>
                    <a:pt x="0" y="0"/>
                  </a:moveTo>
                  <a:lnTo>
                    <a:pt x="2339341" y="0"/>
                  </a:lnTo>
                  <a:lnTo>
                    <a:pt x="2339341" y="1462089"/>
                  </a:lnTo>
                  <a:lnTo>
                    <a:pt x="0" y="14620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38100"/>
              <a:ext cx="2510416" cy="3136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</a:pPr>
              <a:r>
                <a:rPr lang="en-US" sz="14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Vista del Mecanico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1109816" y="3414336"/>
            <a:ext cx="2250592" cy="1439886"/>
            <a:chOff x="0" y="0"/>
            <a:chExt cx="3000789" cy="1919848"/>
          </a:xfrm>
        </p:grpSpPr>
        <p:grpSp>
          <p:nvGrpSpPr>
            <p:cNvPr id="30" name="Group 30"/>
            <p:cNvGrpSpPr/>
            <p:nvPr/>
          </p:nvGrpSpPr>
          <p:grpSpPr>
            <a:xfrm>
              <a:off x="245187" y="275505"/>
              <a:ext cx="2510416" cy="1644343"/>
              <a:chOff x="0" y="0"/>
              <a:chExt cx="3114165" cy="2039803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3114165" cy="2039803"/>
              </a:xfrm>
              <a:custGeom>
                <a:avLst/>
                <a:gdLst/>
                <a:ahLst/>
                <a:cxnLst/>
                <a:rect l="l" t="t" r="r" b="b"/>
                <a:pathLst>
                  <a:path w="3114165" h="2039803">
                    <a:moveTo>
                      <a:pt x="0" y="0"/>
                    </a:moveTo>
                    <a:lnTo>
                      <a:pt x="3114165" y="0"/>
                    </a:lnTo>
                    <a:lnTo>
                      <a:pt x="3114165" y="2039803"/>
                    </a:lnTo>
                    <a:lnTo>
                      <a:pt x="0" y="203980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FDA6A">
                      <a:alpha val="100000"/>
                    </a:srgbClr>
                  </a:gs>
                  <a:gs pos="100000">
                    <a:srgbClr val="FFF7DE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38100"/>
                <a:ext cx="3114165" cy="2077903"/>
              </a:xfrm>
              <a:prstGeom prst="rect">
                <a:avLst/>
              </a:prstGeom>
            </p:spPr>
            <p:txBody>
              <a:bodyPr lIns="8364" tIns="8364" rIns="8364" bIns="8364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33" name="Freeform 33"/>
            <p:cNvSpPr/>
            <p:nvPr/>
          </p:nvSpPr>
          <p:spPr>
            <a:xfrm>
              <a:off x="348303" y="377619"/>
              <a:ext cx="2304183" cy="1440114"/>
            </a:xfrm>
            <a:custGeom>
              <a:avLst/>
              <a:gdLst/>
              <a:ahLst/>
              <a:cxnLst/>
              <a:rect l="l" t="t" r="r" b="b"/>
              <a:pathLst>
                <a:path w="2304183" h="1440114">
                  <a:moveTo>
                    <a:pt x="0" y="0"/>
                  </a:moveTo>
                  <a:lnTo>
                    <a:pt x="2304183" y="0"/>
                  </a:lnTo>
                  <a:lnTo>
                    <a:pt x="2304183" y="1440115"/>
                  </a:lnTo>
                  <a:lnTo>
                    <a:pt x="0" y="14401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38100"/>
              <a:ext cx="3000789" cy="3136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</a:pPr>
              <a:r>
                <a:rPr lang="en-US" sz="14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Vista del Jefe de Taller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728231" y="4920897"/>
            <a:ext cx="3013762" cy="1757247"/>
            <a:chOff x="0" y="0"/>
            <a:chExt cx="4018349" cy="2342996"/>
          </a:xfrm>
        </p:grpSpPr>
        <p:grpSp>
          <p:nvGrpSpPr>
            <p:cNvPr id="36" name="Group 36"/>
            <p:cNvGrpSpPr/>
            <p:nvPr/>
          </p:nvGrpSpPr>
          <p:grpSpPr>
            <a:xfrm>
              <a:off x="753967" y="275505"/>
              <a:ext cx="2510416" cy="2067491"/>
              <a:chOff x="0" y="0"/>
              <a:chExt cx="2623623" cy="2160724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0" y="0"/>
                <a:ext cx="2623623" cy="2160724"/>
              </a:xfrm>
              <a:custGeom>
                <a:avLst/>
                <a:gdLst/>
                <a:ahLst/>
                <a:cxnLst/>
                <a:rect l="l" t="t" r="r" b="b"/>
                <a:pathLst>
                  <a:path w="2623623" h="2160724">
                    <a:moveTo>
                      <a:pt x="0" y="0"/>
                    </a:moveTo>
                    <a:lnTo>
                      <a:pt x="2623623" y="0"/>
                    </a:lnTo>
                    <a:lnTo>
                      <a:pt x="2623623" y="2160724"/>
                    </a:lnTo>
                    <a:lnTo>
                      <a:pt x="0" y="2160724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7CCE6B">
                      <a:alpha val="100000"/>
                    </a:srgbClr>
                  </a:gs>
                  <a:gs pos="100000">
                    <a:srgbClr val="D8FFD0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0" y="-38100"/>
                <a:ext cx="2623623" cy="2198824"/>
              </a:xfrm>
              <a:prstGeom prst="rect">
                <a:avLst/>
              </a:prstGeom>
            </p:spPr>
            <p:txBody>
              <a:bodyPr lIns="33077" tIns="33077" rIns="33077" bIns="33077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39" name="Freeform 39"/>
            <p:cNvSpPr/>
            <p:nvPr/>
          </p:nvSpPr>
          <p:spPr>
            <a:xfrm>
              <a:off x="893662" y="387358"/>
              <a:ext cx="2231025" cy="1851750"/>
            </a:xfrm>
            <a:custGeom>
              <a:avLst/>
              <a:gdLst/>
              <a:ahLst/>
              <a:cxnLst/>
              <a:rect l="l" t="t" r="r" b="b"/>
              <a:pathLst>
                <a:path w="2231025" h="1851750">
                  <a:moveTo>
                    <a:pt x="0" y="0"/>
                  </a:moveTo>
                  <a:lnTo>
                    <a:pt x="2231025" y="0"/>
                  </a:lnTo>
                  <a:lnTo>
                    <a:pt x="2231025" y="1851751"/>
                  </a:lnTo>
                  <a:lnTo>
                    <a:pt x="0" y="18517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38100"/>
              <a:ext cx="4018349" cy="3136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</a:pPr>
              <a:r>
                <a:rPr lang="en-US" sz="14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Vista del Asistente de Repuesto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861008" y="6744819"/>
            <a:ext cx="2748210" cy="1658253"/>
            <a:chOff x="0" y="0"/>
            <a:chExt cx="3664279" cy="2211004"/>
          </a:xfrm>
        </p:grpSpPr>
        <p:grpSp>
          <p:nvGrpSpPr>
            <p:cNvPr id="42" name="Group 42"/>
            <p:cNvGrpSpPr/>
            <p:nvPr/>
          </p:nvGrpSpPr>
          <p:grpSpPr>
            <a:xfrm>
              <a:off x="576932" y="313289"/>
              <a:ext cx="2510416" cy="1897715"/>
              <a:chOff x="0" y="0"/>
              <a:chExt cx="2787980" cy="2107536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0" y="0"/>
                <a:ext cx="2787980" cy="2107536"/>
              </a:xfrm>
              <a:custGeom>
                <a:avLst/>
                <a:gdLst/>
                <a:ahLst/>
                <a:cxnLst/>
                <a:rect l="l" t="t" r="r" b="b"/>
                <a:pathLst>
                  <a:path w="2787980" h="2107536">
                    <a:moveTo>
                      <a:pt x="0" y="0"/>
                    </a:moveTo>
                    <a:lnTo>
                      <a:pt x="2787980" y="0"/>
                    </a:lnTo>
                    <a:lnTo>
                      <a:pt x="2787980" y="2107536"/>
                    </a:lnTo>
                    <a:lnTo>
                      <a:pt x="0" y="2107536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7AF6EE">
                      <a:alpha val="100000"/>
                    </a:srgbClr>
                  </a:gs>
                  <a:gs pos="100000">
                    <a:srgbClr val="EAFFFE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0" y="-38100"/>
                <a:ext cx="2787980" cy="2145636"/>
              </a:xfrm>
              <a:prstGeom prst="rect">
                <a:avLst/>
              </a:prstGeom>
            </p:spPr>
            <p:txBody>
              <a:bodyPr lIns="27060" tIns="27060" rIns="27060" bIns="27060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45" name="Freeform 45"/>
            <p:cNvSpPr/>
            <p:nvPr/>
          </p:nvSpPr>
          <p:spPr>
            <a:xfrm>
              <a:off x="687262" y="410644"/>
              <a:ext cx="2289755" cy="1703005"/>
            </a:xfrm>
            <a:custGeom>
              <a:avLst/>
              <a:gdLst/>
              <a:ahLst/>
              <a:cxnLst/>
              <a:rect l="l" t="t" r="r" b="b"/>
              <a:pathLst>
                <a:path w="2289755" h="1703005">
                  <a:moveTo>
                    <a:pt x="0" y="0"/>
                  </a:moveTo>
                  <a:lnTo>
                    <a:pt x="2289755" y="0"/>
                  </a:lnTo>
                  <a:lnTo>
                    <a:pt x="2289755" y="1703005"/>
                  </a:lnTo>
                  <a:lnTo>
                    <a:pt x="0" y="17030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38100"/>
              <a:ext cx="3664279" cy="3136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</a:pPr>
              <a:r>
                <a:rPr lang="en-US" sz="14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Vista del Coordinador Zonal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1253616" y="8469747"/>
            <a:ext cx="1962994" cy="1670818"/>
            <a:chOff x="0" y="0"/>
            <a:chExt cx="2617325" cy="2227758"/>
          </a:xfrm>
        </p:grpSpPr>
        <p:grpSp>
          <p:nvGrpSpPr>
            <p:cNvPr id="48" name="Group 48"/>
            <p:cNvGrpSpPr/>
            <p:nvPr/>
          </p:nvGrpSpPr>
          <p:grpSpPr>
            <a:xfrm>
              <a:off x="53455" y="313289"/>
              <a:ext cx="2510416" cy="1914469"/>
              <a:chOff x="0" y="0"/>
              <a:chExt cx="2904776" cy="2215212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0" y="0"/>
                <a:ext cx="2904776" cy="2215212"/>
              </a:xfrm>
              <a:custGeom>
                <a:avLst/>
                <a:gdLst/>
                <a:ahLst/>
                <a:cxnLst/>
                <a:rect l="l" t="t" r="r" b="b"/>
                <a:pathLst>
                  <a:path w="2904776" h="2215212">
                    <a:moveTo>
                      <a:pt x="0" y="0"/>
                    </a:moveTo>
                    <a:lnTo>
                      <a:pt x="2904776" y="0"/>
                    </a:lnTo>
                    <a:lnTo>
                      <a:pt x="2904776" y="2215212"/>
                    </a:lnTo>
                    <a:lnTo>
                      <a:pt x="0" y="2215212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093FF">
                      <a:alpha val="100000"/>
                    </a:srgbClr>
                  </a:gs>
                  <a:gs pos="100000">
                    <a:srgbClr val="FDF1FF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0" y="-38100"/>
                <a:ext cx="2904776" cy="2253312"/>
              </a:xfrm>
              <a:prstGeom prst="rect">
                <a:avLst/>
              </a:prstGeom>
            </p:spPr>
            <p:txBody>
              <a:bodyPr lIns="7852" tIns="7852" rIns="7852" bIns="7852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51" name="Freeform 51"/>
            <p:cNvSpPr/>
            <p:nvPr/>
          </p:nvSpPr>
          <p:spPr>
            <a:xfrm>
              <a:off x="181161" y="474226"/>
              <a:ext cx="2255003" cy="1592596"/>
            </a:xfrm>
            <a:custGeom>
              <a:avLst/>
              <a:gdLst/>
              <a:ahLst/>
              <a:cxnLst/>
              <a:rect l="l" t="t" r="r" b="b"/>
              <a:pathLst>
                <a:path w="2255003" h="1592596">
                  <a:moveTo>
                    <a:pt x="0" y="0"/>
                  </a:moveTo>
                  <a:lnTo>
                    <a:pt x="2255003" y="0"/>
                  </a:lnTo>
                  <a:lnTo>
                    <a:pt x="2255003" y="1592595"/>
                  </a:lnTo>
                  <a:lnTo>
                    <a:pt x="0" y="15925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0" y="-38100"/>
              <a:ext cx="2617325" cy="3136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</a:pPr>
              <a:r>
                <a:rPr lang="en-US" sz="14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Vista del Supervisor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3470731" y="-4802056"/>
            <a:ext cx="7104649" cy="7104649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3302209" y="1028700"/>
            <a:ext cx="3957091" cy="2023498"/>
          </a:xfrm>
          <a:custGeom>
            <a:avLst/>
            <a:gdLst/>
            <a:ahLst/>
            <a:cxnLst/>
            <a:rect l="l" t="t" r="r" b="b"/>
            <a:pathLst>
              <a:path w="3957091" h="2023498">
                <a:moveTo>
                  <a:pt x="0" y="0"/>
                </a:moveTo>
                <a:lnTo>
                  <a:pt x="3957091" y="0"/>
                </a:lnTo>
                <a:lnTo>
                  <a:pt x="3957091" y="2023498"/>
                </a:lnTo>
                <a:lnTo>
                  <a:pt x="0" y="202349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76490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6" name="TextBox 6"/>
          <p:cNvSpPr txBox="1"/>
          <p:nvPr/>
        </p:nvSpPr>
        <p:spPr>
          <a:xfrm>
            <a:off x="1028700" y="1464393"/>
            <a:ext cx="11409720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6000" b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Issues, Facilitadores y Ajustes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028700" y="3016968"/>
            <a:ext cx="5217241" cy="2826775"/>
            <a:chOff x="0" y="0"/>
            <a:chExt cx="6956321" cy="3769033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6956321" cy="3769033"/>
              <a:chOff x="0" y="0"/>
              <a:chExt cx="1374088" cy="744500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1374088" cy="744500"/>
              </a:xfrm>
              <a:custGeom>
                <a:avLst/>
                <a:gdLst/>
                <a:ahLst/>
                <a:cxnLst/>
                <a:rect l="l" t="t" r="r" b="b"/>
                <a:pathLst>
                  <a:path w="1374088" h="744500">
                    <a:moveTo>
                      <a:pt x="0" y="0"/>
                    </a:moveTo>
                    <a:lnTo>
                      <a:pt x="1374088" y="0"/>
                    </a:lnTo>
                    <a:lnTo>
                      <a:pt x="1374088" y="744500"/>
                    </a:lnTo>
                    <a:lnTo>
                      <a:pt x="0" y="74450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F6767">
                      <a:alpha val="100000"/>
                    </a:srgbClr>
                  </a:gs>
                  <a:gs pos="100000">
                    <a:srgbClr val="FFD1D1">
                      <a:alpha val="100000"/>
                    </a:srgbClr>
                  </a:gs>
                </a:gsLst>
                <a:lin ang="5400000"/>
              </a:gra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0" y="-38100"/>
                <a:ext cx="1374088" cy="782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65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11" name="TextBox 11"/>
            <p:cNvSpPr txBox="1"/>
            <p:nvPr/>
          </p:nvSpPr>
          <p:spPr>
            <a:xfrm>
              <a:off x="244057" y="867695"/>
              <a:ext cx="6448730" cy="25590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-US" sz="20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Categoría: </a:t>
              </a:r>
              <a:r>
                <a:rPr lang="en-US" sz="2000">
                  <a:solidFill>
                    <a:srgbClr val="000000"/>
                  </a:solidFill>
                  <a:latin typeface="Codec Pro"/>
                  <a:ea typeface="Codec Pro"/>
                  <a:cs typeface="Codec Pro"/>
                  <a:sym typeface="Codec Pro"/>
                </a:rPr>
                <a:t> Issue Técnico</a:t>
              </a:r>
            </a:p>
            <a:p>
              <a:pPr algn="l">
                <a:lnSpc>
                  <a:spcPts val="2100"/>
                </a:lnSpc>
              </a:pPr>
              <a:r>
                <a:rPr lang="en-US" sz="20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Descripción: </a:t>
              </a:r>
              <a:r>
                <a:rPr lang="en-US" sz="2000">
                  <a:solidFill>
                    <a:srgbClr val="000000"/>
                  </a:solidFill>
                  <a:latin typeface="Codec Pro"/>
                  <a:ea typeface="Codec Pro"/>
                  <a:cs typeface="Codec Pro"/>
                  <a:sym typeface="Codec Pro"/>
                </a:rPr>
                <a:t>No se pudo acceder a las APIs externas (notificaciones e inventario).</a:t>
              </a:r>
            </a:p>
            <a:p>
              <a:pPr algn="l">
                <a:lnSpc>
                  <a:spcPts val="2100"/>
                </a:lnSpc>
              </a:pPr>
              <a:r>
                <a:rPr lang="en-US" sz="20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Acción / Resultado:  </a:t>
              </a:r>
              <a:r>
                <a:rPr lang="en-US" sz="2000">
                  <a:solidFill>
                    <a:srgbClr val="000000"/>
                  </a:solidFill>
                  <a:latin typeface="Codec Pro"/>
                  <a:ea typeface="Codec Pro"/>
                  <a:cs typeface="Codec Pro"/>
                  <a:sym typeface="Codec Pro"/>
                </a:rPr>
                <a:t>Se rediseñaron los módulos para funcionar de manera interna dentro de la plataforma.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44057" y="202291"/>
              <a:ext cx="834166" cy="68445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542"/>
                </a:lnSpc>
              </a:pPr>
              <a:r>
                <a:rPr lang="en-US" sz="3374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01.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28700" y="6129493"/>
            <a:ext cx="5217241" cy="2826775"/>
            <a:chOff x="0" y="0"/>
            <a:chExt cx="6956321" cy="3769033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0"/>
              <a:ext cx="6956321" cy="3769033"/>
              <a:chOff x="0" y="0"/>
              <a:chExt cx="1374088" cy="7445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1374088" cy="744500"/>
              </a:xfrm>
              <a:custGeom>
                <a:avLst/>
                <a:gdLst/>
                <a:ahLst/>
                <a:cxnLst/>
                <a:rect l="l" t="t" r="r" b="b"/>
                <a:pathLst>
                  <a:path w="1374088" h="744500">
                    <a:moveTo>
                      <a:pt x="0" y="0"/>
                    </a:moveTo>
                    <a:lnTo>
                      <a:pt x="1374088" y="0"/>
                    </a:lnTo>
                    <a:lnTo>
                      <a:pt x="1374088" y="744500"/>
                    </a:lnTo>
                    <a:lnTo>
                      <a:pt x="0" y="74450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FF6767">
                      <a:alpha val="100000"/>
                    </a:srgbClr>
                  </a:gs>
                  <a:gs pos="100000">
                    <a:srgbClr val="FFD1D1">
                      <a:alpha val="100000"/>
                    </a:srgbClr>
                  </a:gs>
                </a:gsLst>
                <a:lin ang="5400000"/>
              </a:gra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0" y="-38100"/>
                <a:ext cx="1374088" cy="782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65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17" name="TextBox 17"/>
            <p:cNvSpPr txBox="1"/>
            <p:nvPr/>
          </p:nvSpPr>
          <p:spPr>
            <a:xfrm>
              <a:off x="244057" y="218036"/>
              <a:ext cx="834166" cy="68445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542"/>
                </a:lnSpc>
              </a:pPr>
              <a:r>
                <a:rPr lang="en-US" sz="3374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02.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44057" y="883440"/>
              <a:ext cx="6448730" cy="25590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-US" sz="20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Categoría: </a:t>
              </a:r>
              <a:r>
                <a:rPr lang="en-US" sz="2000">
                  <a:solidFill>
                    <a:srgbClr val="000000"/>
                  </a:solidFill>
                  <a:latin typeface="Codec Pro"/>
                  <a:ea typeface="Codec Pro"/>
                  <a:cs typeface="Codec Pro"/>
                  <a:sym typeface="Codec Pro"/>
                </a:rPr>
                <a:t> Issue de Tiempo</a:t>
              </a:r>
            </a:p>
            <a:p>
              <a:pPr algn="l">
                <a:lnSpc>
                  <a:spcPts val="2100"/>
                </a:lnSpc>
              </a:pPr>
              <a:r>
                <a:rPr lang="en-US" sz="20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Descripción:</a:t>
              </a:r>
              <a:r>
                <a:rPr lang="en-US" sz="2000">
                  <a:solidFill>
                    <a:srgbClr val="000000"/>
                  </a:solidFill>
                  <a:latin typeface="Codec Pro"/>
                  <a:ea typeface="Codec Pro"/>
                  <a:cs typeface="Codec Pro"/>
                  <a:sym typeface="Codec Pro"/>
                </a:rPr>
                <a:t> Inicio retrasado de Fase 3 por validaciones extendidas de mockups.</a:t>
              </a:r>
            </a:p>
            <a:p>
              <a:pPr algn="l">
                <a:lnSpc>
                  <a:spcPts val="2100"/>
                </a:lnSpc>
              </a:pPr>
              <a:r>
                <a:rPr lang="en-US" sz="20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Acción / Resultado:  </a:t>
              </a:r>
              <a:r>
                <a:rPr lang="en-US" sz="2000">
                  <a:solidFill>
                    <a:srgbClr val="000000"/>
                  </a:solidFill>
                  <a:latin typeface="Codec Pro"/>
                  <a:ea typeface="Codec Pro"/>
                  <a:cs typeface="Codec Pro"/>
                  <a:sym typeface="Codec Pro"/>
                </a:rPr>
                <a:t>Se aplicó una replanificación por micro-hitos semanales y trabajo paralelo FE/BE.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535380" y="3016968"/>
            <a:ext cx="5217241" cy="2826775"/>
            <a:chOff x="0" y="0"/>
            <a:chExt cx="6956321" cy="3769033"/>
          </a:xfrm>
        </p:grpSpPr>
        <p:grpSp>
          <p:nvGrpSpPr>
            <p:cNvPr id="20" name="Group 20"/>
            <p:cNvGrpSpPr/>
            <p:nvPr/>
          </p:nvGrpSpPr>
          <p:grpSpPr>
            <a:xfrm>
              <a:off x="0" y="0"/>
              <a:ext cx="6956321" cy="3769033"/>
              <a:chOff x="0" y="0"/>
              <a:chExt cx="1374088" cy="74450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1374088" cy="744500"/>
              </a:xfrm>
              <a:custGeom>
                <a:avLst/>
                <a:gdLst/>
                <a:ahLst/>
                <a:cxnLst/>
                <a:rect l="l" t="t" r="r" b="b"/>
                <a:pathLst>
                  <a:path w="1374088" h="744500">
                    <a:moveTo>
                      <a:pt x="0" y="0"/>
                    </a:moveTo>
                    <a:lnTo>
                      <a:pt x="1374088" y="0"/>
                    </a:lnTo>
                    <a:lnTo>
                      <a:pt x="1374088" y="744500"/>
                    </a:lnTo>
                    <a:lnTo>
                      <a:pt x="0" y="74450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7CCE6B">
                      <a:alpha val="100000"/>
                    </a:srgbClr>
                  </a:gs>
                  <a:gs pos="100000">
                    <a:srgbClr val="D8FFD0">
                      <a:alpha val="100000"/>
                    </a:srgbClr>
                  </a:gs>
                </a:gsLst>
                <a:lin ang="5400000"/>
              </a:gra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0" y="-38100"/>
                <a:ext cx="1374088" cy="782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65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23" name="TextBox 23"/>
            <p:cNvSpPr txBox="1"/>
            <p:nvPr/>
          </p:nvSpPr>
          <p:spPr>
            <a:xfrm>
              <a:off x="264241" y="202291"/>
              <a:ext cx="834166" cy="68445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542"/>
                </a:lnSpc>
              </a:pPr>
              <a:r>
                <a:rPr lang="en-US" sz="3374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03.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64241" y="867695"/>
              <a:ext cx="6448730" cy="18478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-US" sz="20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Categoría: </a:t>
              </a:r>
              <a:r>
                <a:rPr lang="en-US" sz="2000">
                  <a:solidFill>
                    <a:srgbClr val="000000"/>
                  </a:solidFill>
                  <a:latin typeface="Codec Pro"/>
                  <a:ea typeface="Codec Pro"/>
                  <a:cs typeface="Codec Pro"/>
                  <a:sym typeface="Codec Pro"/>
                </a:rPr>
                <a:t>Facilitador</a:t>
              </a:r>
            </a:p>
            <a:p>
              <a:pPr algn="l">
                <a:lnSpc>
                  <a:spcPts val="2100"/>
                </a:lnSpc>
              </a:pPr>
              <a:r>
                <a:rPr lang="en-US" sz="20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Descripción: </a:t>
              </a:r>
              <a:r>
                <a:rPr lang="en-US" sz="2000">
                  <a:solidFill>
                    <a:srgbClr val="000000"/>
                  </a:solidFill>
                  <a:latin typeface="Codec Pro"/>
                  <a:ea typeface="Codec Pro"/>
                  <a:cs typeface="Codec Pro"/>
                  <a:sym typeface="Codec Pro"/>
                </a:rPr>
                <a:t>Roles definidos (RACI) y buena comunicación en equipo.</a:t>
              </a:r>
            </a:p>
            <a:p>
              <a:pPr algn="l">
                <a:lnSpc>
                  <a:spcPts val="2100"/>
                </a:lnSpc>
              </a:pPr>
              <a:r>
                <a:rPr lang="en-US" sz="20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Acción / Resultado: </a:t>
              </a:r>
              <a:r>
                <a:rPr lang="en-US" sz="2000">
                  <a:solidFill>
                    <a:srgbClr val="000000"/>
                  </a:solidFill>
                  <a:latin typeface="Codec Pro"/>
                  <a:ea typeface="Codec Pro"/>
                  <a:cs typeface="Codec Pro"/>
                  <a:sym typeface="Codec Pro"/>
                </a:rPr>
                <a:t> Coordinación efectiva y trazabilidad clara.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6535380" y="6129493"/>
            <a:ext cx="5217241" cy="2826775"/>
            <a:chOff x="0" y="0"/>
            <a:chExt cx="6956321" cy="3769033"/>
          </a:xfrm>
        </p:grpSpPr>
        <p:grpSp>
          <p:nvGrpSpPr>
            <p:cNvPr id="26" name="Group 26"/>
            <p:cNvGrpSpPr/>
            <p:nvPr/>
          </p:nvGrpSpPr>
          <p:grpSpPr>
            <a:xfrm>
              <a:off x="0" y="0"/>
              <a:ext cx="6956321" cy="3769033"/>
              <a:chOff x="0" y="0"/>
              <a:chExt cx="1374088" cy="744500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0" y="0"/>
                <a:ext cx="1374088" cy="744500"/>
              </a:xfrm>
              <a:custGeom>
                <a:avLst/>
                <a:gdLst/>
                <a:ahLst/>
                <a:cxnLst/>
                <a:rect l="l" t="t" r="r" b="b"/>
                <a:pathLst>
                  <a:path w="1374088" h="744500">
                    <a:moveTo>
                      <a:pt x="0" y="0"/>
                    </a:moveTo>
                    <a:lnTo>
                      <a:pt x="1374088" y="0"/>
                    </a:lnTo>
                    <a:lnTo>
                      <a:pt x="1374088" y="744500"/>
                    </a:lnTo>
                    <a:lnTo>
                      <a:pt x="0" y="74450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7CCE6B">
                      <a:alpha val="100000"/>
                    </a:srgbClr>
                  </a:gs>
                  <a:gs pos="100000">
                    <a:srgbClr val="D8FFD0">
                      <a:alpha val="100000"/>
                    </a:srgbClr>
                  </a:gs>
                </a:gsLst>
                <a:lin ang="5400000"/>
              </a:gra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0" y="-38100"/>
                <a:ext cx="1374088" cy="782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65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29" name="TextBox 29"/>
            <p:cNvSpPr txBox="1"/>
            <p:nvPr/>
          </p:nvSpPr>
          <p:spPr>
            <a:xfrm>
              <a:off x="191447" y="218036"/>
              <a:ext cx="979754" cy="68445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542"/>
                </a:lnSpc>
              </a:pPr>
              <a:r>
                <a:rPr lang="en-US" sz="3374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04.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91447" y="883440"/>
              <a:ext cx="6448730" cy="18478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-US" sz="20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Categoría: </a:t>
              </a:r>
              <a:r>
                <a:rPr lang="en-US" sz="2000">
                  <a:solidFill>
                    <a:srgbClr val="000000"/>
                  </a:solidFill>
                  <a:latin typeface="Codec Pro"/>
                  <a:ea typeface="Codec Pro"/>
                  <a:cs typeface="Codec Pro"/>
                  <a:sym typeface="Codec Pro"/>
                </a:rPr>
                <a:t>Facilitador</a:t>
              </a:r>
            </a:p>
            <a:p>
              <a:pPr algn="l">
                <a:lnSpc>
                  <a:spcPts val="2100"/>
                </a:lnSpc>
              </a:pPr>
              <a:r>
                <a:rPr lang="en-US" sz="20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Descripción: </a:t>
              </a:r>
              <a:r>
                <a:rPr lang="en-US" sz="2000">
                  <a:solidFill>
                    <a:srgbClr val="000000"/>
                  </a:solidFill>
                  <a:latin typeface="Codec Pro"/>
                  <a:ea typeface="Codec Pro"/>
                  <a:cs typeface="Codec Pro"/>
                  <a:sym typeface="Codec Pro"/>
                </a:rPr>
                <a:t>Herramientas de apoyo: Trello, Figma, PlantUML, Postman.</a:t>
              </a:r>
            </a:p>
            <a:p>
              <a:pPr algn="l">
                <a:lnSpc>
                  <a:spcPts val="2100"/>
                </a:lnSpc>
              </a:pPr>
              <a:r>
                <a:rPr lang="en-US" sz="20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Acción / Resultado:  </a:t>
              </a:r>
              <a:r>
                <a:rPr lang="en-US" sz="2000">
                  <a:solidFill>
                    <a:srgbClr val="000000"/>
                  </a:solidFill>
                  <a:latin typeface="Codec Pro"/>
                  <a:ea typeface="Codec Pro"/>
                  <a:cs typeface="Codec Pro"/>
                  <a:sym typeface="Codec Pro"/>
                </a:rPr>
                <a:t>Aceleraron validaciones y revisiones cruzadas.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2042059" y="3016968"/>
            <a:ext cx="5217241" cy="2826775"/>
            <a:chOff x="0" y="0"/>
            <a:chExt cx="6956321" cy="3769033"/>
          </a:xfrm>
        </p:grpSpPr>
        <p:grpSp>
          <p:nvGrpSpPr>
            <p:cNvPr id="32" name="Group 32"/>
            <p:cNvGrpSpPr/>
            <p:nvPr/>
          </p:nvGrpSpPr>
          <p:grpSpPr>
            <a:xfrm>
              <a:off x="0" y="0"/>
              <a:ext cx="6956321" cy="3769033"/>
              <a:chOff x="0" y="0"/>
              <a:chExt cx="1374088" cy="744500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0" y="0"/>
                <a:ext cx="1374088" cy="744500"/>
              </a:xfrm>
              <a:custGeom>
                <a:avLst/>
                <a:gdLst/>
                <a:ahLst/>
                <a:cxnLst/>
                <a:rect l="l" t="t" r="r" b="b"/>
                <a:pathLst>
                  <a:path w="1374088" h="744500">
                    <a:moveTo>
                      <a:pt x="0" y="0"/>
                    </a:moveTo>
                    <a:lnTo>
                      <a:pt x="1374088" y="0"/>
                    </a:lnTo>
                    <a:lnTo>
                      <a:pt x="1374088" y="744500"/>
                    </a:lnTo>
                    <a:lnTo>
                      <a:pt x="0" y="74450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4A9FF">
                      <a:alpha val="100000"/>
                    </a:srgbClr>
                  </a:gs>
                  <a:gs pos="100000">
                    <a:srgbClr val="F5F8FF">
                      <a:alpha val="100000"/>
                    </a:srgbClr>
                  </a:gs>
                </a:gsLst>
                <a:lin ang="5400000"/>
              </a:gra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0" y="-38100"/>
                <a:ext cx="1374088" cy="782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65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35" name="TextBox 35"/>
            <p:cNvSpPr txBox="1"/>
            <p:nvPr/>
          </p:nvSpPr>
          <p:spPr>
            <a:xfrm>
              <a:off x="261781" y="202291"/>
              <a:ext cx="894916" cy="68445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542"/>
                </a:lnSpc>
              </a:pPr>
              <a:r>
                <a:rPr lang="en-US" sz="3374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05.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61781" y="867695"/>
              <a:ext cx="6448730" cy="22034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-US" sz="20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Categoría: </a:t>
              </a:r>
              <a:r>
                <a:rPr lang="en-US" sz="2000">
                  <a:solidFill>
                    <a:srgbClr val="000000"/>
                  </a:solidFill>
                  <a:latin typeface="Codec Pro"/>
                  <a:ea typeface="Codec Pro"/>
                  <a:cs typeface="Codec Pro"/>
                  <a:sym typeface="Codec Pro"/>
                </a:rPr>
                <a:t> Ajuste de Alcance</a:t>
              </a:r>
            </a:p>
            <a:p>
              <a:pPr algn="l">
                <a:lnSpc>
                  <a:spcPts val="2100"/>
                </a:lnSpc>
              </a:pPr>
              <a:r>
                <a:rPr lang="en-US" sz="20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Descripción: </a:t>
              </a:r>
              <a:r>
                <a:rPr lang="en-US" sz="2000">
                  <a:solidFill>
                    <a:srgbClr val="000000"/>
                  </a:solidFill>
                  <a:latin typeface="Codec Pro"/>
                  <a:ea typeface="Codec Pro"/>
                  <a:cs typeface="Codec Pro"/>
                  <a:sym typeface="Codec Pro"/>
                </a:rPr>
                <a:t>Eliminación de APIs externas.</a:t>
              </a:r>
            </a:p>
            <a:p>
              <a:pPr algn="l">
                <a:lnSpc>
                  <a:spcPts val="2100"/>
                </a:lnSpc>
              </a:pPr>
              <a:r>
                <a:rPr lang="en-US" sz="20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Acción / Resultado: </a:t>
              </a:r>
              <a:r>
                <a:rPr lang="en-US" sz="2000">
                  <a:solidFill>
                    <a:srgbClr val="000000"/>
                  </a:solidFill>
                  <a:latin typeface="Codec Pro"/>
                  <a:ea typeface="Codec Pro"/>
                  <a:cs typeface="Codec Pro"/>
                  <a:sym typeface="Codec Pro"/>
                </a:rPr>
                <a:t>Reducción de complejidad técnica y mayor autonomía.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12042059" y="6129493"/>
            <a:ext cx="5217241" cy="2826775"/>
            <a:chOff x="0" y="0"/>
            <a:chExt cx="6956321" cy="3769033"/>
          </a:xfrm>
        </p:grpSpPr>
        <p:grpSp>
          <p:nvGrpSpPr>
            <p:cNvPr id="38" name="Group 38"/>
            <p:cNvGrpSpPr/>
            <p:nvPr/>
          </p:nvGrpSpPr>
          <p:grpSpPr>
            <a:xfrm>
              <a:off x="0" y="0"/>
              <a:ext cx="6956321" cy="3769033"/>
              <a:chOff x="0" y="0"/>
              <a:chExt cx="1374088" cy="744500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0" y="0"/>
                <a:ext cx="1374088" cy="744500"/>
              </a:xfrm>
              <a:custGeom>
                <a:avLst/>
                <a:gdLst/>
                <a:ahLst/>
                <a:cxnLst/>
                <a:rect l="l" t="t" r="r" b="b"/>
                <a:pathLst>
                  <a:path w="1374088" h="744500">
                    <a:moveTo>
                      <a:pt x="0" y="0"/>
                    </a:moveTo>
                    <a:lnTo>
                      <a:pt x="1374088" y="0"/>
                    </a:lnTo>
                    <a:lnTo>
                      <a:pt x="1374088" y="744500"/>
                    </a:lnTo>
                    <a:lnTo>
                      <a:pt x="0" y="74450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4A9FF">
                      <a:alpha val="100000"/>
                    </a:srgbClr>
                  </a:gs>
                  <a:gs pos="100000">
                    <a:srgbClr val="F5F8FF">
                      <a:alpha val="100000"/>
                    </a:srgbClr>
                  </a:gs>
                </a:gsLst>
                <a:lin ang="5400000"/>
              </a:gra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0" y="-38100"/>
                <a:ext cx="1374088" cy="782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65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41" name="TextBox 41"/>
            <p:cNvSpPr txBox="1"/>
            <p:nvPr/>
          </p:nvSpPr>
          <p:spPr>
            <a:xfrm>
              <a:off x="261781" y="218036"/>
              <a:ext cx="894916" cy="68445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542"/>
                </a:lnSpc>
              </a:pPr>
              <a:r>
                <a:rPr lang="en-US" sz="3374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06.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261781" y="883440"/>
              <a:ext cx="6448730" cy="22034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-US" sz="20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Categoría: </a:t>
              </a:r>
              <a:r>
                <a:rPr lang="en-US" sz="2000">
                  <a:solidFill>
                    <a:srgbClr val="000000"/>
                  </a:solidFill>
                  <a:latin typeface="Codec Pro"/>
                  <a:ea typeface="Codec Pro"/>
                  <a:cs typeface="Codec Pro"/>
                  <a:sym typeface="Codec Pro"/>
                </a:rPr>
                <a:t> Ajuste de Planificación</a:t>
              </a:r>
            </a:p>
            <a:p>
              <a:pPr algn="l">
                <a:lnSpc>
                  <a:spcPts val="2100"/>
                </a:lnSpc>
              </a:pPr>
              <a:r>
                <a:rPr lang="en-US" sz="20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Descripción: </a:t>
              </a:r>
              <a:r>
                <a:rPr lang="en-US" sz="2000">
                  <a:solidFill>
                    <a:srgbClr val="000000"/>
                  </a:solidFill>
                  <a:latin typeface="Codec Pro"/>
                  <a:ea typeface="Codec Pro"/>
                  <a:cs typeface="Codec Pro"/>
                  <a:sym typeface="Codec Pro"/>
                </a:rPr>
                <a:t>Validaciones extra en diseño UI.</a:t>
              </a:r>
            </a:p>
            <a:p>
              <a:pPr algn="l">
                <a:lnSpc>
                  <a:spcPts val="2100"/>
                </a:lnSpc>
              </a:pPr>
              <a:r>
                <a:rPr lang="en-US" sz="2000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Acción / Resultado:</a:t>
              </a:r>
              <a:r>
                <a:rPr lang="en-US" sz="2000">
                  <a:solidFill>
                    <a:srgbClr val="000000"/>
                  </a:solidFill>
                  <a:latin typeface="Codec Pro"/>
                  <a:ea typeface="Codec Pro"/>
                  <a:cs typeface="Codec Pro"/>
                  <a:sym typeface="Codec Pro"/>
                </a:rPr>
                <a:t> Diseño más consistente y sin reprocesos en construcción.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2310800">
            <a:off x="15597550" y="-1362391"/>
            <a:ext cx="4276203" cy="4320316"/>
            <a:chOff x="0" y="0"/>
            <a:chExt cx="1126243" cy="113786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126243" cy="1137861"/>
            </a:xfrm>
            <a:custGeom>
              <a:avLst/>
              <a:gdLst/>
              <a:ahLst/>
              <a:cxnLst/>
              <a:rect l="l" t="t" r="r" b="b"/>
              <a:pathLst>
                <a:path w="1126243" h="1137861">
                  <a:moveTo>
                    <a:pt x="563121" y="0"/>
                  </a:moveTo>
                  <a:cubicBezTo>
                    <a:pt x="252118" y="0"/>
                    <a:pt x="0" y="254719"/>
                    <a:pt x="0" y="568930"/>
                  </a:cubicBezTo>
                  <a:cubicBezTo>
                    <a:pt x="0" y="883142"/>
                    <a:pt x="252118" y="1137861"/>
                    <a:pt x="563121" y="1137861"/>
                  </a:cubicBezTo>
                  <a:cubicBezTo>
                    <a:pt x="874125" y="1137861"/>
                    <a:pt x="1126243" y="883142"/>
                    <a:pt x="1126243" y="568930"/>
                  </a:cubicBezTo>
                  <a:cubicBezTo>
                    <a:pt x="1126243" y="254719"/>
                    <a:pt x="874125" y="0"/>
                    <a:pt x="563121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05585" y="68574"/>
              <a:ext cx="915072" cy="9626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2310800">
            <a:off x="-1461560" y="8511169"/>
            <a:ext cx="3240192" cy="3273617"/>
            <a:chOff x="0" y="0"/>
            <a:chExt cx="1126243" cy="1137861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126243" cy="1137861"/>
            </a:xfrm>
            <a:custGeom>
              <a:avLst/>
              <a:gdLst/>
              <a:ahLst/>
              <a:cxnLst/>
              <a:rect l="l" t="t" r="r" b="b"/>
              <a:pathLst>
                <a:path w="1126243" h="1137861">
                  <a:moveTo>
                    <a:pt x="563121" y="0"/>
                  </a:moveTo>
                  <a:cubicBezTo>
                    <a:pt x="252118" y="0"/>
                    <a:pt x="0" y="254719"/>
                    <a:pt x="0" y="568930"/>
                  </a:cubicBezTo>
                  <a:cubicBezTo>
                    <a:pt x="0" y="883142"/>
                    <a:pt x="252118" y="1137861"/>
                    <a:pt x="563121" y="1137861"/>
                  </a:cubicBezTo>
                  <a:cubicBezTo>
                    <a:pt x="874125" y="1137861"/>
                    <a:pt x="1126243" y="883142"/>
                    <a:pt x="1126243" y="568930"/>
                  </a:cubicBezTo>
                  <a:cubicBezTo>
                    <a:pt x="1126243" y="254719"/>
                    <a:pt x="874125" y="0"/>
                    <a:pt x="563121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05585" y="68574"/>
              <a:ext cx="915072" cy="9626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552349" y="4175307"/>
            <a:ext cx="5670618" cy="3643372"/>
            <a:chOff x="0" y="0"/>
            <a:chExt cx="7560823" cy="4857829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7560823" cy="4857829"/>
            </a:xfrm>
            <a:custGeom>
              <a:avLst/>
              <a:gdLst/>
              <a:ahLst/>
              <a:cxnLst/>
              <a:rect l="l" t="t" r="r" b="b"/>
              <a:pathLst>
                <a:path w="7560823" h="4857829">
                  <a:moveTo>
                    <a:pt x="0" y="0"/>
                  </a:moveTo>
                  <a:lnTo>
                    <a:pt x="7560823" y="0"/>
                  </a:lnTo>
                  <a:lnTo>
                    <a:pt x="7560823" y="4857829"/>
                  </a:lnTo>
                  <a:lnTo>
                    <a:pt x="0" y="48578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46903" y="1546321"/>
              <a:ext cx="5688266" cy="5156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</a:pPr>
              <a:r>
                <a:rPr lang="en-US" sz="2400" b="1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Fase 3 – Construcción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86674" y="2278665"/>
              <a:ext cx="5408723" cy="15458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380"/>
                </a:lnSpc>
              </a:pPr>
              <a:r>
                <a:rPr lang="en-US" sz="17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3.1 Desarrollo de Módulos Funcionales</a:t>
              </a:r>
            </a:p>
            <a:p>
              <a:pPr algn="l">
                <a:lnSpc>
                  <a:spcPts val="2380"/>
                </a:lnSpc>
              </a:pPr>
              <a:r>
                <a:rPr lang="en-US" sz="17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3.2 Base de Datos y Scripts</a:t>
              </a:r>
            </a:p>
            <a:p>
              <a:pPr algn="l">
                <a:lnSpc>
                  <a:spcPts val="2380"/>
                </a:lnSpc>
              </a:pPr>
              <a:r>
                <a:rPr lang="en-US" sz="17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3.3 Minutas de Control</a:t>
              </a:r>
            </a:p>
            <a:p>
              <a:pPr algn="l">
                <a:lnSpc>
                  <a:spcPts val="2380"/>
                </a:lnSpc>
              </a:pPr>
              <a:r>
                <a:rPr lang="en-US" sz="17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3.4 Verificación de Alcances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308691" y="4175307"/>
            <a:ext cx="5670618" cy="3643372"/>
            <a:chOff x="0" y="0"/>
            <a:chExt cx="7560823" cy="4857829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7560823" cy="4857829"/>
            </a:xfrm>
            <a:custGeom>
              <a:avLst/>
              <a:gdLst/>
              <a:ahLst/>
              <a:cxnLst/>
              <a:rect l="l" t="t" r="r" b="b"/>
              <a:pathLst>
                <a:path w="7560823" h="4857829">
                  <a:moveTo>
                    <a:pt x="0" y="0"/>
                  </a:moveTo>
                  <a:lnTo>
                    <a:pt x="7560823" y="0"/>
                  </a:lnTo>
                  <a:lnTo>
                    <a:pt x="7560823" y="4857829"/>
                  </a:lnTo>
                  <a:lnTo>
                    <a:pt x="0" y="48578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53751" y="1712718"/>
              <a:ext cx="6653321" cy="5156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</a:pPr>
              <a:r>
                <a:rPr lang="en-US" sz="2400" b="1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Fase 4 – Integración y Pruebas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91961" y="2453310"/>
              <a:ext cx="5176901" cy="115210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380"/>
                </a:lnSpc>
              </a:pPr>
              <a:r>
                <a:rPr lang="en-US" sz="17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4.1 Integración de Módulos</a:t>
              </a:r>
            </a:p>
            <a:p>
              <a:pPr algn="l">
                <a:lnSpc>
                  <a:spcPts val="2380"/>
                </a:lnSpc>
              </a:pPr>
              <a:r>
                <a:rPr lang="en-US" sz="17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4.2 Pruebas de Rendimiento y Ajustes</a:t>
              </a:r>
            </a:p>
            <a:p>
              <a:pPr algn="l">
                <a:lnSpc>
                  <a:spcPts val="2380"/>
                </a:lnSpc>
              </a:pPr>
              <a:r>
                <a:rPr lang="en-US" sz="17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4.3 Pruebas Finales (UAT)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2065034" y="4215034"/>
            <a:ext cx="5670618" cy="3643372"/>
            <a:chOff x="0" y="0"/>
            <a:chExt cx="7560823" cy="485782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7560823" cy="4857829"/>
            </a:xfrm>
            <a:custGeom>
              <a:avLst/>
              <a:gdLst/>
              <a:ahLst/>
              <a:cxnLst/>
              <a:rect l="l" t="t" r="r" b="b"/>
              <a:pathLst>
                <a:path w="7560823" h="4857829">
                  <a:moveTo>
                    <a:pt x="0" y="0"/>
                  </a:moveTo>
                  <a:lnTo>
                    <a:pt x="7560823" y="0"/>
                  </a:lnTo>
                  <a:lnTo>
                    <a:pt x="7560823" y="4857829"/>
                  </a:lnTo>
                  <a:lnTo>
                    <a:pt x="0" y="48578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18110" y="1438208"/>
              <a:ext cx="6924603" cy="5156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</a:pPr>
              <a:r>
                <a:rPr lang="en-US" sz="2400" b="1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Fase 5 – Implementación y Cierre 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05035" y="2109920"/>
              <a:ext cx="5750754" cy="233320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380"/>
                </a:lnSpc>
              </a:pPr>
              <a:r>
                <a:rPr lang="en-US" sz="17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5.1 Documentación de Resultados y Correcciones</a:t>
              </a:r>
            </a:p>
            <a:p>
              <a:pPr algn="l">
                <a:lnSpc>
                  <a:spcPts val="2380"/>
                </a:lnSpc>
              </a:pPr>
              <a:r>
                <a:rPr lang="en-US" sz="17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5.2 Validación con Usuarios Finales</a:t>
              </a:r>
            </a:p>
            <a:p>
              <a:pPr algn="l">
                <a:lnSpc>
                  <a:spcPts val="2380"/>
                </a:lnSpc>
              </a:pPr>
              <a:r>
                <a:rPr lang="en-US" sz="17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5.3 Plan de Implantación y Soporte</a:t>
              </a:r>
            </a:p>
            <a:p>
              <a:pPr algn="l">
                <a:lnSpc>
                  <a:spcPts val="2380"/>
                </a:lnSpc>
              </a:pPr>
              <a:r>
                <a:rPr lang="en-US" sz="17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5.4 Manuales de Usuario y Administrador</a:t>
              </a:r>
            </a:p>
            <a:p>
              <a:pPr algn="l">
                <a:lnSpc>
                  <a:spcPts val="2380"/>
                </a:lnSpc>
              </a:pPr>
              <a:r>
                <a:rPr lang="en-US" sz="170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5.5 Puesta en Marcha en Taller Piloto</a:t>
              </a:r>
            </a:p>
          </p:txBody>
        </p:sp>
      </p:grpSp>
      <p:sp>
        <p:nvSpPr>
          <p:cNvPr id="20" name="Freeform 20"/>
          <p:cNvSpPr/>
          <p:nvPr/>
        </p:nvSpPr>
        <p:spPr>
          <a:xfrm>
            <a:off x="13241048" y="866412"/>
            <a:ext cx="2952988" cy="2952988"/>
          </a:xfrm>
          <a:custGeom>
            <a:avLst/>
            <a:gdLst/>
            <a:ahLst/>
            <a:cxnLst/>
            <a:rect l="l" t="t" r="r" b="b"/>
            <a:pathLst>
              <a:path w="2952988" h="2952988">
                <a:moveTo>
                  <a:pt x="0" y="0"/>
                </a:moveTo>
                <a:lnTo>
                  <a:pt x="2952988" y="0"/>
                </a:lnTo>
                <a:lnTo>
                  <a:pt x="2952988" y="2952988"/>
                </a:lnTo>
                <a:lnTo>
                  <a:pt x="0" y="295298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1" name="TextBox 21"/>
          <p:cNvSpPr txBox="1"/>
          <p:nvPr/>
        </p:nvSpPr>
        <p:spPr>
          <a:xfrm>
            <a:off x="1050891" y="1961906"/>
            <a:ext cx="10515600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400"/>
              </a:lnSpc>
              <a:spcBef>
                <a:spcPct val="0"/>
              </a:spcBef>
            </a:pPr>
            <a:r>
              <a:rPr lang="en-US" sz="6000" b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P</a:t>
            </a:r>
            <a:r>
              <a:rPr lang="en-US" sz="6000" b="1" u="none" strike="noStrike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róximos Pasos del Proyecto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477160" y="8220356"/>
            <a:ext cx="11333679" cy="3232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El equipo mantiene la fecha final de entrega y proyecta un sistema 100 % funcional y validado.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882867" y="5621109"/>
            <a:ext cx="11004028" cy="11004028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ECD0">
                <a:alpha val="65882"/>
              </a:srgbClr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7053884" y="-2523625"/>
            <a:ext cx="7104649" cy="7104649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5768319" y="-1005225"/>
            <a:ext cx="3535767" cy="353576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ECD0">
                <a:alpha val="51765"/>
              </a:srgbClr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9276193" y="1751898"/>
            <a:ext cx="7357294" cy="7173362"/>
          </a:xfrm>
          <a:custGeom>
            <a:avLst/>
            <a:gdLst/>
            <a:ahLst/>
            <a:cxnLst/>
            <a:rect l="l" t="t" r="r" b="b"/>
            <a:pathLst>
              <a:path w="7357294" h="7173362">
                <a:moveTo>
                  <a:pt x="0" y="0"/>
                </a:moveTo>
                <a:lnTo>
                  <a:pt x="7357294" y="0"/>
                </a:lnTo>
                <a:lnTo>
                  <a:pt x="7357294" y="7173362"/>
                </a:lnTo>
                <a:lnTo>
                  <a:pt x="0" y="717336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2" name="TextBox 12"/>
          <p:cNvSpPr txBox="1"/>
          <p:nvPr/>
        </p:nvSpPr>
        <p:spPr>
          <a:xfrm>
            <a:off x="1028700" y="4710247"/>
            <a:ext cx="6171446" cy="12376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479"/>
              </a:lnSpc>
              <a:spcBef>
                <a:spcPct val="0"/>
              </a:spcBef>
            </a:pPr>
            <a:r>
              <a:rPr lang="en-US" sz="7999" b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Conclusión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226357" y="-4217157"/>
            <a:ext cx="7609967" cy="7609967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167857" y="-1676447"/>
            <a:ext cx="3932633" cy="3932633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9890916" y="1028700"/>
            <a:ext cx="6763424" cy="3795972"/>
          </a:xfrm>
          <a:custGeom>
            <a:avLst/>
            <a:gdLst/>
            <a:ahLst/>
            <a:cxnLst/>
            <a:rect l="l" t="t" r="r" b="b"/>
            <a:pathLst>
              <a:path w="6763424" h="3795972">
                <a:moveTo>
                  <a:pt x="0" y="0"/>
                </a:moveTo>
                <a:lnTo>
                  <a:pt x="6763424" y="0"/>
                </a:lnTo>
                <a:lnTo>
                  <a:pt x="6763424" y="3795972"/>
                </a:lnTo>
                <a:lnTo>
                  <a:pt x="0" y="379597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9" name="Group 9"/>
          <p:cNvGrpSpPr/>
          <p:nvPr/>
        </p:nvGrpSpPr>
        <p:grpSpPr>
          <a:xfrm>
            <a:off x="13625849" y="5631757"/>
            <a:ext cx="6474641" cy="6474641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ECD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 flipH="1">
            <a:off x="9890916" y="5462328"/>
            <a:ext cx="6763424" cy="3795972"/>
          </a:xfrm>
          <a:custGeom>
            <a:avLst/>
            <a:gdLst/>
            <a:ahLst/>
            <a:cxnLst/>
            <a:rect l="l" t="t" r="r" b="b"/>
            <a:pathLst>
              <a:path w="6763424" h="3795972">
                <a:moveTo>
                  <a:pt x="6763424" y="0"/>
                </a:moveTo>
                <a:lnTo>
                  <a:pt x="0" y="0"/>
                </a:lnTo>
                <a:lnTo>
                  <a:pt x="0" y="3795972"/>
                </a:lnTo>
                <a:lnTo>
                  <a:pt x="6763424" y="3795972"/>
                </a:lnTo>
                <a:lnTo>
                  <a:pt x="6763424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3" name="TextBox 13"/>
          <p:cNvSpPr txBox="1"/>
          <p:nvPr/>
        </p:nvSpPr>
        <p:spPr>
          <a:xfrm>
            <a:off x="882437" y="4951217"/>
            <a:ext cx="10255112" cy="10126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995"/>
              </a:lnSpc>
              <a:spcBef>
                <a:spcPct val="0"/>
              </a:spcBef>
            </a:pPr>
            <a:r>
              <a:rPr lang="en-US" sz="6599" b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¡Gracias por su atención!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809</Words>
  <Application>Microsoft Office PowerPoint</Application>
  <PresentationFormat>Personalizado</PresentationFormat>
  <Paragraphs>149</Paragraphs>
  <Slides>20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8" baseType="lpstr">
      <vt:lpstr>Codec Pro Ultra-Bold</vt:lpstr>
      <vt:lpstr>Open Sans Bold</vt:lpstr>
      <vt:lpstr>Codec Pro Bold</vt:lpstr>
      <vt:lpstr>Arial</vt:lpstr>
      <vt:lpstr>Open Sans</vt:lpstr>
      <vt:lpstr>Codec Pro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PEPSICO 2</dc:title>
  <cp:lastModifiedBy>Night Fox</cp:lastModifiedBy>
  <cp:revision>2</cp:revision>
  <dcterms:created xsi:type="dcterms:W3CDTF">2006-08-16T00:00:00Z</dcterms:created>
  <dcterms:modified xsi:type="dcterms:W3CDTF">2025-10-12T17:47:41Z</dcterms:modified>
  <dc:identifier>DAG1WOO3quY</dc:identifier>
</cp:coreProperties>
</file>