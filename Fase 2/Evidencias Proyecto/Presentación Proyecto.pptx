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x="18288000" cy="10287000"/>
  <p:notesSz cx="6858000" cy="9144000"/>
  <p:embeddedFontLst>
    <p:embeddedFont>
      <p:font typeface="Poppins" charset="1" panose="00000500000000000000"/>
      <p:regular r:id="rId60"/>
    </p:embeddedFont>
    <p:embeddedFont>
      <p:font typeface="Poppins Bold" charset="1" panose="00000800000000000000"/>
      <p:regular r:id="rId61"/>
    </p:embeddedFont>
    <p:embeddedFont>
      <p:font typeface="Open Sans" charset="1" panose="020B0606030504020204"/>
      <p:regular r:id="rId6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15" Target="../media/image20.png" Type="http://schemas.openxmlformats.org/officeDocument/2006/relationships/image"/><Relationship Id="rId16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29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5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29.png" Type="http://schemas.openxmlformats.org/officeDocument/2006/relationships/image"/><Relationship Id="rId6" Target="../media/image31.png" Type="http://schemas.openxmlformats.org/officeDocument/2006/relationships/image"/><Relationship Id="rId7" Target="../media/image33.png" Type="http://schemas.openxmlformats.org/officeDocument/2006/relationships/image"/><Relationship Id="rId8" Target="../media/image30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Relationship Id="rId5" Target="../media/image29.png" Type="http://schemas.openxmlformats.org/officeDocument/2006/relationships/image"/><Relationship Id="rId6" Target="../media/image31.png" Type="http://schemas.openxmlformats.org/officeDocument/2006/relationships/image"/><Relationship Id="rId7" Target="../media/image30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1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0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3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4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5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6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7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8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9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0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1.png" Type="http://schemas.openxmlformats.org/officeDocument/2006/relationships/image"/><Relationship Id="rId5" Target="../media/image62.png" Type="http://schemas.openxmlformats.org/officeDocument/2006/relationships/image"/><Relationship Id="rId6" Target="../media/image63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4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5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6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7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69.sv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Relationship Id="rId3" Target="../media/image72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sv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77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8.png" Type="http://schemas.openxmlformats.org/officeDocument/2006/relationships/image"/><Relationship Id="rId3" Target="../media/image79.sv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svg" Type="http://schemas.openxmlformats.org/officeDocument/2006/relationships/image"/><Relationship Id="rId4" Target="../media/image80.png" Type="http://schemas.openxmlformats.org/officeDocument/2006/relationships/image"/><Relationship Id="rId5" Target="../media/image81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svg" Type="http://schemas.openxmlformats.org/officeDocument/2006/relationships/image"/><Relationship Id="rId4" Target="../media/image82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svg" Type="http://schemas.openxmlformats.org/officeDocument/2006/relationships/image"/><Relationship Id="rId4" Target="../media/image83.png" Type="http://schemas.openxmlformats.org/officeDocument/2006/relationships/image"/><Relationship Id="rId5" Target="../media/image84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5.png" Type="http://schemas.openxmlformats.org/officeDocument/2006/relationships/image"/><Relationship Id="rId3" Target="../media/image86.sv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7.png" Type="http://schemas.openxmlformats.org/officeDocument/2006/relationships/image"/><Relationship Id="rId3" Target="../media/image8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9.png" Type="http://schemas.openxmlformats.org/officeDocument/2006/relationships/image"/><Relationship Id="rId3" Target="../media/image90.sv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1.png" Type="http://schemas.openxmlformats.org/officeDocument/2006/relationships/image"/><Relationship Id="rId3" Target="../media/image9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51517" y="8111640"/>
            <a:ext cx="21864724" cy="4335087"/>
            <a:chOff x="0" y="0"/>
            <a:chExt cx="5758611" cy="1141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58611" cy="1141751"/>
            </a:xfrm>
            <a:custGeom>
              <a:avLst/>
              <a:gdLst/>
              <a:ahLst/>
              <a:cxnLst/>
              <a:rect r="r" b="b" t="t" l="l"/>
              <a:pathLst>
                <a:path h="1141751" w="5758611">
                  <a:moveTo>
                    <a:pt x="2879305" y="0"/>
                  </a:moveTo>
                  <a:cubicBezTo>
                    <a:pt x="1289109" y="0"/>
                    <a:pt x="0" y="255590"/>
                    <a:pt x="0" y="570876"/>
                  </a:cubicBezTo>
                  <a:cubicBezTo>
                    <a:pt x="0" y="886162"/>
                    <a:pt x="1289109" y="1141751"/>
                    <a:pt x="2879305" y="1141751"/>
                  </a:cubicBezTo>
                  <a:cubicBezTo>
                    <a:pt x="4469502" y="1141751"/>
                    <a:pt x="5758611" y="886162"/>
                    <a:pt x="5758611" y="570876"/>
                  </a:cubicBezTo>
                  <a:cubicBezTo>
                    <a:pt x="5758611" y="255590"/>
                    <a:pt x="4469502" y="0"/>
                    <a:pt x="2879305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539870" y="49889"/>
              <a:ext cx="4678871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98921" y="3409164"/>
            <a:ext cx="4319732" cy="2175994"/>
          </a:xfrm>
          <a:custGeom>
            <a:avLst/>
            <a:gdLst/>
            <a:ahLst/>
            <a:cxnLst/>
            <a:rect r="r" b="b" t="t" l="l"/>
            <a:pathLst>
              <a:path h="2175994" w="4319732">
                <a:moveTo>
                  <a:pt x="0" y="0"/>
                </a:moveTo>
                <a:lnTo>
                  <a:pt x="4319732" y="0"/>
                </a:lnTo>
                <a:lnTo>
                  <a:pt x="4319732" y="2175994"/>
                </a:lnTo>
                <a:lnTo>
                  <a:pt x="0" y="21759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34592" y="-985157"/>
            <a:ext cx="5224852" cy="2631933"/>
          </a:xfrm>
          <a:custGeom>
            <a:avLst/>
            <a:gdLst/>
            <a:ahLst/>
            <a:cxnLst/>
            <a:rect r="r" b="b" t="t" l="l"/>
            <a:pathLst>
              <a:path h="2631933" w="5224852">
                <a:moveTo>
                  <a:pt x="0" y="0"/>
                </a:moveTo>
                <a:lnTo>
                  <a:pt x="5224852" y="0"/>
                </a:lnTo>
                <a:lnTo>
                  <a:pt x="5224852" y="2631933"/>
                </a:lnTo>
                <a:lnTo>
                  <a:pt x="0" y="2631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80909" y="4497161"/>
            <a:ext cx="3581463" cy="1804103"/>
          </a:xfrm>
          <a:custGeom>
            <a:avLst/>
            <a:gdLst/>
            <a:ahLst/>
            <a:cxnLst/>
            <a:rect r="r" b="b" t="t" l="l"/>
            <a:pathLst>
              <a:path h="1804103" w="3581463">
                <a:moveTo>
                  <a:pt x="0" y="0"/>
                </a:moveTo>
                <a:lnTo>
                  <a:pt x="3581463" y="0"/>
                </a:lnTo>
                <a:lnTo>
                  <a:pt x="3581463" y="1804103"/>
                </a:lnTo>
                <a:lnTo>
                  <a:pt x="0" y="180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47018" y="3815110"/>
            <a:ext cx="2707982" cy="1364101"/>
          </a:xfrm>
          <a:custGeom>
            <a:avLst/>
            <a:gdLst/>
            <a:ahLst/>
            <a:cxnLst/>
            <a:rect r="r" b="b" t="t" l="l"/>
            <a:pathLst>
              <a:path h="1364101" w="2707982">
                <a:moveTo>
                  <a:pt x="0" y="0"/>
                </a:moveTo>
                <a:lnTo>
                  <a:pt x="2707982" y="0"/>
                </a:lnTo>
                <a:lnTo>
                  <a:pt x="2707982" y="1364101"/>
                </a:lnTo>
                <a:lnTo>
                  <a:pt x="0" y="13641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77121" y="5699693"/>
            <a:ext cx="4969517" cy="4016068"/>
          </a:xfrm>
          <a:custGeom>
            <a:avLst/>
            <a:gdLst/>
            <a:ahLst/>
            <a:cxnLst/>
            <a:rect r="r" b="b" t="t" l="l"/>
            <a:pathLst>
              <a:path h="4016068" w="4969517">
                <a:moveTo>
                  <a:pt x="0" y="0"/>
                </a:moveTo>
                <a:lnTo>
                  <a:pt x="4969517" y="0"/>
                </a:lnTo>
                <a:lnTo>
                  <a:pt x="4969517" y="4016068"/>
                </a:lnTo>
                <a:lnTo>
                  <a:pt x="0" y="4016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3614" t="-40411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81683" y="1708242"/>
            <a:ext cx="12177761" cy="236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5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5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lataforma de Gestión Digital para el Ingreso de Vehículos al Taller – PepsiCo Chile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163968"/>
            <a:ext cx="4408859" cy="156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Integrantes: </a:t>
            </a:r>
          </a:p>
          <a:p>
            <a:pPr algn="l" marL="604521" indent="-302261" lvl="1">
              <a:lnSpc>
                <a:spcPts val="3024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Tihare Maldonado</a:t>
            </a:r>
          </a:p>
          <a:p>
            <a:pPr algn="l" marL="604521" indent="-302261" lvl="1">
              <a:lnSpc>
                <a:spcPts val="3024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Janis Montecino</a:t>
            </a:r>
          </a:p>
          <a:p>
            <a:pPr algn="l" marL="604521" indent="-302261" lvl="1">
              <a:lnSpc>
                <a:spcPts val="3024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Matías Morales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378004" y="5699693"/>
            <a:ext cx="4969517" cy="4016068"/>
          </a:xfrm>
          <a:custGeom>
            <a:avLst/>
            <a:gdLst/>
            <a:ahLst/>
            <a:cxnLst/>
            <a:rect r="r" b="b" t="t" l="l"/>
            <a:pathLst>
              <a:path h="4016068" w="4969517">
                <a:moveTo>
                  <a:pt x="0" y="0"/>
                </a:moveTo>
                <a:lnTo>
                  <a:pt x="4969517" y="0"/>
                </a:lnTo>
                <a:lnTo>
                  <a:pt x="4969517" y="4016068"/>
                </a:lnTo>
                <a:lnTo>
                  <a:pt x="0" y="4016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3614" t="-40411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22907" y="2781997"/>
            <a:ext cx="4042186" cy="914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Alcance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20120" y="4697265"/>
            <a:ext cx="14047760" cy="4351104"/>
            <a:chOff x="0" y="0"/>
            <a:chExt cx="5346560" cy="16560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46560" cy="1656025"/>
            </a:xfrm>
            <a:custGeom>
              <a:avLst/>
              <a:gdLst/>
              <a:ahLst/>
              <a:cxnLst/>
              <a:rect r="r" b="b" t="t" l="l"/>
              <a:pathLst>
                <a:path h="1656025" w="5346560">
                  <a:moveTo>
                    <a:pt x="15982" y="0"/>
                  </a:moveTo>
                  <a:lnTo>
                    <a:pt x="5330577" y="0"/>
                  </a:lnTo>
                  <a:cubicBezTo>
                    <a:pt x="5334816" y="0"/>
                    <a:pt x="5338881" y="1684"/>
                    <a:pt x="5341879" y="4681"/>
                  </a:cubicBezTo>
                  <a:cubicBezTo>
                    <a:pt x="5344876" y="7678"/>
                    <a:pt x="5346560" y="11744"/>
                    <a:pt x="5346560" y="15982"/>
                  </a:cubicBezTo>
                  <a:lnTo>
                    <a:pt x="5346560" y="1640042"/>
                  </a:lnTo>
                  <a:cubicBezTo>
                    <a:pt x="5346560" y="1644281"/>
                    <a:pt x="5344876" y="1648346"/>
                    <a:pt x="5341879" y="1651344"/>
                  </a:cubicBezTo>
                  <a:cubicBezTo>
                    <a:pt x="5338881" y="1654341"/>
                    <a:pt x="5334816" y="1656025"/>
                    <a:pt x="5330577" y="1656025"/>
                  </a:cubicBezTo>
                  <a:lnTo>
                    <a:pt x="15982" y="1656025"/>
                  </a:lnTo>
                  <a:cubicBezTo>
                    <a:pt x="11744" y="1656025"/>
                    <a:pt x="7678" y="1654341"/>
                    <a:pt x="4681" y="1651344"/>
                  </a:cubicBezTo>
                  <a:cubicBezTo>
                    <a:pt x="1684" y="1648346"/>
                    <a:pt x="0" y="1644281"/>
                    <a:pt x="0" y="1640042"/>
                  </a:cubicBezTo>
                  <a:lnTo>
                    <a:pt x="0" y="15982"/>
                  </a:lnTo>
                  <a:cubicBezTo>
                    <a:pt x="0" y="11744"/>
                    <a:pt x="1684" y="7678"/>
                    <a:pt x="4681" y="4681"/>
                  </a:cubicBezTo>
                  <a:cubicBezTo>
                    <a:pt x="7678" y="1684"/>
                    <a:pt x="11744" y="0"/>
                    <a:pt x="15982" y="0"/>
                  </a:cubicBezTo>
                  <a:close/>
                </a:path>
              </a:pathLst>
            </a:custGeom>
            <a:solidFill>
              <a:srgbClr val="D0EA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346560" cy="1713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752596" y="5301623"/>
            <a:ext cx="12782808" cy="3161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sz="29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alcance del proyecto es desarrollar una plataforma web que digitalice el ingreso y control de vehículos en los talleres de PepsiCo, incluyendo registro, creación de órdenes de trabajo, gestión de estados y pausas, carga de documentos, reportes y administración de usuarios. El proyecto abarca análisis, diseño, desarrollo, pruebas y puesta en marcha en el taller piloto de Maipú. Esta fase no incorpora integraciones externas ni aplicaciones móviles.</a:t>
            </a:r>
          </a:p>
        </p:txBody>
      </p:sp>
      <p:grpSp>
        <p:nvGrpSpPr>
          <p:cNvPr name="Group 7" id="7"/>
          <p:cNvGrpSpPr/>
          <p:nvPr/>
        </p:nvGrpSpPr>
        <p:grpSpPr>
          <a:xfrm rot="899879">
            <a:off x="6305612" y="-1346111"/>
            <a:ext cx="16291319" cy="4335087"/>
            <a:chOff x="0" y="0"/>
            <a:chExt cx="4290718" cy="11417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90718" cy="1141751"/>
            </a:xfrm>
            <a:custGeom>
              <a:avLst/>
              <a:gdLst/>
              <a:ahLst/>
              <a:cxnLst/>
              <a:rect r="r" b="b" t="t" l="l"/>
              <a:pathLst>
                <a:path h="1141751" w="4290718">
                  <a:moveTo>
                    <a:pt x="2145359" y="0"/>
                  </a:moveTo>
                  <a:cubicBezTo>
                    <a:pt x="960510" y="0"/>
                    <a:pt x="0" y="255590"/>
                    <a:pt x="0" y="570876"/>
                  </a:cubicBezTo>
                  <a:cubicBezTo>
                    <a:pt x="0" y="886162"/>
                    <a:pt x="960510" y="1141751"/>
                    <a:pt x="2145359" y="1141751"/>
                  </a:cubicBezTo>
                  <a:cubicBezTo>
                    <a:pt x="3330208" y="1141751"/>
                    <a:pt x="4290718" y="886162"/>
                    <a:pt x="4290718" y="570876"/>
                  </a:cubicBezTo>
                  <a:cubicBezTo>
                    <a:pt x="4290718" y="255590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402255" y="49889"/>
              <a:ext cx="3486208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9672369">
            <a:off x="-4253653" y="-1789287"/>
            <a:ext cx="16291319" cy="4798912"/>
            <a:chOff x="0" y="0"/>
            <a:chExt cx="4290718" cy="12639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90718" cy="1263911"/>
            </a:xfrm>
            <a:custGeom>
              <a:avLst/>
              <a:gdLst/>
              <a:ahLst/>
              <a:cxnLst/>
              <a:rect r="r" b="b" t="t" l="l"/>
              <a:pathLst>
                <a:path h="1263911" w="4290718">
                  <a:moveTo>
                    <a:pt x="2145359" y="0"/>
                  </a:moveTo>
                  <a:cubicBezTo>
                    <a:pt x="960510" y="0"/>
                    <a:pt x="0" y="282936"/>
                    <a:pt x="0" y="631956"/>
                  </a:cubicBezTo>
                  <a:cubicBezTo>
                    <a:pt x="0" y="980975"/>
                    <a:pt x="960510" y="1263911"/>
                    <a:pt x="2145359" y="1263911"/>
                  </a:cubicBezTo>
                  <a:cubicBezTo>
                    <a:pt x="3330208" y="1263911"/>
                    <a:pt x="4290718" y="980975"/>
                    <a:pt x="4290718" y="631956"/>
                  </a:cubicBezTo>
                  <a:cubicBezTo>
                    <a:pt x="4290718" y="282936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402255" y="61342"/>
              <a:ext cx="3486208" cy="1084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99879">
            <a:off x="6305612" y="-1346111"/>
            <a:ext cx="16291319" cy="4335087"/>
            <a:chOff x="0" y="0"/>
            <a:chExt cx="4290718" cy="1141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90718" cy="1141751"/>
            </a:xfrm>
            <a:custGeom>
              <a:avLst/>
              <a:gdLst/>
              <a:ahLst/>
              <a:cxnLst/>
              <a:rect r="r" b="b" t="t" l="l"/>
              <a:pathLst>
                <a:path h="1141751" w="4290718">
                  <a:moveTo>
                    <a:pt x="2145359" y="0"/>
                  </a:moveTo>
                  <a:cubicBezTo>
                    <a:pt x="960510" y="0"/>
                    <a:pt x="0" y="255590"/>
                    <a:pt x="0" y="570876"/>
                  </a:cubicBezTo>
                  <a:cubicBezTo>
                    <a:pt x="0" y="886162"/>
                    <a:pt x="960510" y="1141751"/>
                    <a:pt x="2145359" y="1141751"/>
                  </a:cubicBezTo>
                  <a:cubicBezTo>
                    <a:pt x="3330208" y="1141751"/>
                    <a:pt x="4290718" y="886162"/>
                    <a:pt x="4290718" y="570876"/>
                  </a:cubicBezTo>
                  <a:cubicBezTo>
                    <a:pt x="4290718" y="255590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402255" y="49889"/>
              <a:ext cx="3486208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9672369">
            <a:off x="-4253653" y="-1789287"/>
            <a:ext cx="16291319" cy="4798912"/>
            <a:chOff x="0" y="0"/>
            <a:chExt cx="4290718" cy="12639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90718" cy="1263911"/>
            </a:xfrm>
            <a:custGeom>
              <a:avLst/>
              <a:gdLst/>
              <a:ahLst/>
              <a:cxnLst/>
              <a:rect r="r" b="b" t="t" l="l"/>
              <a:pathLst>
                <a:path h="1263911" w="4290718">
                  <a:moveTo>
                    <a:pt x="2145359" y="0"/>
                  </a:moveTo>
                  <a:cubicBezTo>
                    <a:pt x="960510" y="0"/>
                    <a:pt x="0" y="282936"/>
                    <a:pt x="0" y="631956"/>
                  </a:cubicBezTo>
                  <a:cubicBezTo>
                    <a:pt x="0" y="980975"/>
                    <a:pt x="960510" y="1263911"/>
                    <a:pt x="2145359" y="1263911"/>
                  </a:cubicBezTo>
                  <a:cubicBezTo>
                    <a:pt x="3330208" y="1263911"/>
                    <a:pt x="4290718" y="980975"/>
                    <a:pt x="4290718" y="631956"/>
                  </a:cubicBezTo>
                  <a:cubicBezTo>
                    <a:pt x="4290718" y="282936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402255" y="61342"/>
              <a:ext cx="3486208" cy="1084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086600" y="82143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39234" y="6112173"/>
            <a:ext cx="16209532" cy="2669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29"/>
              </a:lnSpc>
              <a:spcBef>
                <a:spcPct val="0"/>
              </a:spcBef>
            </a:pPr>
            <a:r>
              <a:rPr lang="en-US" sz="108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Fase 1 – Planificación Inicial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32170">
            <a:off x="-4381281" y="6577842"/>
            <a:ext cx="11903008" cy="6647001"/>
            <a:chOff x="0" y="0"/>
            <a:chExt cx="3134949" cy="1750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34949" cy="1750651"/>
            </a:xfrm>
            <a:custGeom>
              <a:avLst/>
              <a:gdLst/>
              <a:ahLst/>
              <a:cxnLst/>
              <a:rect r="r" b="b" t="t" l="l"/>
              <a:pathLst>
                <a:path h="1750651" w="3134949">
                  <a:moveTo>
                    <a:pt x="1567474" y="0"/>
                  </a:moveTo>
                  <a:cubicBezTo>
                    <a:pt x="701782" y="0"/>
                    <a:pt x="0" y="391896"/>
                    <a:pt x="0" y="875325"/>
                  </a:cubicBezTo>
                  <a:cubicBezTo>
                    <a:pt x="0" y="1358754"/>
                    <a:pt x="701782" y="1750651"/>
                    <a:pt x="1567474" y="1750651"/>
                  </a:cubicBezTo>
                  <a:cubicBezTo>
                    <a:pt x="2433166" y="1750651"/>
                    <a:pt x="3134949" y="1358754"/>
                    <a:pt x="3134949" y="875325"/>
                  </a:cubicBezTo>
                  <a:cubicBezTo>
                    <a:pt x="3134949" y="391896"/>
                    <a:pt x="2433166" y="0"/>
                    <a:pt x="1567474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93901" y="106973"/>
              <a:ext cx="2547146" cy="1479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08812" y="9001079"/>
            <a:ext cx="5002527" cy="2519940"/>
          </a:xfrm>
          <a:custGeom>
            <a:avLst/>
            <a:gdLst/>
            <a:ahLst/>
            <a:cxnLst/>
            <a:rect r="r" b="b" t="t" l="l"/>
            <a:pathLst>
              <a:path h="2519940" w="5002527">
                <a:moveTo>
                  <a:pt x="0" y="0"/>
                </a:moveTo>
                <a:lnTo>
                  <a:pt x="5002526" y="0"/>
                </a:lnTo>
                <a:lnTo>
                  <a:pt x="5002526" y="2519940"/>
                </a:lnTo>
                <a:lnTo>
                  <a:pt x="0" y="2519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29204" y="9160103"/>
            <a:ext cx="2682943" cy="1351488"/>
          </a:xfrm>
          <a:custGeom>
            <a:avLst/>
            <a:gdLst/>
            <a:ahLst/>
            <a:cxnLst/>
            <a:rect r="r" b="b" t="t" l="l"/>
            <a:pathLst>
              <a:path h="1351488" w="2682943">
                <a:moveTo>
                  <a:pt x="0" y="0"/>
                </a:moveTo>
                <a:lnTo>
                  <a:pt x="2682942" y="0"/>
                </a:lnTo>
                <a:lnTo>
                  <a:pt x="2682942" y="1351488"/>
                </a:lnTo>
                <a:lnTo>
                  <a:pt x="0" y="13514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65543" y="0"/>
            <a:ext cx="2682943" cy="1351488"/>
          </a:xfrm>
          <a:custGeom>
            <a:avLst/>
            <a:gdLst/>
            <a:ahLst/>
            <a:cxnLst/>
            <a:rect r="r" b="b" t="t" l="l"/>
            <a:pathLst>
              <a:path h="1351488" w="2682943">
                <a:moveTo>
                  <a:pt x="0" y="0"/>
                </a:moveTo>
                <a:lnTo>
                  <a:pt x="2682943" y="0"/>
                </a:lnTo>
                <a:lnTo>
                  <a:pt x="2682943" y="1351488"/>
                </a:lnTo>
                <a:lnTo>
                  <a:pt x="0" y="13514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360243" y="810740"/>
            <a:ext cx="9680966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Entregables de la Fase 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175656" y="2045999"/>
            <a:ext cx="4735682" cy="2118300"/>
            <a:chOff x="0" y="0"/>
            <a:chExt cx="1247258" cy="5579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47258" cy="557906"/>
            </a:xfrm>
            <a:custGeom>
              <a:avLst/>
              <a:gdLst/>
              <a:ahLst/>
              <a:cxnLst/>
              <a:rect r="r" b="b" t="t" l="l"/>
              <a:pathLst>
                <a:path h="557906" w="1247258">
                  <a:moveTo>
                    <a:pt x="47409" y="0"/>
                  </a:moveTo>
                  <a:lnTo>
                    <a:pt x="1199848" y="0"/>
                  </a:lnTo>
                  <a:cubicBezTo>
                    <a:pt x="1226032" y="0"/>
                    <a:pt x="1247258" y="21226"/>
                    <a:pt x="1247258" y="47409"/>
                  </a:cubicBezTo>
                  <a:lnTo>
                    <a:pt x="1247258" y="510497"/>
                  </a:lnTo>
                  <a:cubicBezTo>
                    <a:pt x="1247258" y="523071"/>
                    <a:pt x="1242263" y="535129"/>
                    <a:pt x="1233372" y="544020"/>
                  </a:cubicBezTo>
                  <a:cubicBezTo>
                    <a:pt x="1224481" y="552911"/>
                    <a:pt x="1212422" y="557906"/>
                    <a:pt x="1199848" y="557906"/>
                  </a:cubicBezTo>
                  <a:lnTo>
                    <a:pt x="47409" y="557906"/>
                  </a:lnTo>
                  <a:cubicBezTo>
                    <a:pt x="21226" y="557906"/>
                    <a:pt x="0" y="536680"/>
                    <a:pt x="0" y="510497"/>
                  </a:cubicBezTo>
                  <a:lnTo>
                    <a:pt x="0" y="47409"/>
                  </a:lnTo>
                  <a:cubicBezTo>
                    <a:pt x="0" y="21226"/>
                    <a:pt x="21226" y="0"/>
                    <a:pt x="47409" y="0"/>
                  </a:cubicBezTo>
                  <a:close/>
                </a:path>
              </a:pathLst>
            </a:custGeom>
            <a:solidFill>
              <a:srgbClr val="D0EA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247258" cy="615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05527" y="2045999"/>
            <a:ext cx="4735682" cy="2118300"/>
            <a:chOff x="0" y="0"/>
            <a:chExt cx="1247258" cy="5579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7258" cy="557906"/>
            </a:xfrm>
            <a:custGeom>
              <a:avLst/>
              <a:gdLst/>
              <a:ahLst/>
              <a:cxnLst/>
              <a:rect r="r" b="b" t="t" l="l"/>
              <a:pathLst>
                <a:path h="557906" w="1247258">
                  <a:moveTo>
                    <a:pt x="47409" y="0"/>
                  </a:moveTo>
                  <a:lnTo>
                    <a:pt x="1199848" y="0"/>
                  </a:lnTo>
                  <a:cubicBezTo>
                    <a:pt x="1226032" y="0"/>
                    <a:pt x="1247258" y="21226"/>
                    <a:pt x="1247258" y="47409"/>
                  </a:cubicBezTo>
                  <a:lnTo>
                    <a:pt x="1247258" y="510497"/>
                  </a:lnTo>
                  <a:cubicBezTo>
                    <a:pt x="1247258" y="523071"/>
                    <a:pt x="1242263" y="535129"/>
                    <a:pt x="1233372" y="544020"/>
                  </a:cubicBezTo>
                  <a:cubicBezTo>
                    <a:pt x="1224481" y="552911"/>
                    <a:pt x="1212422" y="557906"/>
                    <a:pt x="1199848" y="557906"/>
                  </a:cubicBezTo>
                  <a:lnTo>
                    <a:pt x="47409" y="557906"/>
                  </a:lnTo>
                  <a:cubicBezTo>
                    <a:pt x="21226" y="557906"/>
                    <a:pt x="0" y="536680"/>
                    <a:pt x="0" y="510497"/>
                  </a:cubicBezTo>
                  <a:lnTo>
                    <a:pt x="0" y="47409"/>
                  </a:lnTo>
                  <a:cubicBezTo>
                    <a:pt x="0" y="21226"/>
                    <a:pt x="21226" y="0"/>
                    <a:pt x="47409" y="0"/>
                  </a:cubicBezTo>
                  <a:close/>
                </a:path>
              </a:pathLst>
            </a:custGeom>
            <a:solidFill>
              <a:srgbClr val="D0EA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247258" cy="615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175656" y="4465538"/>
            <a:ext cx="4735682" cy="2073265"/>
            <a:chOff x="0" y="0"/>
            <a:chExt cx="1247258" cy="5460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7258" cy="546045"/>
            </a:xfrm>
            <a:custGeom>
              <a:avLst/>
              <a:gdLst/>
              <a:ahLst/>
              <a:cxnLst/>
              <a:rect r="r" b="b" t="t" l="l"/>
              <a:pathLst>
                <a:path h="546045" w="1247258">
                  <a:moveTo>
                    <a:pt x="47409" y="0"/>
                  </a:moveTo>
                  <a:lnTo>
                    <a:pt x="1199848" y="0"/>
                  </a:lnTo>
                  <a:cubicBezTo>
                    <a:pt x="1226032" y="0"/>
                    <a:pt x="1247258" y="21226"/>
                    <a:pt x="1247258" y="47409"/>
                  </a:cubicBezTo>
                  <a:lnTo>
                    <a:pt x="1247258" y="498636"/>
                  </a:lnTo>
                  <a:cubicBezTo>
                    <a:pt x="1247258" y="524819"/>
                    <a:pt x="1226032" y="546045"/>
                    <a:pt x="1199848" y="546045"/>
                  </a:cubicBezTo>
                  <a:lnTo>
                    <a:pt x="47409" y="546045"/>
                  </a:lnTo>
                  <a:cubicBezTo>
                    <a:pt x="34836" y="546045"/>
                    <a:pt x="22777" y="541050"/>
                    <a:pt x="13886" y="532159"/>
                  </a:cubicBezTo>
                  <a:cubicBezTo>
                    <a:pt x="4995" y="523268"/>
                    <a:pt x="0" y="511210"/>
                    <a:pt x="0" y="498636"/>
                  </a:cubicBezTo>
                  <a:lnTo>
                    <a:pt x="0" y="47409"/>
                  </a:lnTo>
                  <a:cubicBezTo>
                    <a:pt x="0" y="21226"/>
                    <a:pt x="21226" y="0"/>
                    <a:pt x="47409" y="0"/>
                  </a:cubicBezTo>
                  <a:close/>
                </a:path>
              </a:pathLst>
            </a:custGeom>
            <a:solidFill>
              <a:srgbClr val="D0EA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247258" cy="603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05527" y="4465538"/>
            <a:ext cx="4735682" cy="2073265"/>
            <a:chOff x="0" y="0"/>
            <a:chExt cx="1247258" cy="5460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47258" cy="546045"/>
            </a:xfrm>
            <a:custGeom>
              <a:avLst/>
              <a:gdLst/>
              <a:ahLst/>
              <a:cxnLst/>
              <a:rect r="r" b="b" t="t" l="l"/>
              <a:pathLst>
                <a:path h="546045" w="1247258">
                  <a:moveTo>
                    <a:pt x="47409" y="0"/>
                  </a:moveTo>
                  <a:lnTo>
                    <a:pt x="1199848" y="0"/>
                  </a:lnTo>
                  <a:cubicBezTo>
                    <a:pt x="1226032" y="0"/>
                    <a:pt x="1247258" y="21226"/>
                    <a:pt x="1247258" y="47409"/>
                  </a:cubicBezTo>
                  <a:lnTo>
                    <a:pt x="1247258" y="498636"/>
                  </a:lnTo>
                  <a:cubicBezTo>
                    <a:pt x="1247258" y="524819"/>
                    <a:pt x="1226032" y="546045"/>
                    <a:pt x="1199848" y="546045"/>
                  </a:cubicBezTo>
                  <a:lnTo>
                    <a:pt x="47409" y="546045"/>
                  </a:lnTo>
                  <a:cubicBezTo>
                    <a:pt x="34836" y="546045"/>
                    <a:pt x="22777" y="541050"/>
                    <a:pt x="13886" y="532159"/>
                  </a:cubicBezTo>
                  <a:cubicBezTo>
                    <a:pt x="4995" y="523268"/>
                    <a:pt x="0" y="511210"/>
                    <a:pt x="0" y="498636"/>
                  </a:cubicBezTo>
                  <a:lnTo>
                    <a:pt x="0" y="47409"/>
                  </a:lnTo>
                  <a:cubicBezTo>
                    <a:pt x="0" y="21226"/>
                    <a:pt x="21226" y="0"/>
                    <a:pt x="47409" y="0"/>
                  </a:cubicBezTo>
                  <a:close/>
                </a:path>
              </a:pathLst>
            </a:custGeom>
            <a:solidFill>
              <a:srgbClr val="D0EA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247258" cy="603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692739" y="2196527"/>
            <a:ext cx="3701517" cy="39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 de Constitución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22609" y="2196527"/>
            <a:ext cx="3701517" cy="39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EDT y D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iccionario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564325" y="4639637"/>
            <a:ext cx="1958345" cy="39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rta Gantt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40703" y="4639637"/>
            <a:ext cx="1865330" cy="39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atriz RACI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95945" y="2703679"/>
            <a:ext cx="3895104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efine propósito y alcance.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Establece objetivos del proyecto.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dentifica interesados y roles.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Formaliza el inicio del proyecto.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28687" y="2703679"/>
            <a:ext cx="4289361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Desglosa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pr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oy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en acti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vid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es.</a:t>
            </a:r>
          </a:p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Orden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trabajo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forma jer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árqu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ica.</a:t>
            </a:r>
          </a:p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escribe cada actividad y su res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pon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55936" y="5142176"/>
            <a:ext cx="4175123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nifi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 y dur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ó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de t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as.</a:t>
            </a:r>
          </a:p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estra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epe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dencia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entre activi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des.</a:t>
            </a:r>
          </a:p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iza el cronogr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omp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43259" y="5151701"/>
            <a:ext cx="428936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48" indent="-161924" lvl="1">
              <a:lnSpc>
                <a:spcPts val="2099"/>
              </a:lnSpc>
              <a:spcBef>
                <a:spcPct val="0"/>
              </a:spcBef>
              <a:buFont typeface="Arial"/>
              <a:buChar char="•"/>
            </a:pPr>
            <a:r>
              <a:rPr lang="en-US" sz="1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gn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res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pon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sables y aprobadores.</a:t>
            </a:r>
          </a:p>
          <a:p>
            <a:pPr algn="l" marL="323848" indent="-161924" lvl="1">
              <a:lnSpc>
                <a:spcPts val="2099"/>
              </a:lnSpc>
              <a:spcBef>
                <a:spcPct val="0"/>
              </a:spcBef>
              <a:buFont typeface="Arial"/>
              <a:buChar char="•"/>
            </a:pP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larifica quién hace qué.</a:t>
            </a:r>
          </a:p>
          <a:p>
            <a:pPr algn="l" marL="323848" indent="-161924" lvl="1">
              <a:lnSpc>
                <a:spcPts val="2099"/>
              </a:lnSpc>
              <a:spcBef>
                <a:spcPct val="0"/>
              </a:spcBef>
              <a:buFont typeface="Arial"/>
              <a:buChar char="•"/>
            </a:pP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ita 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uplicidad o co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nfu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sión de roles.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219133" y="6843603"/>
            <a:ext cx="4735682" cy="2231965"/>
            <a:chOff x="0" y="0"/>
            <a:chExt cx="1247258" cy="58784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47258" cy="587843"/>
            </a:xfrm>
            <a:custGeom>
              <a:avLst/>
              <a:gdLst/>
              <a:ahLst/>
              <a:cxnLst/>
              <a:rect r="r" b="b" t="t" l="l"/>
              <a:pathLst>
                <a:path h="587843" w="1247258">
                  <a:moveTo>
                    <a:pt x="47409" y="0"/>
                  </a:moveTo>
                  <a:lnTo>
                    <a:pt x="1199848" y="0"/>
                  </a:lnTo>
                  <a:cubicBezTo>
                    <a:pt x="1226032" y="0"/>
                    <a:pt x="1247258" y="21226"/>
                    <a:pt x="1247258" y="47409"/>
                  </a:cubicBezTo>
                  <a:lnTo>
                    <a:pt x="1247258" y="540433"/>
                  </a:lnTo>
                  <a:cubicBezTo>
                    <a:pt x="1247258" y="566617"/>
                    <a:pt x="1226032" y="587843"/>
                    <a:pt x="1199848" y="587843"/>
                  </a:cubicBezTo>
                  <a:lnTo>
                    <a:pt x="47409" y="587843"/>
                  </a:lnTo>
                  <a:cubicBezTo>
                    <a:pt x="34836" y="587843"/>
                    <a:pt x="22777" y="582848"/>
                    <a:pt x="13886" y="573957"/>
                  </a:cubicBezTo>
                  <a:cubicBezTo>
                    <a:pt x="4995" y="565066"/>
                    <a:pt x="0" y="553007"/>
                    <a:pt x="0" y="540433"/>
                  </a:cubicBezTo>
                  <a:lnTo>
                    <a:pt x="0" y="47409"/>
                  </a:lnTo>
                  <a:cubicBezTo>
                    <a:pt x="0" y="21226"/>
                    <a:pt x="21226" y="0"/>
                    <a:pt x="47409" y="0"/>
                  </a:cubicBezTo>
                  <a:close/>
                </a:path>
              </a:pathLst>
            </a:custGeom>
            <a:solidFill>
              <a:srgbClr val="D0EA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247258" cy="644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7661160" y="7174565"/>
            <a:ext cx="3851627" cy="39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Mat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riz de Riesgos Inicial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639553" y="7677104"/>
            <a:ext cx="3894843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ntifica riesgos principa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es.</a:t>
            </a:r>
          </a:p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Evalúa p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robabilid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e impacto.</a:t>
            </a:r>
          </a:p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Define acciones de mitigación.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320098" y="6843603"/>
            <a:ext cx="4735682" cy="2231965"/>
            <a:chOff x="0" y="0"/>
            <a:chExt cx="1247258" cy="58784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47258" cy="587843"/>
            </a:xfrm>
            <a:custGeom>
              <a:avLst/>
              <a:gdLst/>
              <a:ahLst/>
              <a:cxnLst/>
              <a:rect r="r" b="b" t="t" l="l"/>
              <a:pathLst>
                <a:path h="587843" w="1247258">
                  <a:moveTo>
                    <a:pt x="47409" y="0"/>
                  </a:moveTo>
                  <a:lnTo>
                    <a:pt x="1199848" y="0"/>
                  </a:lnTo>
                  <a:cubicBezTo>
                    <a:pt x="1226032" y="0"/>
                    <a:pt x="1247258" y="21226"/>
                    <a:pt x="1247258" y="47409"/>
                  </a:cubicBezTo>
                  <a:lnTo>
                    <a:pt x="1247258" y="540433"/>
                  </a:lnTo>
                  <a:cubicBezTo>
                    <a:pt x="1247258" y="566617"/>
                    <a:pt x="1226032" y="587843"/>
                    <a:pt x="1199848" y="587843"/>
                  </a:cubicBezTo>
                  <a:lnTo>
                    <a:pt x="47409" y="587843"/>
                  </a:lnTo>
                  <a:cubicBezTo>
                    <a:pt x="34836" y="587843"/>
                    <a:pt x="22777" y="582848"/>
                    <a:pt x="13886" y="573957"/>
                  </a:cubicBezTo>
                  <a:cubicBezTo>
                    <a:pt x="4995" y="565066"/>
                    <a:pt x="0" y="553007"/>
                    <a:pt x="0" y="540433"/>
                  </a:cubicBezTo>
                  <a:lnTo>
                    <a:pt x="0" y="47409"/>
                  </a:lnTo>
                  <a:cubicBezTo>
                    <a:pt x="0" y="21226"/>
                    <a:pt x="21226" y="0"/>
                    <a:pt x="47409" y="0"/>
                  </a:cubicBezTo>
                  <a:close/>
                </a:path>
              </a:pathLst>
            </a:custGeom>
            <a:solidFill>
              <a:srgbClr val="D0EA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247258" cy="644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837181" y="7174565"/>
            <a:ext cx="3701517" cy="39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Plan de P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ruebas Inicial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578640" y="7677104"/>
            <a:ext cx="421859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fine estrategia preliminar de testing.</a:t>
            </a:r>
          </a:p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stablece tipos de pruebas y crite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rio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s.</a:t>
            </a:r>
          </a:p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Prep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ara ambiente y responsa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bles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QA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-172186" y="1620365"/>
            <a:ext cx="5223031" cy="5412468"/>
          </a:xfrm>
          <a:custGeom>
            <a:avLst/>
            <a:gdLst/>
            <a:ahLst/>
            <a:cxnLst/>
            <a:rect r="r" b="b" t="t" l="l"/>
            <a:pathLst>
              <a:path h="5412468" w="5223031">
                <a:moveTo>
                  <a:pt x="0" y="0"/>
                </a:moveTo>
                <a:lnTo>
                  <a:pt x="5223032" y="0"/>
                </a:lnTo>
                <a:lnTo>
                  <a:pt x="5223032" y="5412468"/>
                </a:lnTo>
                <a:lnTo>
                  <a:pt x="0" y="5412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55520" y="-222685"/>
            <a:ext cx="4968441" cy="2502770"/>
          </a:xfrm>
          <a:custGeom>
            <a:avLst/>
            <a:gdLst/>
            <a:ahLst/>
            <a:cxnLst/>
            <a:rect r="r" b="b" t="t" l="l"/>
            <a:pathLst>
              <a:path h="2502770" w="4968441">
                <a:moveTo>
                  <a:pt x="0" y="0"/>
                </a:moveTo>
                <a:lnTo>
                  <a:pt x="4968440" y="0"/>
                </a:lnTo>
                <a:lnTo>
                  <a:pt x="4968440" y="2502770"/>
                </a:lnTo>
                <a:lnTo>
                  <a:pt x="0" y="2502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60563" y="7840728"/>
            <a:ext cx="4454873" cy="2244069"/>
          </a:xfrm>
          <a:custGeom>
            <a:avLst/>
            <a:gdLst/>
            <a:ahLst/>
            <a:cxnLst/>
            <a:rect r="r" b="b" t="t" l="l"/>
            <a:pathLst>
              <a:path h="2244069" w="4454873">
                <a:moveTo>
                  <a:pt x="0" y="0"/>
                </a:moveTo>
                <a:lnTo>
                  <a:pt x="4454874" y="0"/>
                </a:lnTo>
                <a:lnTo>
                  <a:pt x="4454874" y="2244069"/>
                </a:lnTo>
                <a:lnTo>
                  <a:pt x="0" y="2244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4" id="4"/>
          <p:cNvGrpSpPr/>
          <p:nvPr/>
        </p:nvGrpSpPr>
        <p:grpSpPr>
          <a:xfrm rot="2700000">
            <a:off x="1029454" y="4025467"/>
            <a:ext cx="2699495" cy="2857725"/>
            <a:chOff x="0" y="0"/>
            <a:chExt cx="52786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7860" cy="558800"/>
            </a:xfrm>
            <a:custGeom>
              <a:avLst/>
              <a:gdLst/>
              <a:ahLst/>
              <a:cxnLst/>
              <a:rect r="r" b="b" t="t" l="l"/>
              <a:pathLst>
                <a:path h="558800" w="527860">
                  <a:moveTo>
                    <a:pt x="0" y="558800"/>
                  </a:moveTo>
                  <a:cubicBezTo>
                    <a:pt x="0" y="411634"/>
                    <a:pt x="56306" y="267731"/>
                    <a:pt x="154607" y="163669"/>
                  </a:cubicBezTo>
                  <a:cubicBezTo>
                    <a:pt x="252907" y="59606"/>
                    <a:pt x="388842" y="0"/>
                    <a:pt x="527860" y="0"/>
                  </a:cubicBezTo>
                  <a:lnTo>
                    <a:pt x="527860" y="285081"/>
                  </a:lnTo>
                  <a:cubicBezTo>
                    <a:pt x="459763" y="285081"/>
                    <a:pt x="393179" y="314278"/>
                    <a:pt x="345027" y="365251"/>
                  </a:cubicBezTo>
                  <a:cubicBezTo>
                    <a:pt x="296877" y="416225"/>
                    <a:pt x="269296" y="486712"/>
                    <a:pt x="269296" y="558800"/>
                  </a:cubicBezTo>
                  <a:lnTo>
                    <a:pt x="0" y="558800"/>
                  </a:lnTo>
                  <a:close/>
                </a:path>
              </a:pathLst>
            </a:custGeom>
            <a:gradFill rotWithShape="true">
              <a:gsLst>
                <a:gs pos="0">
                  <a:srgbClr val="7CCE6B">
                    <a:alpha val="100000"/>
                  </a:srgbClr>
                </a:gs>
                <a:gs pos="100000">
                  <a:srgbClr val="D8FFD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119968" y="69850"/>
              <a:ext cx="287923" cy="361950"/>
            </a:xfrm>
            <a:prstGeom prst="rect">
              <a:avLst/>
            </a:prstGeom>
          </p:spPr>
          <p:txBody>
            <a:bodyPr anchor="ctr" rtlCol="false" tIns="47591" lIns="47591" bIns="47591" rIns="47591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8100000">
            <a:off x="3878807" y="4955525"/>
            <a:ext cx="2800289" cy="2847169"/>
            <a:chOff x="0" y="0"/>
            <a:chExt cx="558800" cy="5681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8800" cy="568155"/>
            </a:xfrm>
            <a:custGeom>
              <a:avLst/>
              <a:gdLst/>
              <a:ahLst/>
              <a:cxnLst/>
              <a:rect r="r" b="b" t="t" l="l"/>
              <a:pathLst>
                <a:path h="568155" w="558800">
                  <a:moveTo>
                    <a:pt x="0" y="568155"/>
                  </a:moveTo>
                  <a:cubicBezTo>
                    <a:pt x="0" y="418525"/>
                    <a:pt x="59606" y="272213"/>
                    <a:pt x="163669" y="166409"/>
                  </a:cubicBezTo>
                  <a:cubicBezTo>
                    <a:pt x="267731" y="60604"/>
                    <a:pt x="411634" y="0"/>
                    <a:pt x="558800" y="0"/>
                  </a:cubicBezTo>
                  <a:lnTo>
                    <a:pt x="558800" y="289853"/>
                  </a:lnTo>
                  <a:cubicBezTo>
                    <a:pt x="486712" y="289853"/>
                    <a:pt x="416225" y="319539"/>
                    <a:pt x="365251" y="371365"/>
                  </a:cubicBezTo>
                  <a:cubicBezTo>
                    <a:pt x="314278" y="423193"/>
                    <a:pt x="285081" y="494860"/>
                    <a:pt x="285081" y="568155"/>
                  </a:cubicBezTo>
                  <a:lnTo>
                    <a:pt x="0" y="568155"/>
                  </a:lnTo>
                  <a:close/>
                </a:path>
              </a:pathLst>
            </a:custGeom>
            <a:gradFill rotWithShape="true">
              <a:gsLst>
                <a:gs pos="0">
                  <a:srgbClr val="7CCE6B">
                    <a:alpha val="100000"/>
                  </a:srgbClr>
                </a:gs>
                <a:gs pos="100000">
                  <a:srgbClr val="D8FFD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71976"/>
              <a:ext cx="304800" cy="367053"/>
            </a:xfrm>
            <a:prstGeom prst="rect">
              <a:avLst/>
            </a:prstGeom>
          </p:spPr>
          <p:txBody>
            <a:bodyPr anchor="ctr" rtlCol="false" tIns="47591" lIns="47591" bIns="47591" rIns="47591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8100000">
            <a:off x="9748946" y="4886538"/>
            <a:ext cx="2800289" cy="2864745"/>
            <a:chOff x="0" y="0"/>
            <a:chExt cx="558800" cy="5716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8800" cy="571662"/>
            </a:xfrm>
            <a:custGeom>
              <a:avLst/>
              <a:gdLst/>
              <a:ahLst/>
              <a:cxnLst/>
              <a:rect r="r" b="b" t="t" l="l"/>
              <a:pathLst>
                <a:path h="571662" w="558800">
                  <a:moveTo>
                    <a:pt x="0" y="571662"/>
                  </a:moveTo>
                  <a:cubicBezTo>
                    <a:pt x="0" y="421109"/>
                    <a:pt x="59606" y="273894"/>
                    <a:pt x="163669" y="167436"/>
                  </a:cubicBezTo>
                  <a:cubicBezTo>
                    <a:pt x="267731" y="60978"/>
                    <a:pt x="411634" y="0"/>
                    <a:pt x="558800" y="0"/>
                  </a:cubicBezTo>
                  <a:lnTo>
                    <a:pt x="558800" y="291643"/>
                  </a:lnTo>
                  <a:cubicBezTo>
                    <a:pt x="486712" y="291643"/>
                    <a:pt x="416225" y="321512"/>
                    <a:pt x="365251" y="373658"/>
                  </a:cubicBezTo>
                  <a:cubicBezTo>
                    <a:pt x="314278" y="425805"/>
                    <a:pt x="285081" y="497915"/>
                    <a:pt x="285081" y="571662"/>
                  </a:cubicBezTo>
                  <a:lnTo>
                    <a:pt x="0" y="571662"/>
                  </a:lnTo>
                  <a:close/>
                </a:path>
              </a:pathLst>
            </a:custGeom>
            <a:gradFill rotWithShape="true">
              <a:gsLst>
                <a:gs pos="0">
                  <a:srgbClr val="7CCE6B">
                    <a:alpha val="100000"/>
                  </a:srgbClr>
                </a:gs>
                <a:gs pos="100000">
                  <a:srgbClr val="D8FFD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72773"/>
              <a:ext cx="304800" cy="368966"/>
            </a:xfrm>
            <a:prstGeom prst="rect">
              <a:avLst/>
            </a:prstGeom>
          </p:spPr>
          <p:txBody>
            <a:bodyPr anchor="ctr" rtlCol="false" tIns="47591" lIns="47591" bIns="47591" rIns="47591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2700000">
            <a:off x="6825994" y="3939739"/>
            <a:ext cx="2791813" cy="2863893"/>
            <a:chOff x="0" y="0"/>
            <a:chExt cx="544736" cy="55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4736" cy="558800"/>
            </a:xfrm>
            <a:custGeom>
              <a:avLst/>
              <a:gdLst/>
              <a:ahLst/>
              <a:cxnLst/>
              <a:rect r="r" b="b" t="t" l="l"/>
              <a:pathLst>
                <a:path h="558800" w="544736">
                  <a:moveTo>
                    <a:pt x="0" y="558800"/>
                  </a:moveTo>
                  <a:cubicBezTo>
                    <a:pt x="0" y="411634"/>
                    <a:pt x="58106" y="267731"/>
                    <a:pt x="159549" y="163669"/>
                  </a:cubicBezTo>
                  <a:cubicBezTo>
                    <a:pt x="260993" y="59606"/>
                    <a:pt x="401273" y="0"/>
                    <a:pt x="544736" y="0"/>
                  </a:cubicBezTo>
                  <a:lnTo>
                    <a:pt x="544736" y="285081"/>
                  </a:lnTo>
                  <a:cubicBezTo>
                    <a:pt x="474462" y="285081"/>
                    <a:pt x="405749" y="314278"/>
                    <a:pt x="356058" y="365251"/>
                  </a:cubicBezTo>
                  <a:cubicBezTo>
                    <a:pt x="306368" y="416225"/>
                    <a:pt x="277906" y="486712"/>
                    <a:pt x="277906" y="558800"/>
                  </a:cubicBezTo>
                  <a:lnTo>
                    <a:pt x="0" y="558800"/>
                  </a:lnTo>
                  <a:close/>
                </a:path>
              </a:pathLst>
            </a:custGeom>
            <a:gradFill rotWithShape="true">
              <a:gsLst>
                <a:gs pos="0">
                  <a:srgbClr val="7CCE6B">
                    <a:alpha val="100000"/>
                  </a:srgbClr>
                </a:gs>
                <a:gs pos="100000">
                  <a:srgbClr val="D8FFD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123804" y="69850"/>
              <a:ext cx="297129" cy="361950"/>
            </a:xfrm>
            <a:prstGeom prst="rect">
              <a:avLst/>
            </a:prstGeom>
          </p:spPr>
          <p:txBody>
            <a:bodyPr anchor="ctr" rtlCol="false" tIns="47591" lIns="47591" bIns="47591" rIns="47591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2700000">
            <a:off x="12686582" y="3890129"/>
            <a:ext cx="2803741" cy="2857725"/>
            <a:chOff x="0" y="0"/>
            <a:chExt cx="548244" cy="55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8244" cy="558800"/>
            </a:xfrm>
            <a:custGeom>
              <a:avLst/>
              <a:gdLst/>
              <a:ahLst/>
              <a:cxnLst/>
              <a:rect r="r" b="b" t="t" l="l"/>
              <a:pathLst>
                <a:path h="558800" w="548244">
                  <a:moveTo>
                    <a:pt x="0" y="558800"/>
                  </a:moveTo>
                  <a:cubicBezTo>
                    <a:pt x="0" y="411634"/>
                    <a:pt x="58480" y="267731"/>
                    <a:pt x="160577" y="163669"/>
                  </a:cubicBezTo>
                  <a:cubicBezTo>
                    <a:pt x="262674" y="59606"/>
                    <a:pt x="403858" y="0"/>
                    <a:pt x="548244" y="0"/>
                  </a:cubicBezTo>
                  <a:lnTo>
                    <a:pt x="548244" y="285081"/>
                  </a:lnTo>
                  <a:cubicBezTo>
                    <a:pt x="477518" y="285081"/>
                    <a:pt x="408362" y="314278"/>
                    <a:pt x="358351" y="365251"/>
                  </a:cubicBezTo>
                  <a:cubicBezTo>
                    <a:pt x="308341" y="416225"/>
                    <a:pt x="279695" y="486712"/>
                    <a:pt x="279695" y="558800"/>
                  </a:cubicBezTo>
                  <a:lnTo>
                    <a:pt x="0" y="558800"/>
                  </a:lnTo>
                  <a:close/>
                </a:path>
              </a:pathLst>
            </a:custGeom>
            <a:gradFill rotWithShape="true">
              <a:gsLst>
                <a:gs pos="0">
                  <a:srgbClr val="FFDA6A">
                    <a:alpha val="100000"/>
                  </a:srgbClr>
                </a:gs>
                <a:gs pos="100000">
                  <a:srgbClr val="FFF7D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124601" y="69850"/>
              <a:ext cx="299042" cy="361950"/>
            </a:xfrm>
            <a:prstGeom prst="rect">
              <a:avLst/>
            </a:prstGeom>
          </p:spPr>
          <p:txBody>
            <a:bodyPr anchor="ctr" rtlCol="false" tIns="47591" lIns="47591" bIns="47591" rIns="47591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970193" y="4917941"/>
            <a:ext cx="2503415" cy="907488"/>
          </a:xfrm>
          <a:custGeom>
            <a:avLst/>
            <a:gdLst/>
            <a:ahLst/>
            <a:cxnLst/>
            <a:rect r="r" b="b" t="t" l="l"/>
            <a:pathLst>
              <a:path h="907488" w="2503415">
                <a:moveTo>
                  <a:pt x="0" y="0"/>
                </a:moveTo>
                <a:lnTo>
                  <a:pt x="2503414" y="0"/>
                </a:lnTo>
                <a:lnTo>
                  <a:pt x="2503414" y="907488"/>
                </a:lnTo>
                <a:lnTo>
                  <a:pt x="0" y="907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56183" y="5000586"/>
            <a:ext cx="2503415" cy="907488"/>
          </a:xfrm>
          <a:custGeom>
            <a:avLst/>
            <a:gdLst/>
            <a:ahLst/>
            <a:cxnLst/>
            <a:rect r="r" b="b" t="t" l="l"/>
            <a:pathLst>
              <a:path h="907488" w="2503415">
                <a:moveTo>
                  <a:pt x="0" y="0"/>
                </a:moveTo>
                <a:lnTo>
                  <a:pt x="2503415" y="0"/>
                </a:lnTo>
                <a:lnTo>
                  <a:pt x="2503415" y="907488"/>
                </a:lnTo>
                <a:lnTo>
                  <a:pt x="0" y="907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true" rot="0">
            <a:off x="4027244" y="5865166"/>
            <a:ext cx="2503415" cy="907488"/>
          </a:xfrm>
          <a:custGeom>
            <a:avLst/>
            <a:gdLst/>
            <a:ahLst/>
            <a:cxnLst/>
            <a:rect r="r" b="b" t="t" l="l"/>
            <a:pathLst>
              <a:path h="907488" w="2503415">
                <a:moveTo>
                  <a:pt x="0" y="907488"/>
                </a:moveTo>
                <a:lnTo>
                  <a:pt x="2503414" y="907488"/>
                </a:lnTo>
                <a:lnTo>
                  <a:pt x="2503414" y="0"/>
                </a:lnTo>
                <a:lnTo>
                  <a:pt x="0" y="0"/>
                </a:lnTo>
                <a:lnTo>
                  <a:pt x="0" y="9074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true" rot="0">
            <a:off x="9969852" y="5846574"/>
            <a:ext cx="2503415" cy="907488"/>
          </a:xfrm>
          <a:custGeom>
            <a:avLst/>
            <a:gdLst/>
            <a:ahLst/>
            <a:cxnLst/>
            <a:rect r="r" b="b" t="t" l="l"/>
            <a:pathLst>
              <a:path h="907488" w="2503415">
                <a:moveTo>
                  <a:pt x="0" y="907488"/>
                </a:moveTo>
                <a:lnTo>
                  <a:pt x="2503414" y="907488"/>
                </a:lnTo>
                <a:lnTo>
                  <a:pt x="2503414" y="0"/>
                </a:lnTo>
                <a:lnTo>
                  <a:pt x="0" y="0"/>
                </a:lnTo>
                <a:lnTo>
                  <a:pt x="0" y="9074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609905" y="4524082"/>
            <a:ext cx="1153874" cy="1322492"/>
          </a:xfrm>
          <a:custGeom>
            <a:avLst/>
            <a:gdLst/>
            <a:ahLst/>
            <a:cxnLst/>
            <a:rect r="r" b="b" t="t" l="l"/>
            <a:pathLst>
              <a:path h="1322492" w="1153874">
                <a:moveTo>
                  <a:pt x="0" y="0"/>
                </a:moveTo>
                <a:lnTo>
                  <a:pt x="1153875" y="0"/>
                </a:lnTo>
                <a:lnTo>
                  <a:pt x="1153875" y="1322492"/>
                </a:lnTo>
                <a:lnTo>
                  <a:pt x="0" y="13224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770921" y="2121896"/>
            <a:ext cx="1282806" cy="1282806"/>
            <a:chOff x="0" y="0"/>
            <a:chExt cx="1710409" cy="1710409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710409" cy="1710409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8" id="28"/>
            <p:cNvSpPr/>
            <p:nvPr/>
          </p:nvSpPr>
          <p:spPr>
            <a:xfrm flipH="false" flipV="false" rot="0">
              <a:off x="387547" y="321501"/>
              <a:ext cx="935315" cy="1067406"/>
            </a:xfrm>
            <a:custGeom>
              <a:avLst/>
              <a:gdLst/>
              <a:ahLst/>
              <a:cxnLst/>
              <a:rect r="r" b="b" t="t" l="l"/>
              <a:pathLst>
                <a:path h="1067406" w="935315">
                  <a:moveTo>
                    <a:pt x="0" y="0"/>
                  </a:moveTo>
                  <a:lnTo>
                    <a:pt x="935315" y="0"/>
                  </a:lnTo>
                  <a:lnTo>
                    <a:pt x="935315" y="1067407"/>
                  </a:lnTo>
                  <a:lnTo>
                    <a:pt x="0" y="1067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633161" y="7924797"/>
            <a:ext cx="1282806" cy="1282806"/>
            <a:chOff x="0" y="0"/>
            <a:chExt cx="1710409" cy="1710409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710409" cy="1710409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0">
              <a:off x="329852" y="329852"/>
              <a:ext cx="1050705" cy="1050705"/>
            </a:xfrm>
            <a:custGeom>
              <a:avLst/>
              <a:gdLst/>
              <a:ahLst/>
              <a:cxnLst/>
              <a:rect r="r" b="b" t="t" l="l"/>
              <a:pathLst>
                <a:path h="1050705" w="1050705">
                  <a:moveTo>
                    <a:pt x="0" y="0"/>
                  </a:moveTo>
                  <a:lnTo>
                    <a:pt x="1050705" y="0"/>
                  </a:lnTo>
                  <a:lnTo>
                    <a:pt x="1050705" y="1050705"/>
                  </a:lnTo>
                  <a:lnTo>
                    <a:pt x="0" y="1050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576227" y="1974246"/>
            <a:ext cx="1282806" cy="1282806"/>
            <a:chOff x="0" y="0"/>
            <a:chExt cx="1710409" cy="1710409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710409" cy="1710409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8" id="38"/>
            <p:cNvSpPr/>
            <p:nvPr/>
          </p:nvSpPr>
          <p:spPr>
            <a:xfrm flipH="false" flipV="false" rot="0">
              <a:off x="283310" y="369095"/>
              <a:ext cx="1143788" cy="972220"/>
            </a:xfrm>
            <a:custGeom>
              <a:avLst/>
              <a:gdLst/>
              <a:ahLst/>
              <a:cxnLst/>
              <a:rect r="r" b="b" t="t" l="l"/>
              <a:pathLst>
                <a:path h="972220" w="1143788">
                  <a:moveTo>
                    <a:pt x="0" y="0"/>
                  </a:moveTo>
                  <a:lnTo>
                    <a:pt x="1143788" y="0"/>
                  </a:lnTo>
                  <a:lnTo>
                    <a:pt x="1143788" y="972219"/>
                  </a:lnTo>
                  <a:lnTo>
                    <a:pt x="0" y="972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446192" y="2180585"/>
            <a:ext cx="1282806" cy="1282806"/>
            <a:chOff x="0" y="0"/>
            <a:chExt cx="1710409" cy="1710409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1710409" cy="1710409"/>
              <a:chOff x="0" y="0"/>
              <a:chExt cx="812800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876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3" id="43"/>
            <p:cNvSpPr/>
            <p:nvPr/>
          </p:nvSpPr>
          <p:spPr>
            <a:xfrm flipH="false" flipV="false" rot="0">
              <a:off x="254779" y="254779"/>
              <a:ext cx="1200851" cy="1200851"/>
            </a:xfrm>
            <a:custGeom>
              <a:avLst/>
              <a:gdLst/>
              <a:ahLst/>
              <a:cxnLst/>
              <a:rect r="r" b="b" t="t" l="l"/>
              <a:pathLst>
                <a:path h="1200851" w="1200851">
                  <a:moveTo>
                    <a:pt x="0" y="0"/>
                  </a:moveTo>
                  <a:lnTo>
                    <a:pt x="1200851" y="0"/>
                  </a:lnTo>
                  <a:lnTo>
                    <a:pt x="1200851" y="1200851"/>
                  </a:lnTo>
                  <a:lnTo>
                    <a:pt x="0" y="1200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494368" y="7996768"/>
            <a:ext cx="1282806" cy="1282806"/>
            <a:chOff x="0" y="0"/>
            <a:chExt cx="1710409" cy="1710409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1710409" cy="1710409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8" id="48"/>
            <p:cNvSpPr/>
            <p:nvPr/>
          </p:nvSpPr>
          <p:spPr>
            <a:xfrm flipH="false" flipV="false" rot="0">
              <a:off x="267800" y="265986"/>
              <a:ext cx="1174809" cy="1174809"/>
            </a:xfrm>
            <a:custGeom>
              <a:avLst/>
              <a:gdLst/>
              <a:ahLst/>
              <a:cxnLst/>
              <a:rect r="r" b="b" t="t" l="l"/>
              <a:pathLst>
                <a:path h="1174809" w="1174809">
                  <a:moveTo>
                    <a:pt x="0" y="0"/>
                  </a:moveTo>
                  <a:lnTo>
                    <a:pt x="1174809" y="0"/>
                  </a:lnTo>
                  <a:lnTo>
                    <a:pt x="1174809" y="1174808"/>
                  </a:lnTo>
                  <a:lnTo>
                    <a:pt x="0" y="1174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2340052" y="540700"/>
            <a:ext cx="1360789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Planificación General del Proyecto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340052" y="1407475"/>
            <a:ext cx="13607897" cy="287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6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Metodología tradicional en cascada – Duración total: 12 semanas académicas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089326" y="7752279"/>
            <a:ext cx="2445775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4"/>
              </a:lnSpc>
            </a:pPr>
            <a:r>
              <a:rPr lang="en-US" sz="1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</a:t>
            </a:r>
            <a:r>
              <a:rPr lang="en-US" sz="1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ase 2 – Análisis y Diseño (Completa)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089326" y="8278303"/>
            <a:ext cx="3880526" cy="153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2.1</a:t>
            </a: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Especificación de Requerimientos (ERS)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2.2 Elaborar los Casos de uso 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2.3 Documento de los Casos de uso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2.4 Diagrama de clases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2.5 Diagrama Proceso (AS-IS / TOBE)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2.6 Modelos de Datos y Arquitectura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2.7 Mockups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2.8 Entregable asociado: Prototipos validados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139452" y="2263050"/>
            <a:ext cx="2624268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4"/>
              </a:lnSpc>
            </a:pPr>
            <a:r>
              <a:rPr lang="en-US" sz="1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</a:t>
            </a:r>
            <a:r>
              <a:rPr lang="en-US" sz="1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ase 1 – Planificación Inicial (Completa)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135066" y="2728741"/>
            <a:ext cx="2780902" cy="134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1.1 Ac</a:t>
            </a: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 de Constitución del Proyecto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1.2 EDT y Diccionario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1.3 Carta Gantt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1.4 Matriz de Responsabilidades (RACI)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1.5 Matriz de Riesgos inicial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1.6 Plan de Pruebas Inicial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55" id="55"/>
          <p:cNvSpPr txBox="true"/>
          <p:nvPr/>
        </p:nvSpPr>
        <p:spPr>
          <a:xfrm rot="0">
            <a:off x="11948624" y="7968193"/>
            <a:ext cx="2815156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4"/>
              </a:lnSpc>
            </a:pPr>
            <a:r>
              <a:rPr lang="en-US" sz="1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</a:t>
            </a:r>
            <a:r>
              <a:rPr lang="en-US" sz="1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ase 4 – Integración y Pruebas (Completo)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948624" y="8507415"/>
            <a:ext cx="3643872" cy="134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4.1.1</a:t>
            </a: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Prueba de Unitarias (Unit Testing) 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4.1.2 Prueba de Integración (Smoke Testing)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4.2 Pruebas No Funcionales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4.2.1 Prueba de Rendimiento (Performance Testing)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4.2.2 Prueba de Seguridad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4.2.3 Pruebas de Estrés (Stress Testing)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4.3 Plan de Pruebas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944758" y="2052340"/>
            <a:ext cx="2272531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4"/>
              </a:lnSpc>
            </a:pPr>
            <a:r>
              <a:rPr lang="en-US" sz="1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</a:t>
            </a:r>
            <a:r>
              <a:rPr lang="en-US" sz="1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ase 3 – Construcción (Completo)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944758" y="2518031"/>
            <a:ext cx="3142064" cy="191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3.1.1 Modulo Administración del Sistema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3.1.2 Modulo Acceso e Identificacion 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3.1.3 Modulo Panel Principal (Dashboard)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3.1.4 Modulo Ingreso de Vehículos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3.1.5 Modulo Ordenes de Trabajos (OT)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3.1.6 Modulo Repuesto e Inventario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3.1.7 Modulo Notificaciones Internas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3.1.8 Modulo Reportes y Supervision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3.1.9 Seguridad y Control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3.2 Verificación de Alcances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814724" y="2263050"/>
            <a:ext cx="3058848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4"/>
              </a:lnSpc>
            </a:pPr>
            <a:r>
              <a:rPr lang="en-US" sz="1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</a:t>
            </a:r>
            <a:r>
              <a:rPr lang="en-US" sz="1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ase 5 – Implementación y Cierre (Iniciando)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814724" y="2725199"/>
            <a:ext cx="3052159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5.1</a:t>
            </a: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Documentación de Resultados y Correcciones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5.2 Documentacion del Proyecto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5.3 Plan de Implantación y Soporte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5.4 Manuales de Usuario y Administrador</a:t>
            </a:r>
          </a:p>
        </p:txBody>
      </p:sp>
      <p:sp>
        <p:nvSpPr>
          <p:cNvPr name="AutoShape 61" id="61"/>
          <p:cNvSpPr/>
          <p:nvPr/>
        </p:nvSpPr>
        <p:spPr>
          <a:xfrm>
            <a:off x="5274278" y="7206141"/>
            <a:ext cx="286" cy="718656"/>
          </a:xfrm>
          <a:prstGeom prst="line">
            <a:avLst/>
          </a:prstGeom>
          <a:ln cap="flat" w="38100">
            <a:gradFill>
              <a:gsLst>
                <a:gs pos="0">
                  <a:srgbClr val="226214">
                    <a:alpha val="100000"/>
                  </a:srgbClr>
                </a:gs>
                <a:gs pos="100000">
                  <a:srgbClr val="43CC25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triangle" len="med" w="lg"/>
          </a:ln>
        </p:spPr>
      </p:sp>
      <p:sp>
        <p:nvSpPr>
          <p:cNvPr name="AutoShape 62" id="62"/>
          <p:cNvSpPr/>
          <p:nvPr/>
        </p:nvSpPr>
        <p:spPr>
          <a:xfrm flipH="true" flipV="true">
            <a:off x="8217630" y="3257053"/>
            <a:ext cx="5890" cy="1286501"/>
          </a:xfrm>
          <a:prstGeom prst="line">
            <a:avLst/>
          </a:prstGeom>
          <a:ln cap="flat" w="38100">
            <a:gradFill>
              <a:gsLst>
                <a:gs pos="0">
                  <a:srgbClr val="226214">
                    <a:alpha val="100000"/>
                  </a:srgbClr>
                </a:gs>
                <a:gs pos="100000">
                  <a:srgbClr val="43CC25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triangle" len="med" w="lg"/>
          </a:ln>
        </p:spPr>
      </p:sp>
      <p:sp>
        <p:nvSpPr>
          <p:cNvPr name="AutoShape 63" id="63"/>
          <p:cNvSpPr/>
          <p:nvPr/>
        </p:nvSpPr>
        <p:spPr>
          <a:xfrm flipV="true">
            <a:off x="2407254" y="3404702"/>
            <a:ext cx="5070" cy="1235657"/>
          </a:xfrm>
          <a:prstGeom prst="line">
            <a:avLst/>
          </a:prstGeom>
          <a:ln cap="flat" w="38100">
            <a:gradFill>
              <a:gsLst>
                <a:gs pos="0">
                  <a:srgbClr val="226214">
                    <a:alpha val="100000"/>
                  </a:srgbClr>
                </a:gs>
                <a:gs pos="100000">
                  <a:srgbClr val="43CC25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triangle" len="med" w="lg"/>
          </a:ln>
        </p:spPr>
      </p:sp>
      <p:sp>
        <p:nvSpPr>
          <p:cNvPr name="AutoShape 64" id="64"/>
          <p:cNvSpPr/>
          <p:nvPr/>
        </p:nvSpPr>
        <p:spPr>
          <a:xfrm flipH="true">
            <a:off x="11135771" y="7148438"/>
            <a:ext cx="11492" cy="848330"/>
          </a:xfrm>
          <a:prstGeom prst="line">
            <a:avLst/>
          </a:prstGeom>
          <a:ln cap="flat" w="38100">
            <a:gradFill>
              <a:gsLst>
                <a:gs pos="0">
                  <a:srgbClr val="997300">
                    <a:alpha val="100000"/>
                  </a:srgbClr>
                </a:gs>
                <a:gs pos="100000">
                  <a:srgbClr val="FFC000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triangle" len="med" w="lg"/>
          </a:ln>
        </p:spPr>
      </p:sp>
      <p:sp>
        <p:nvSpPr>
          <p:cNvPr name="AutoShape 65" id="65"/>
          <p:cNvSpPr/>
          <p:nvPr/>
        </p:nvSpPr>
        <p:spPr>
          <a:xfrm flipV="true">
            <a:off x="14087595" y="3463392"/>
            <a:ext cx="0" cy="1026595"/>
          </a:xfrm>
          <a:prstGeom prst="line">
            <a:avLst/>
          </a:prstGeom>
          <a:ln cap="flat" w="38100">
            <a:gradFill>
              <a:gsLst>
                <a:gs pos="0">
                  <a:srgbClr val="731919">
                    <a:alpha val="100000"/>
                  </a:srgbClr>
                </a:gs>
                <a:gs pos="100000">
                  <a:srgbClr val="E52B2B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27077" y="2603138"/>
            <a:ext cx="1403384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Avance Esperado vs Avance Real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327204" y="-287266"/>
            <a:ext cx="5224852" cy="2631933"/>
          </a:xfrm>
          <a:custGeom>
            <a:avLst/>
            <a:gdLst/>
            <a:ahLst/>
            <a:cxnLst/>
            <a:rect r="r" b="b" t="t" l="l"/>
            <a:pathLst>
              <a:path h="2631933" w="5224852">
                <a:moveTo>
                  <a:pt x="0" y="0"/>
                </a:moveTo>
                <a:lnTo>
                  <a:pt x="5224852" y="0"/>
                </a:lnTo>
                <a:lnTo>
                  <a:pt x="5224852" y="2631932"/>
                </a:lnTo>
                <a:lnTo>
                  <a:pt x="0" y="2631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95229" y="7967415"/>
            <a:ext cx="4128141" cy="2079483"/>
          </a:xfrm>
          <a:custGeom>
            <a:avLst/>
            <a:gdLst/>
            <a:ahLst/>
            <a:cxnLst/>
            <a:rect r="r" b="b" t="t" l="l"/>
            <a:pathLst>
              <a:path h="2079483" w="4128141">
                <a:moveTo>
                  <a:pt x="0" y="0"/>
                </a:moveTo>
                <a:lnTo>
                  <a:pt x="4128142" y="0"/>
                </a:lnTo>
                <a:lnTo>
                  <a:pt x="4128142" y="2079483"/>
                </a:lnTo>
                <a:lnTo>
                  <a:pt x="0" y="20794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92478" y="465364"/>
            <a:ext cx="2236643" cy="1126672"/>
          </a:xfrm>
          <a:custGeom>
            <a:avLst/>
            <a:gdLst/>
            <a:ahLst/>
            <a:cxnLst/>
            <a:rect r="r" b="b" t="t" l="l"/>
            <a:pathLst>
              <a:path h="1126672" w="2236643">
                <a:moveTo>
                  <a:pt x="0" y="0"/>
                </a:moveTo>
                <a:lnTo>
                  <a:pt x="2236643" y="0"/>
                </a:lnTo>
                <a:lnTo>
                  <a:pt x="2236643" y="1126672"/>
                </a:lnTo>
                <a:lnTo>
                  <a:pt x="0" y="1126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25522" y="8937844"/>
            <a:ext cx="2236643" cy="1126672"/>
          </a:xfrm>
          <a:custGeom>
            <a:avLst/>
            <a:gdLst/>
            <a:ahLst/>
            <a:cxnLst/>
            <a:rect r="r" b="b" t="t" l="l"/>
            <a:pathLst>
              <a:path h="1126672" w="2236643">
                <a:moveTo>
                  <a:pt x="0" y="0"/>
                </a:moveTo>
                <a:lnTo>
                  <a:pt x="2236643" y="0"/>
                </a:lnTo>
                <a:lnTo>
                  <a:pt x="2236643" y="1126672"/>
                </a:lnTo>
                <a:lnTo>
                  <a:pt x="0" y="1126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52088" y="8937844"/>
            <a:ext cx="3520858" cy="1773574"/>
          </a:xfrm>
          <a:custGeom>
            <a:avLst/>
            <a:gdLst/>
            <a:ahLst/>
            <a:cxnLst/>
            <a:rect r="r" b="b" t="t" l="l"/>
            <a:pathLst>
              <a:path h="1773574" w="3520858">
                <a:moveTo>
                  <a:pt x="0" y="0"/>
                </a:moveTo>
                <a:lnTo>
                  <a:pt x="3520859" y="0"/>
                </a:lnTo>
                <a:lnTo>
                  <a:pt x="3520859" y="1773574"/>
                </a:lnTo>
                <a:lnTo>
                  <a:pt x="0" y="17735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803268" y="1908582"/>
            <a:ext cx="19894535" cy="75855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99879">
            <a:off x="6440407" y="-1370488"/>
            <a:ext cx="16291319" cy="4335087"/>
            <a:chOff x="0" y="0"/>
            <a:chExt cx="4290718" cy="1141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90718" cy="1141751"/>
            </a:xfrm>
            <a:custGeom>
              <a:avLst/>
              <a:gdLst/>
              <a:ahLst/>
              <a:cxnLst/>
              <a:rect r="r" b="b" t="t" l="l"/>
              <a:pathLst>
                <a:path h="1141751" w="4290718">
                  <a:moveTo>
                    <a:pt x="2145359" y="0"/>
                  </a:moveTo>
                  <a:cubicBezTo>
                    <a:pt x="960510" y="0"/>
                    <a:pt x="0" y="255590"/>
                    <a:pt x="0" y="570876"/>
                  </a:cubicBezTo>
                  <a:cubicBezTo>
                    <a:pt x="0" y="886162"/>
                    <a:pt x="960510" y="1141751"/>
                    <a:pt x="2145359" y="1141751"/>
                  </a:cubicBezTo>
                  <a:cubicBezTo>
                    <a:pt x="3330208" y="1141751"/>
                    <a:pt x="4290718" y="886162"/>
                    <a:pt x="4290718" y="570876"/>
                  </a:cubicBezTo>
                  <a:cubicBezTo>
                    <a:pt x="4290718" y="255590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402255" y="49889"/>
              <a:ext cx="3486208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9672369">
            <a:off x="-4118858" y="-1813665"/>
            <a:ext cx="16291319" cy="4798912"/>
            <a:chOff x="0" y="0"/>
            <a:chExt cx="4290718" cy="12639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90718" cy="1263911"/>
            </a:xfrm>
            <a:custGeom>
              <a:avLst/>
              <a:gdLst/>
              <a:ahLst/>
              <a:cxnLst/>
              <a:rect r="r" b="b" t="t" l="l"/>
              <a:pathLst>
                <a:path h="1263911" w="4290718">
                  <a:moveTo>
                    <a:pt x="2145359" y="0"/>
                  </a:moveTo>
                  <a:cubicBezTo>
                    <a:pt x="960510" y="0"/>
                    <a:pt x="0" y="282936"/>
                    <a:pt x="0" y="631956"/>
                  </a:cubicBezTo>
                  <a:cubicBezTo>
                    <a:pt x="0" y="980975"/>
                    <a:pt x="960510" y="1263911"/>
                    <a:pt x="2145359" y="1263911"/>
                  </a:cubicBezTo>
                  <a:cubicBezTo>
                    <a:pt x="3330208" y="1263911"/>
                    <a:pt x="4290718" y="980975"/>
                    <a:pt x="4290718" y="631956"/>
                  </a:cubicBezTo>
                  <a:cubicBezTo>
                    <a:pt x="4290718" y="282936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402255" y="61342"/>
              <a:ext cx="3486208" cy="1084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507050" y="585792"/>
            <a:ext cx="5273901" cy="4700364"/>
          </a:xfrm>
          <a:custGeom>
            <a:avLst/>
            <a:gdLst/>
            <a:ahLst/>
            <a:cxnLst/>
            <a:rect r="r" b="b" t="t" l="l"/>
            <a:pathLst>
              <a:path h="4700364" w="5273901">
                <a:moveTo>
                  <a:pt x="0" y="0"/>
                </a:moveTo>
                <a:lnTo>
                  <a:pt x="5273900" y="0"/>
                </a:lnTo>
                <a:lnTo>
                  <a:pt x="5273900" y="4700364"/>
                </a:lnTo>
                <a:lnTo>
                  <a:pt x="0" y="4700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39234" y="6039042"/>
            <a:ext cx="16209532" cy="2669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29"/>
              </a:lnSpc>
              <a:spcBef>
                <a:spcPct val="0"/>
              </a:spcBef>
            </a:pPr>
            <a:r>
              <a:rPr lang="en-US" sz="108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Fase 2 – Análisis y Diseño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32170">
            <a:off x="-5260070" y="6226547"/>
            <a:ext cx="11903008" cy="6647001"/>
            <a:chOff x="0" y="0"/>
            <a:chExt cx="3134949" cy="1750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34949" cy="1750651"/>
            </a:xfrm>
            <a:custGeom>
              <a:avLst/>
              <a:gdLst/>
              <a:ahLst/>
              <a:cxnLst/>
              <a:rect r="r" b="b" t="t" l="l"/>
              <a:pathLst>
                <a:path h="1750651" w="3134949">
                  <a:moveTo>
                    <a:pt x="1567474" y="0"/>
                  </a:moveTo>
                  <a:cubicBezTo>
                    <a:pt x="701782" y="0"/>
                    <a:pt x="0" y="391896"/>
                    <a:pt x="0" y="875325"/>
                  </a:cubicBezTo>
                  <a:cubicBezTo>
                    <a:pt x="0" y="1358754"/>
                    <a:pt x="701782" y="1750651"/>
                    <a:pt x="1567474" y="1750651"/>
                  </a:cubicBezTo>
                  <a:cubicBezTo>
                    <a:pt x="2433166" y="1750651"/>
                    <a:pt x="3134949" y="1358754"/>
                    <a:pt x="3134949" y="875325"/>
                  </a:cubicBezTo>
                  <a:cubicBezTo>
                    <a:pt x="3134949" y="391896"/>
                    <a:pt x="2433166" y="0"/>
                    <a:pt x="1567474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93901" y="106973"/>
              <a:ext cx="2547146" cy="1479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37460" y="899548"/>
            <a:ext cx="5002527" cy="2519940"/>
          </a:xfrm>
          <a:custGeom>
            <a:avLst/>
            <a:gdLst/>
            <a:ahLst/>
            <a:cxnLst/>
            <a:rect r="r" b="b" t="t" l="l"/>
            <a:pathLst>
              <a:path h="2519940" w="5002527">
                <a:moveTo>
                  <a:pt x="0" y="0"/>
                </a:moveTo>
                <a:lnTo>
                  <a:pt x="5002526" y="0"/>
                </a:lnTo>
                <a:lnTo>
                  <a:pt x="5002526" y="2519940"/>
                </a:lnTo>
                <a:lnTo>
                  <a:pt x="0" y="2519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86820" y="8874303"/>
            <a:ext cx="5002527" cy="2519940"/>
          </a:xfrm>
          <a:custGeom>
            <a:avLst/>
            <a:gdLst/>
            <a:ahLst/>
            <a:cxnLst/>
            <a:rect r="r" b="b" t="t" l="l"/>
            <a:pathLst>
              <a:path h="2519940" w="5002527">
                <a:moveTo>
                  <a:pt x="0" y="0"/>
                </a:moveTo>
                <a:lnTo>
                  <a:pt x="5002526" y="0"/>
                </a:lnTo>
                <a:lnTo>
                  <a:pt x="5002526" y="2519940"/>
                </a:lnTo>
                <a:lnTo>
                  <a:pt x="0" y="2519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67769" y="8874303"/>
            <a:ext cx="2682943" cy="1351488"/>
          </a:xfrm>
          <a:custGeom>
            <a:avLst/>
            <a:gdLst/>
            <a:ahLst/>
            <a:cxnLst/>
            <a:rect r="r" b="b" t="t" l="l"/>
            <a:pathLst>
              <a:path h="1351488" w="2682943">
                <a:moveTo>
                  <a:pt x="0" y="0"/>
                </a:moveTo>
                <a:lnTo>
                  <a:pt x="2682943" y="0"/>
                </a:lnTo>
                <a:lnTo>
                  <a:pt x="2682943" y="1351488"/>
                </a:lnTo>
                <a:lnTo>
                  <a:pt x="0" y="13514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65543" y="0"/>
            <a:ext cx="2682943" cy="1351488"/>
          </a:xfrm>
          <a:custGeom>
            <a:avLst/>
            <a:gdLst/>
            <a:ahLst/>
            <a:cxnLst/>
            <a:rect r="r" b="b" t="t" l="l"/>
            <a:pathLst>
              <a:path h="1351488" w="2682943">
                <a:moveTo>
                  <a:pt x="0" y="0"/>
                </a:moveTo>
                <a:lnTo>
                  <a:pt x="2682943" y="0"/>
                </a:lnTo>
                <a:lnTo>
                  <a:pt x="2682943" y="1351488"/>
                </a:lnTo>
                <a:lnTo>
                  <a:pt x="0" y="13514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927719" y="2487545"/>
            <a:ext cx="5158376" cy="5126137"/>
          </a:xfrm>
          <a:custGeom>
            <a:avLst/>
            <a:gdLst/>
            <a:ahLst/>
            <a:cxnLst/>
            <a:rect r="r" b="b" t="t" l="l"/>
            <a:pathLst>
              <a:path h="5126137" w="5158376">
                <a:moveTo>
                  <a:pt x="0" y="0"/>
                </a:moveTo>
                <a:lnTo>
                  <a:pt x="5158376" y="0"/>
                </a:lnTo>
                <a:lnTo>
                  <a:pt x="5158376" y="5126137"/>
                </a:lnTo>
                <a:lnTo>
                  <a:pt x="0" y="51261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46091" y="1579274"/>
            <a:ext cx="12599626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Documentos de Requerimientos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813687" y="5715397"/>
            <a:ext cx="5711926" cy="2861250"/>
            <a:chOff x="0" y="0"/>
            <a:chExt cx="1504376" cy="7535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04376" cy="753580"/>
            </a:xfrm>
            <a:custGeom>
              <a:avLst/>
              <a:gdLst/>
              <a:ahLst/>
              <a:cxnLst/>
              <a:rect r="r" b="b" t="t" l="l"/>
              <a:pathLst>
                <a:path h="753580" w="1504376">
                  <a:moveTo>
                    <a:pt x="39306" y="0"/>
                  </a:moveTo>
                  <a:lnTo>
                    <a:pt x="1465069" y="0"/>
                  </a:lnTo>
                  <a:cubicBezTo>
                    <a:pt x="1475494" y="0"/>
                    <a:pt x="1485491" y="4141"/>
                    <a:pt x="1492863" y="11513"/>
                  </a:cubicBezTo>
                  <a:cubicBezTo>
                    <a:pt x="1500234" y="18884"/>
                    <a:pt x="1504376" y="28882"/>
                    <a:pt x="1504376" y="39306"/>
                  </a:cubicBezTo>
                  <a:lnTo>
                    <a:pt x="1504376" y="714274"/>
                  </a:lnTo>
                  <a:cubicBezTo>
                    <a:pt x="1504376" y="724698"/>
                    <a:pt x="1500234" y="734696"/>
                    <a:pt x="1492863" y="742068"/>
                  </a:cubicBezTo>
                  <a:cubicBezTo>
                    <a:pt x="1485491" y="749439"/>
                    <a:pt x="1475494" y="753580"/>
                    <a:pt x="1465069" y="753580"/>
                  </a:cubicBezTo>
                  <a:lnTo>
                    <a:pt x="39306" y="753580"/>
                  </a:lnTo>
                  <a:cubicBezTo>
                    <a:pt x="17598" y="753580"/>
                    <a:pt x="0" y="735982"/>
                    <a:pt x="0" y="714274"/>
                  </a:cubicBezTo>
                  <a:lnTo>
                    <a:pt x="0" y="39306"/>
                  </a:lnTo>
                  <a:cubicBezTo>
                    <a:pt x="0" y="28882"/>
                    <a:pt x="4141" y="18884"/>
                    <a:pt x="11513" y="11513"/>
                  </a:cubicBezTo>
                  <a:cubicBezTo>
                    <a:pt x="18884" y="4141"/>
                    <a:pt x="28882" y="0"/>
                    <a:pt x="39306" y="0"/>
                  </a:cubicBezTo>
                  <a:close/>
                </a:path>
              </a:pathLst>
            </a:custGeom>
            <a:solidFill>
              <a:srgbClr val="D0EA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504376" cy="810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966195" y="5715397"/>
            <a:ext cx="5711926" cy="2861250"/>
            <a:chOff x="0" y="0"/>
            <a:chExt cx="1504376" cy="7535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04376" cy="753580"/>
            </a:xfrm>
            <a:custGeom>
              <a:avLst/>
              <a:gdLst/>
              <a:ahLst/>
              <a:cxnLst/>
              <a:rect r="r" b="b" t="t" l="l"/>
              <a:pathLst>
                <a:path h="753580" w="1504376">
                  <a:moveTo>
                    <a:pt x="39306" y="0"/>
                  </a:moveTo>
                  <a:lnTo>
                    <a:pt x="1465069" y="0"/>
                  </a:lnTo>
                  <a:cubicBezTo>
                    <a:pt x="1475494" y="0"/>
                    <a:pt x="1485491" y="4141"/>
                    <a:pt x="1492863" y="11513"/>
                  </a:cubicBezTo>
                  <a:cubicBezTo>
                    <a:pt x="1500234" y="18884"/>
                    <a:pt x="1504376" y="28882"/>
                    <a:pt x="1504376" y="39306"/>
                  </a:cubicBezTo>
                  <a:lnTo>
                    <a:pt x="1504376" y="714274"/>
                  </a:lnTo>
                  <a:cubicBezTo>
                    <a:pt x="1504376" y="724698"/>
                    <a:pt x="1500234" y="734696"/>
                    <a:pt x="1492863" y="742068"/>
                  </a:cubicBezTo>
                  <a:cubicBezTo>
                    <a:pt x="1485491" y="749439"/>
                    <a:pt x="1475494" y="753580"/>
                    <a:pt x="1465069" y="753580"/>
                  </a:cubicBezTo>
                  <a:lnTo>
                    <a:pt x="39306" y="753580"/>
                  </a:lnTo>
                  <a:cubicBezTo>
                    <a:pt x="17598" y="753580"/>
                    <a:pt x="0" y="735982"/>
                    <a:pt x="0" y="714274"/>
                  </a:cubicBezTo>
                  <a:lnTo>
                    <a:pt x="0" y="39306"/>
                  </a:lnTo>
                  <a:cubicBezTo>
                    <a:pt x="0" y="28882"/>
                    <a:pt x="4141" y="18884"/>
                    <a:pt x="11513" y="11513"/>
                  </a:cubicBezTo>
                  <a:cubicBezTo>
                    <a:pt x="18884" y="4141"/>
                    <a:pt x="28882" y="0"/>
                    <a:pt x="39306" y="0"/>
                  </a:cubicBezTo>
                  <a:close/>
                </a:path>
              </a:pathLst>
            </a:custGeom>
            <a:solidFill>
              <a:srgbClr val="D0EA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504376" cy="810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966195" y="2686555"/>
            <a:ext cx="5711926" cy="2861250"/>
            <a:chOff x="0" y="0"/>
            <a:chExt cx="1504376" cy="7535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04376" cy="753580"/>
            </a:xfrm>
            <a:custGeom>
              <a:avLst/>
              <a:gdLst/>
              <a:ahLst/>
              <a:cxnLst/>
              <a:rect r="r" b="b" t="t" l="l"/>
              <a:pathLst>
                <a:path h="753580" w="1504376">
                  <a:moveTo>
                    <a:pt x="39306" y="0"/>
                  </a:moveTo>
                  <a:lnTo>
                    <a:pt x="1465069" y="0"/>
                  </a:lnTo>
                  <a:cubicBezTo>
                    <a:pt x="1475494" y="0"/>
                    <a:pt x="1485491" y="4141"/>
                    <a:pt x="1492863" y="11513"/>
                  </a:cubicBezTo>
                  <a:cubicBezTo>
                    <a:pt x="1500234" y="18884"/>
                    <a:pt x="1504376" y="28882"/>
                    <a:pt x="1504376" y="39306"/>
                  </a:cubicBezTo>
                  <a:lnTo>
                    <a:pt x="1504376" y="714274"/>
                  </a:lnTo>
                  <a:cubicBezTo>
                    <a:pt x="1504376" y="724698"/>
                    <a:pt x="1500234" y="734696"/>
                    <a:pt x="1492863" y="742068"/>
                  </a:cubicBezTo>
                  <a:cubicBezTo>
                    <a:pt x="1485491" y="749439"/>
                    <a:pt x="1475494" y="753580"/>
                    <a:pt x="1465069" y="753580"/>
                  </a:cubicBezTo>
                  <a:lnTo>
                    <a:pt x="39306" y="753580"/>
                  </a:lnTo>
                  <a:cubicBezTo>
                    <a:pt x="17598" y="753580"/>
                    <a:pt x="0" y="735982"/>
                    <a:pt x="0" y="714274"/>
                  </a:cubicBezTo>
                  <a:lnTo>
                    <a:pt x="0" y="39306"/>
                  </a:lnTo>
                  <a:cubicBezTo>
                    <a:pt x="0" y="28882"/>
                    <a:pt x="4141" y="18884"/>
                    <a:pt x="11513" y="11513"/>
                  </a:cubicBezTo>
                  <a:cubicBezTo>
                    <a:pt x="18884" y="4141"/>
                    <a:pt x="28882" y="0"/>
                    <a:pt x="39306" y="0"/>
                  </a:cubicBezTo>
                  <a:close/>
                </a:path>
              </a:pathLst>
            </a:custGeom>
            <a:solidFill>
              <a:srgbClr val="D0EA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504376" cy="810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822130" y="2686555"/>
            <a:ext cx="5711926" cy="2861250"/>
            <a:chOff x="0" y="0"/>
            <a:chExt cx="1504376" cy="7535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04376" cy="753580"/>
            </a:xfrm>
            <a:custGeom>
              <a:avLst/>
              <a:gdLst/>
              <a:ahLst/>
              <a:cxnLst/>
              <a:rect r="r" b="b" t="t" l="l"/>
              <a:pathLst>
                <a:path h="753580" w="1504376">
                  <a:moveTo>
                    <a:pt x="39306" y="0"/>
                  </a:moveTo>
                  <a:lnTo>
                    <a:pt x="1465069" y="0"/>
                  </a:lnTo>
                  <a:cubicBezTo>
                    <a:pt x="1475494" y="0"/>
                    <a:pt x="1485491" y="4141"/>
                    <a:pt x="1492863" y="11513"/>
                  </a:cubicBezTo>
                  <a:cubicBezTo>
                    <a:pt x="1500234" y="18884"/>
                    <a:pt x="1504376" y="28882"/>
                    <a:pt x="1504376" y="39306"/>
                  </a:cubicBezTo>
                  <a:lnTo>
                    <a:pt x="1504376" y="714274"/>
                  </a:lnTo>
                  <a:cubicBezTo>
                    <a:pt x="1504376" y="724698"/>
                    <a:pt x="1500234" y="734696"/>
                    <a:pt x="1492863" y="742068"/>
                  </a:cubicBezTo>
                  <a:cubicBezTo>
                    <a:pt x="1485491" y="749439"/>
                    <a:pt x="1475494" y="753580"/>
                    <a:pt x="1465069" y="753580"/>
                  </a:cubicBezTo>
                  <a:lnTo>
                    <a:pt x="39306" y="753580"/>
                  </a:lnTo>
                  <a:cubicBezTo>
                    <a:pt x="17598" y="753580"/>
                    <a:pt x="0" y="735982"/>
                    <a:pt x="0" y="714274"/>
                  </a:cubicBezTo>
                  <a:lnTo>
                    <a:pt x="0" y="39306"/>
                  </a:lnTo>
                  <a:cubicBezTo>
                    <a:pt x="0" y="28882"/>
                    <a:pt x="4141" y="18884"/>
                    <a:pt x="11513" y="11513"/>
                  </a:cubicBezTo>
                  <a:cubicBezTo>
                    <a:pt x="18884" y="4141"/>
                    <a:pt x="28882" y="0"/>
                    <a:pt x="39306" y="0"/>
                  </a:cubicBezTo>
                  <a:close/>
                </a:path>
              </a:pathLst>
            </a:custGeom>
            <a:solidFill>
              <a:srgbClr val="D0EA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504376" cy="810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968057" y="2987946"/>
            <a:ext cx="5420071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tRS </a:t>
            </a:r>
          </a:p>
          <a:p>
            <a:pPr algn="ctr">
              <a:lnSpc>
                <a:spcPts val="3048"/>
              </a:lnSpc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(requerimientos de stakeholders)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42499" y="2859041"/>
            <a:ext cx="4959318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SyRS </a:t>
            </a:r>
          </a:p>
          <a:p>
            <a:pPr algn="ctr">
              <a:lnSpc>
                <a:spcPts val="3048"/>
              </a:lnSpc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(requer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imientos del sistema)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65136" y="5832412"/>
            <a:ext cx="5409029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SRS </a:t>
            </a:r>
          </a:p>
          <a:p>
            <a:pPr algn="ctr">
              <a:lnSpc>
                <a:spcPts val="3048"/>
              </a:lnSpc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requerimientos del software)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71400" y="6014530"/>
            <a:ext cx="3701517" cy="39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Val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idación de ERS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35044" y="3979068"/>
            <a:ext cx="4669213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efine necesidades, restricciones y actores.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Sirve de base para digitalizar el ingreso y control de vehículos.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54347" y="3845718"/>
            <a:ext cx="5335622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Detalla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queri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ento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funci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Establ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r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tri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écnicas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rat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vas.</a:t>
            </a:r>
          </a:p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Guía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eño,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llo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lida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ció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luc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ó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074365" y="6687286"/>
            <a:ext cx="5190569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Desc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ib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func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onalidad, regla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d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neg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técnicas.</a:t>
            </a:r>
          </a:p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fine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ompor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ami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espe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rad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b.</a:t>
            </a:r>
          </a:p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cil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auto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atización y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ol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oc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ing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reso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vehículo</a:t>
            </a:r>
            <a:r>
              <a:rPr lang="en-US" sz="15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06034" y="6573076"/>
            <a:ext cx="543225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48" indent="-161924" lvl="1">
              <a:lnSpc>
                <a:spcPts val="2099"/>
              </a:lnSpc>
              <a:spcBef>
                <a:spcPct val="0"/>
              </a:spcBef>
              <a:buFont typeface="Arial"/>
              <a:buChar char="•"/>
            </a:pPr>
            <a:r>
              <a:rPr lang="en-US" sz="1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ifica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lo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requer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mien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claros, co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 y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cons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ist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s.</a:t>
            </a:r>
          </a:p>
          <a:p>
            <a:pPr algn="l" marL="323848" indent="-161924" lvl="1">
              <a:lnSpc>
                <a:spcPts val="2099"/>
              </a:lnSpc>
              <a:spcBef>
                <a:spcPct val="0"/>
              </a:spcBef>
              <a:buFont typeface="Arial"/>
              <a:buChar char="•"/>
            </a:pP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Invol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rev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e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usu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rios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clav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323848" indent="-161924" lvl="1">
              <a:lnSpc>
                <a:spcPts val="2099"/>
              </a:lnSpc>
              <a:spcBef>
                <a:spcPct val="0"/>
              </a:spcBef>
              <a:buFont typeface="Arial"/>
              <a:buChar char="•"/>
            </a:pP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Gara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za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l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ataforma cump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dad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terio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a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ón</a:t>
            </a:r>
            <a:r>
              <a:rPr lang="en-US" sz="14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99879">
            <a:off x="6440407" y="-1370488"/>
            <a:ext cx="16291319" cy="4335087"/>
            <a:chOff x="0" y="0"/>
            <a:chExt cx="4290718" cy="1141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90718" cy="1141751"/>
            </a:xfrm>
            <a:custGeom>
              <a:avLst/>
              <a:gdLst/>
              <a:ahLst/>
              <a:cxnLst/>
              <a:rect r="r" b="b" t="t" l="l"/>
              <a:pathLst>
                <a:path h="1141751" w="4290718">
                  <a:moveTo>
                    <a:pt x="2145359" y="0"/>
                  </a:moveTo>
                  <a:cubicBezTo>
                    <a:pt x="960510" y="0"/>
                    <a:pt x="0" y="255590"/>
                    <a:pt x="0" y="570876"/>
                  </a:cubicBezTo>
                  <a:cubicBezTo>
                    <a:pt x="0" y="886162"/>
                    <a:pt x="960510" y="1141751"/>
                    <a:pt x="2145359" y="1141751"/>
                  </a:cubicBezTo>
                  <a:cubicBezTo>
                    <a:pt x="3330208" y="1141751"/>
                    <a:pt x="4290718" y="886162"/>
                    <a:pt x="4290718" y="570876"/>
                  </a:cubicBezTo>
                  <a:cubicBezTo>
                    <a:pt x="4290718" y="255590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402255" y="49889"/>
              <a:ext cx="3486208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9672369">
            <a:off x="-4175820" y="-2157862"/>
            <a:ext cx="16291319" cy="5152537"/>
            <a:chOff x="0" y="0"/>
            <a:chExt cx="4290718" cy="13570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90718" cy="1357047"/>
            </a:xfrm>
            <a:custGeom>
              <a:avLst/>
              <a:gdLst/>
              <a:ahLst/>
              <a:cxnLst/>
              <a:rect r="r" b="b" t="t" l="l"/>
              <a:pathLst>
                <a:path h="1357047" w="4290718">
                  <a:moveTo>
                    <a:pt x="2145359" y="0"/>
                  </a:moveTo>
                  <a:cubicBezTo>
                    <a:pt x="960510" y="0"/>
                    <a:pt x="0" y="303785"/>
                    <a:pt x="0" y="678523"/>
                  </a:cubicBezTo>
                  <a:cubicBezTo>
                    <a:pt x="0" y="1053261"/>
                    <a:pt x="960510" y="1357047"/>
                    <a:pt x="2145359" y="1357047"/>
                  </a:cubicBezTo>
                  <a:cubicBezTo>
                    <a:pt x="3330208" y="1357047"/>
                    <a:pt x="4290718" y="1053261"/>
                    <a:pt x="4290718" y="678523"/>
                  </a:cubicBezTo>
                  <a:cubicBezTo>
                    <a:pt x="4290718" y="303785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402255" y="70073"/>
              <a:ext cx="3486208" cy="1159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942250" y="4908500"/>
            <a:ext cx="2275236" cy="1146113"/>
          </a:xfrm>
          <a:custGeom>
            <a:avLst/>
            <a:gdLst/>
            <a:ahLst/>
            <a:cxnLst/>
            <a:rect r="r" b="b" t="t" l="l"/>
            <a:pathLst>
              <a:path h="1146113" w="2275236">
                <a:moveTo>
                  <a:pt x="0" y="0"/>
                </a:moveTo>
                <a:lnTo>
                  <a:pt x="2275236" y="0"/>
                </a:lnTo>
                <a:lnTo>
                  <a:pt x="2275236" y="1146113"/>
                </a:lnTo>
                <a:lnTo>
                  <a:pt x="0" y="11461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44399" y="4702685"/>
            <a:ext cx="1750191" cy="881630"/>
          </a:xfrm>
          <a:custGeom>
            <a:avLst/>
            <a:gdLst/>
            <a:ahLst/>
            <a:cxnLst/>
            <a:rect r="r" b="b" t="t" l="l"/>
            <a:pathLst>
              <a:path h="881630" w="1750191">
                <a:moveTo>
                  <a:pt x="0" y="0"/>
                </a:moveTo>
                <a:lnTo>
                  <a:pt x="1750191" y="0"/>
                </a:lnTo>
                <a:lnTo>
                  <a:pt x="1750191" y="881630"/>
                </a:lnTo>
                <a:lnTo>
                  <a:pt x="0" y="881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39193" y="4902710"/>
            <a:ext cx="12009615" cy="2669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29"/>
              </a:lnSpc>
              <a:spcBef>
                <a:spcPct val="0"/>
              </a:spcBef>
            </a:pPr>
            <a:r>
              <a:rPr lang="en-US" sz="108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Modelos y Arquitectura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625353" y="7422872"/>
            <a:ext cx="7287299" cy="3670856"/>
          </a:xfrm>
          <a:custGeom>
            <a:avLst/>
            <a:gdLst/>
            <a:ahLst/>
            <a:cxnLst/>
            <a:rect r="r" b="b" t="t" l="l"/>
            <a:pathLst>
              <a:path h="3670856" w="7287299">
                <a:moveTo>
                  <a:pt x="0" y="0"/>
                </a:moveTo>
                <a:lnTo>
                  <a:pt x="7287299" y="0"/>
                </a:lnTo>
                <a:lnTo>
                  <a:pt x="7287299" y="3670856"/>
                </a:lnTo>
                <a:lnTo>
                  <a:pt x="0" y="3670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382527" y="7301100"/>
            <a:ext cx="5346468" cy="2693195"/>
          </a:xfrm>
          <a:custGeom>
            <a:avLst/>
            <a:gdLst/>
            <a:ahLst/>
            <a:cxnLst/>
            <a:rect r="r" b="b" t="t" l="l"/>
            <a:pathLst>
              <a:path h="2693195" w="5346468">
                <a:moveTo>
                  <a:pt x="0" y="0"/>
                </a:moveTo>
                <a:lnTo>
                  <a:pt x="5346468" y="0"/>
                </a:lnTo>
                <a:lnTo>
                  <a:pt x="5346468" y="2693194"/>
                </a:lnTo>
                <a:lnTo>
                  <a:pt x="0" y="2693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191185" y="797055"/>
            <a:ext cx="3905630" cy="3905630"/>
          </a:xfrm>
          <a:custGeom>
            <a:avLst/>
            <a:gdLst/>
            <a:ahLst/>
            <a:cxnLst/>
            <a:rect r="r" b="b" t="t" l="l"/>
            <a:pathLst>
              <a:path h="3905630" w="3905630">
                <a:moveTo>
                  <a:pt x="0" y="0"/>
                </a:moveTo>
                <a:lnTo>
                  <a:pt x="3905630" y="0"/>
                </a:lnTo>
                <a:lnTo>
                  <a:pt x="3905630" y="3905630"/>
                </a:lnTo>
                <a:lnTo>
                  <a:pt x="0" y="39056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112854" y="187578"/>
            <a:ext cx="6735142" cy="9911843"/>
            <a:chOff x="0" y="0"/>
            <a:chExt cx="8980190" cy="1321579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1243964"/>
              <a:ext cx="8980190" cy="11971827"/>
              <a:chOff x="0" y="0"/>
              <a:chExt cx="1681903" cy="224220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681903" cy="2242208"/>
              </a:xfrm>
              <a:custGeom>
                <a:avLst/>
                <a:gdLst/>
                <a:ahLst/>
                <a:cxnLst/>
                <a:rect r="r" b="b" t="t" l="l"/>
                <a:pathLst>
                  <a:path h="2242208" w="1681903">
                    <a:moveTo>
                      <a:pt x="0" y="0"/>
                    </a:moveTo>
                    <a:lnTo>
                      <a:pt x="1681903" y="0"/>
                    </a:lnTo>
                    <a:lnTo>
                      <a:pt x="1681903" y="2242208"/>
                    </a:lnTo>
                    <a:lnTo>
                      <a:pt x="0" y="2242208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4A9FF">
                      <a:alpha val="100000"/>
                    </a:srgbClr>
                  </a:gs>
                  <a:gs pos="100000">
                    <a:srgbClr val="F5F8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681903" cy="2280308"/>
              </a:xfrm>
              <a:prstGeom prst="rect">
                <a:avLst/>
              </a:prstGeom>
            </p:spPr>
            <p:txBody>
              <a:bodyPr anchor="ctr" rtlCol="false" tIns="27904" lIns="27904" bIns="27904" rIns="2790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634470" y="1740814"/>
              <a:ext cx="7711249" cy="10978127"/>
            </a:xfrm>
            <a:custGeom>
              <a:avLst/>
              <a:gdLst/>
              <a:ahLst/>
              <a:cxnLst/>
              <a:rect r="r" b="b" t="t" l="l"/>
              <a:pathLst>
                <a:path h="10978127" w="7711249">
                  <a:moveTo>
                    <a:pt x="0" y="0"/>
                  </a:moveTo>
                  <a:lnTo>
                    <a:pt x="7711249" y="0"/>
                  </a:lnTo>
                  <a:lnTo>
                    <a:pt x="7711249" y="10978127"/>
                  </a:lnTo>
                  <a:lnTo>
                    <a:pt x="0" y="10978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8980190" cy="13487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3"/>
                </a:lnSpc>
              </a:pPr>
              <a:r>
                <a:rPr lang="en-US" b="true" sz="6144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Casos de Uso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12466" y="187578"/>
            <a:ext cx="1661068" cy="1471638"/>
            <a:chOff x="0" y="0"/>
            <a:chExt cx="2214757" cy="1962184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250308"/>
              <a:ext cx="2214757" cy="1711877"/>
              <a:chOff x="0" y="0"/>
              <a:chExt cx="2090433" cy="161578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090433" cy="1615782"/>
              </a:xfrm>
              <a:custGeom>
                <a:avLst/>
                <a:gdLst/>
                <a:ahLst/>
                <a:cxnLst/>
                <a:rect r="r" b="b" t="t" l="l"/>
                <a:pathLst>
                  <a:path h="1615782" w="2090433">
                    <a:moveTo>
                      <a:pt x="0" y="0"/>
                    </a:moveTo>
                    <a:lnTo>
                      <a:pt x="2090433" y="0"/>
                    </a:lnTo>
                    <a:lnTo>
                      <a:pt x="2090433" y="1615782"/>
                    </a:lnTo>
                    <a:lnTo>
                      <a:pt x="0" y="16157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DA6A">
                      <a:alpha val="100000"/>
                    </a:srgbClr>
                  </a:gs>
                  <a:gs pos="100000">
                    <a:srgbClr val="FFF7DE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090433" cy="1653882"/>
              </a:xfrm>
              <a:prstGeom prst="rect">
                <a:avLst/>
              </a:prstGeom>
            </p:spPr>
            <p:txBody>
              <a:bodyPr anchor="ctr" rtlCol="false" tIns="15276" lIns="15276" bIns="15276" rIns="1527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95133" y="362878"/>
              <a:ext cx="2024490" cy="1486735"/>
            </a:xfrm>
            <a:custGeom>
              <a:avLst/>
              <a:gdLst/>
              <a:ahLst/>
              <a:cxnLst/>
              <a:rect r="r" b="b" t="t" l="l"/>
              <a:pathLst>
                <a:path h="1486735" w="2024490">
                  <a:moveTo>
                    <a:pt x="0" y="0"/>
                  </a:moveTo>
                  <a:lnTo>
                    <a:pt x="2024491" y="0"/>
                  </a:lnTo>
                  <a:lnTo>
                    <a:pt x="2024491" y="1486736"/>
                  </a:lnTo>
                  <a:lnTo>
                    <a:pt x="0" y="148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-9525"/>
              <a:ext cx="2214757" cy="259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0"/>
                </a:lnSpc>
              </a:pPr>
              <a:r>
                <a:rPr lang="en-US" b="true" sz="125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de Clases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96184" y="8068994"/>
            <a:ext cx="2128246" cy="2030427"/>
            <a:chOff x="0" y="0"/>
            <a:chExt cx="2837661" cy="270723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348949" y="250308"/>
              <a:ext cx="2139763" cy="2456929"/>
              <a:chOff x="0" y="0"/>
              <a:chExt cx="3250378" cy="373216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250378" cy="3732164"/>
              </a:xfrm>
              <a:custGeom>
                <a:avLst/>
                <a:gdLst/>
                <a:ahLst/>
                <a:cxnLst/>
                <a:rect r="r" b="b" t="t" l="l"/>
                <a:pathLst>
                  <a:path h="3732164" w="3250378">
                    <a:moveTo>
                      <a:pt x="0" y="0"/>
                    </a:moveTo>
                    <a:lnTo>
                      <a:pt x="3250378" y="0"/>
                    </a:lnTo>
                    <a:lnTo>
                      <a:pt x="3250378" y="3732164"/>
                    </a:lnTo>
                    <a:lnTo>
                      <a:pt x="0" y="373216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7CCE6B">
                      <a:alpha val="100000"/>
                    </a:srgbClr>
                  </a:gs>
                  <a:gs pos="100000">
                    <a:srgbClr val="D8FFD0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3250378" cy="3770264"/>
              </a:xfrm>
              <a:prstGeom prst="rect">
                <a:avLst/>
              </a:prstGeom>
            </p:spPr>
            <p:txBody>
              <a:bodyPr anchor="ctr" rtlCol="false" tIns="9492" lIns="9492" bIns="9492" rIns="949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507846" y="376349"/>
              <a:ext cx="1821969" cy="2204847"/>
            </a:xfrm>
            <a:custGeom>
              <a:avLst/>
              <a:gdLst/>
              <a:ahLst/>
              <a:cxnLst/>
              <a:rect r="r" b="b" t="t" l="l"/>
              <a:pathLst>
                <a:path h="2204847" w="1821969">
                  <a:moveTo>
                    <a:pt x="0" y="0"/>
                  </a:moveTo>
                  <a:lnTo>
                    <a:pt x="1821969" y="0"/>
                  </a:lnTo>
                  <a:lnTo>
                    <a:pt x="1821969" y="2204847"/>
                  </a:lnTo>
                  <a:lnTo>
                    <a:pt x="0" y="2204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0" y="-9525"/>
              <a:ext cx="2837661" cy="259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0"/>
                </a:lnSpc>
              </a:pPr>
              <a:r>
                <a:rPr lang="en-US" b="true" sz="125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Despliegue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4853273"/>
            <a:ext cx="2628599" cy="1304559"/>
            <a:chOff x="0" y="0"/>
            <a:chExt cx="3504799" cy="1739412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653678" y="263008"/>
              <a:ext cx="2197443" cy="1476404"/>
              <a:chOff x="0" y="0"/>
              <a:chExt cx="4319668" cy="290227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319668" cy="2902271"/>
              </a:xfrm>
              <a:custGeom>
                <a:avLst/>
                <a:gdLst/>
                <a:ahLst/>
                <a:cxnLst/>
                <a:rect r="r" b="b" t="t" l="l"/>
                <a:pathLst>
                  <a:path h="2902271" w="4319668">
                    <a:moveTo>
                      <a:pt x="0" y="0"/>
                    </a:moveTo>
                    <a:lnTo>
                      <a:pt x="4319668" y="0"/>
                    </a:lnTo>
                    <a:lnTo>
                      <a:pt x="4319668" y="2902271"/>
                    </a:lnTo>
                    <a:lnTo>
                      <a:pt x="0" y="290227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4319668" cy="2940371"/>
              </a:xfrm>
              <a:prstGeom prst="rect">
                <a:avLst/>
              </a:prstGeom>
            </p:spPr>
            <p:txBody>
              <a:bodyPr anchor="ctr" rtlCol="false" tIns="5105" lIns="5105" bIns="5105" rIns="510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8" id="28"/>
            <p:cNvSpPr/>
            <p:nvPr/>
          </p:nvSpPr>
          <p:spPr>
            <a:xfrm flipH="false" flipV="false" rot="0">
              <a:off x="717359" y="440241"/>
              <a:ext cx="2070082" cy="1121937"/>
            </a:xfrm>
            <a:custGeom>
              <a:avLst/>
              <a:gdLst/>
              <a:ahLst/>
              <a:cxnLst/>
              <a:rect r="r" b="b" t="t" l="l"/>
              <a:pathLst>
                <a:path h="1121937" w="2070082">
                  <a:moveTo>
                    <a:pt x="0" y="0"/>
                  </a:moveTo>
                  <a:lnTo>
                    <a:pt x="2070081" y="0"/>
                  </a:lnTo>
                  <a:lnTo>
                    <a:pt x="2070081" y="1121937"/>
                  </a:lnTo>
                  <a:lnTo>
                    <a:pt x="0" y="112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855" r="0" b="-85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0" y="-9525"/>
              <a:ext cx="3504799" cy="259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0"/>
                </a:lnSpc>
              </a:pPr>
              <a:r>
                <a:rPr lang="en-US" b="true" sz="125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MER (Modelo entidad-Relacion)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29773" y="6234031"/>
            <a:ext cx="1626452" cy="1725523"/>
            <a:chOff x="0" y="0"/>
            <a:chExt cx="2168603" cy="2300697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28840" y="250308"/>
              <a:ext cx="2139763" cy="2050390"/>
              <a:chOff x="0" y="0"/>
              <a:chExt cx="3250378" cy="311461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3250378" cy="3114616"/>
              </a:xfrm>
              <a:custGeom>
                <a:avLst/>
                <a:gdLst/>
                <a:ahLst/>
                <a:cxnLst/>
                <a:rect r="r" b="b" t="t" l="l"/>
                <a:pathLst>
                  <a:path h="3114616" w="3250378">
                    <a:moveTo>
                      <a:pt x="0" y="0"/>
                    </a:moveTo>
                    <a:lnTo>
                      <a:pt x="3250378" y="0"/>
                    </a:lnTo>
                    <a:lnTo>
                      <a:pt x="3250378" y="3114616"/>
                    </a:lnTo>
                    <a:lnTo>
                      <a:pt x="0" y="311461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6767">
                      <a:alpha val="100000"/>
                    </a:srgbClr>
                  </a:gs>
                  <a:gs pos="100000">
                    <a:srgbClr val="FFD1D1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3250378" cy="3152716"/>
              </a:xfrm>
              <a:prstGeom prst="rect">
                <a:avLst/>
              </a:prstGeom>
            </p:spPr>
            <p:txBody>
              <a:bodyPr anchor="ctr" rtlCol="false" tIns="9492" lIns="9492" bIns="9492" rIns="949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34" id="34"/>
            <p:cNvSpPr/>
            <p:nvPr/>
          </p:nvSpPr>
          <p:spPr>
            <a:xfrm flipH="false" flipV="false" rot="0">
              <a:off x="155169" y="386941"/>
              <a:ext cx="1887104" cy="1777123"/>
            </a:xfrm>
            <a:custGeom>
              <a:avLst/>
              <a:gdLst/>
              <a:ahLst/>
              <a:cxnLst/>
              <a:rect r="r" b="b" t="t" l="l"/>
              <a:pathLst>
                <a:path h="1777123" w="1887104">
                  <a:moveTo>
                    <a:pt x="0" y="0"/>
                  </a:moveTo>
                  <a:lnTo>
                    <a:pt x="1887104" y="0"/>
                  </a:lnTo>
                  <a:lnTo>
                    <a:pt x="1887104" y="1777123"/>
                  </a:lnTo>
                  <a:lnTo>
                    <a:pt x="0" y="1777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0" y="-9525"/>
              <a:ext cx="2139763" cy="259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0"/>
                </a:lnSpc>
              </a:pPr>
              <a:r>
                <a:rPr lang="en-US" b="true" sz="125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Modelo Relacional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47081" y="1735417"/>
            <a:ext cx="1643760" cy="1322430"/>
            <a:chOff x="0" y="0"/>
            <a:chExt cx="2191680" cy="176324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251883"/>
              <a:ext cx="2191680" cy="1511356"/>
              <a:chOff x="0" y="0"/>
              <a:chExt cx="4690226" cy="323432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690226" cy="3234323"/>
              </a:xfrm>
              <a:custGeom>
                <a:avLst/>
                <a:gdLst/>
                <a:ahLst/>
                <a:cxnLst/>
                <a:rect r="r" b="b" t="t" l="l"/>
                <a:pathLst>
                  <a:path h="3234323" w="4690226">
                    <a:moveTo>
                      <a:pt x="0" y="0"/>
                    </a:moveTo>
                    <a:lnTo>
                      <a:pt x="4690226" y="0"/>
                    </a:lnTo>
                    <a:lnTo>
                      <a:pt x="4690226" y="3234323"/>
                    </a:lnTo>
                    <a:lnTo>
                      <a:pt x="0" y="323432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7CCE6B">
                      <a:alpha val="100000"/>
                    </a:srgbClr>
                  </a:gs>
                  <a:gs pos="100000">
                    <a:srgbClr val="D8FFD0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4690226" cy="3272423"/>
              </a:xfrm>
              <a:prstGeom prst="rect">
                <a:avLst/>
              </a:prstGeom>
            </p:spPr>
            <p:txBody>
              <a:bodyPr anchor="ctr" rtlCol="false" tIns="4689" lIns="4689" bIns="4689" rIns="468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40" id="40"/>
            <p:cNvSpPr/>
            <p:nvPr/>
          </p:nvSpPr>
          <p:spPr>
            <a:xfrm flipH="false" flipV="false" rot="0">
              <a:off x="79593" y="349542"/>
              <a:ext cx="2032494" cy="1316040"/>
            </a:xfrm>
            <a:custGeom>
              <a:avLst/>
              <a:gdLst/>
              <a:ahLst/>
              <a:cxnLst/>
              <a:rect r="r" b="b" t="t" l="l"/>
              <a:pathLst>
                <a:path h="1316040" w="2032494">
                  <a:moveTo>
                    <a:pt x="0" y="0"/>
                  </a:moveTo>
                  <a:lnTo>
                    <a:pt x="2032494" y="0"/>
                  </a:lnTo>
                  <a:lnTo>
                    <a:pt x="2032494" y="1316039"/>
                  </a:lnTo>
                  <a:lnTo>
                    <a:pt x="0" y="1316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 rot="0">
              <a:off x="77179" y="-9525"/>
              <a:ext cx="2014244" cy="261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87"/>
                </a:lnSpc>
              </a:pPr>
              <a:r>
                <a:rPr lang="en-US" b="true" sz="125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AS-IS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47081" y="3134046"/>
            <a:ext cx="1626452" cy="1643026"/>
            <a:chOff x="0" y="0"/>
            <a:chExt cx="2168603" cy="2190702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269858"/>
              <a:ext cx="2168603" cy="1920844"/>
              <a:chOff x="0" y="0"/>
              <a:chExt cx="3981592" cy="3526702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3981592" cy="3526702"/>
              </a:xfrm>
              <a:custGeom>
                <a:avLst/>
                <a:gdLst/>
                <a:ahLst/>
                <a:cxnLst/>
                <a:rect r="r" b="b" t="t" l="l"/>
                <a:pathLst>
                  <a:path h="3526702" w="3981592">
                    <a:moveTo>
                      <a:pt x="0" y="0"/>
                    </a:moveTo>
                    <a:lnTo>
                      <a:pt x="3981592" y="0"/>
                    </a:lnTo>
                    <a:lnTo>
                      <a:pt x="3981592" y="3526702"/>
                    </a:lnTo>
                    <a:lnTo>
                      <a:pt x="0" y="352670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3981592" cy="3564802"/>
              </a:xfrm>
              <a:prstGeom prst="rect">
                <a:avLst/>
              </a:prstGeom>
            </p:spPr>
            <p:txBody>
              <a:bodyPr anchor="ctr" rtlCol="false" tIns="19783" lIns="19783" bIns="19783" rIns="19783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6" id="46"/>
            <p:cNvSpPr/>
            <p:nvPr/>
          </p:nvSpPr>
          <p:spPr>
            <a:xfrm flipH="false" flipV="false" rot="0">
              <a:off x="134444" y="342163"/>
              <a:ext cx="1899716" cy="1776234"/>
            </a:xfrm>
            <a:custGeom>
              <a:avLst/>
              <a:gdLst/>
              <a:ahLst/>
              <a:cxnLst/>
              <a:rect r="r" b="b" t="t" l="l"/>
              <a:pathLst>
                <a:path h="1776234" w="1899716">
                  <a:moveTo>
                    <a:pt x="0" y="0"/>
                  </a:moveTo>
                  <a:lnTo>
                    <a:pt x="1899715" y="0"/>
                  </a:lnTo>
                  <a:lnTo>
                    <a:pt x="1899715" y="1776234"/>
                  </a:lnTo>
                  <a:lnTo>
                    <a:pt x="0" y="1776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 rot="0">
              <a:off x="0" y="-19050"/>
              <a:ext cx="2168603" cy="2591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</a:pPr>
              <a:r>
                <a:rPr lang="en-US" b="true" sz="118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TOBE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529004" y="448315"/>
            <a:ext cx="10644789" cy="9390369"/>
            <a:chOff x="0" y="0"/>
            <a:chExt cx="14193052" cy="1252049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1550099"/>
              <a:ext cx="14193052" cy="10970394"/>
              <a:chOff x="0" y="0"/>
              <a:chExt cx="2090433" cy="161578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090433" cy="1615782"/>
              </a:xfrm>
              <a:custGeom>
                <a:avLst/>
                <a:gdLst/>
                <a:ahLst/>
                <a:cxnLst/>
                <a:rect r="r" b="b" t="t" l="l"/>
                <a:pathLst>
                  <a:path h="1615782" w="2090433">
                    <a:moveTo>
                      <a:pt x="0" y="0"/>
                    </a:moveTo>
                    <a:lnTo>
                      <a:pt x="2090433" y="0"/>
                    </a:lnTo>
                    <a:lnTo>
                      <a:pt x="2090433" y="1615782"/>
                    </a:lnTo>
                    <a:lnTo>
                      <a:pt x="0" y="16157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DA6A">
                      <a:alpha val="100000"/>
                    </a:srgbClr>
                  </a:gs>
                  <a:gs pos="100000">
                    <a:srgbClr val="FFF7DE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090433" cy="1653882"/>
              </a:xfrm>
              <a:prstGeom prst="rect">
                <a:avLst/>
              </a:prstGeom>
            </p:spPr>
            <p:txBody>
              <a:bodyPr anchor="ctr" rtlCol="false" tIns="28475" lIns="28475" bIns="28475" rIns="28475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609652" y="2271498"/>
              <a:ext cx="12973748" cy="9527596"/>
            </a:xfrm>
            <a:custGeom>
              <a:avLst/>
              <a:gdLst/>
              <a:ahLst/>
              <a:cxnLst/>
              <a:rect r="r" b="b" t="t" l="l"/>
              <a:pathLst>
                <a:path h="9527596" w="12973748">
                  <a:moveTo>
                    <a:pt x="0" y="0"/>
                  </a:moveTo>
                  <a:lnTo>
                    <a:pt x="12973748" y="0"/>
                  </a:lnTo>
                  <a:lnTo>
                    <a:pt x="12973748" y="9527595"/>
                  </a:lnTo>
                  <a:lnTo>
                    <a:pt x="0" y="9527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-123825"/>
              <a:ext cx="14193052" cy="1673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723"/>
                </a:lnSpc>
              </a:pPr>
              <a:r>
                <a:rPr lang="en-US" b="true" sz="765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de Clases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68098" y="8517542"/>
            <a:ext cx="1149804" cy="1692121"/>
            <a:chOff x="0" y="0"/>
            <a:chExt cx="1533072" cy="225616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212366"/>
              <a:ext cx="1533072" cy="2043795"/>
              <a:chOff x="0" y="0"/>
              <a:chExt cx="1681903" cy="224220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681903" cy="2242208"/>
              </a:xfrm>
              <a:custGeom>
                <a:avLst/>
                <a:gdLst/>
                <a:ahLst/>
                <a:cxnLst/>
                <a:rect r="r" b="b" t="t" l="l"/>
                <a:pathLst>
                  <a:path h="2242208" w="1681903">
                    <a:moveTo>
                      <a:pt x="0" y="0"/>
                    </a:moveTo>
                    <a:lnTo>
                      <a:pt x="1681903" y="0"/>
                    </a:lnTo>
                    <a:lnTo>
                      <a:pt x="1681903" y="2242208"/>
                    </a:lnTo>
                    <a:lnTo>
                      <a:pt x="0" y="2242208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4A9FF">
                      <a:alpha val="100000"/>
                    </a:srgbClr>
                  </a:gs>
                  <a:gs pos="100000">
                    <a:srgbClr val="F5F8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681903" cy="2280308"/>
              </a:xfrm>
              <a:prstGeom prst="rect">
                <a:avLst/>
              </a:prstGeom>
            </p:spPr>
            <p:txBody>
              <a:bodyPr anchor="ctr" rtlCol="false" tIns="27904" lIns="27904" bIns="27904" rIns="2790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108315" y="297187"/>
              <a:ext cx="1316442" cy="1874154"/>
            </a:xfrm>
            <a:custGeom>
              <a:avLst/>
              <a:gdLst/>
              <a:ahLst/>
              <a:cxnLst/>
              <a:rect r="r" b="b" t="t" l="l"/>
              <a:pathLst>
                <a:path h="1874154" w="1316442">
                  <a:moveTo>
                    <a:pt x="0" y="0"/>
                  </a:moveTo>
                  <a:lnTo>
                    <a:pt x="1316442" y="0"/>
                  </a:lnTo>
                  <a:lnTo>
                    <a:pt x="1316442" y="1874153"/>
                  </a:lnTo>
                  <a:lnTo>
                    <a:pt x="0" y="1874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-19050"/>
              <a:ext cx="1533072" cy="2314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2"/>
                </a:lnSpc>
              </a:pPr>
              <a:r>
                <a:rPr lang="en-US" b="true" sz="104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Casos de Uso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96184" y="6410915"/>
            <a:ext cx="2128246" cy="2030427"/>
            <a:chOff x="0" y="0"/>
            <a:chExt cx="2837661" cy="2707236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348949" y="250308"/>
              <a:ext cx="2139763" cy="2456929"/>
              <a:chOff x="0" y="0"/>
              <a:chExt cx="3250378" cy="3732164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250378" cy="3732164"/>
              </a:xfrm>
              <a:custGeom>
                <a:avLst/>
                <a:gdLst/>
                <a:ahLst/>
                <a:cxnLst/>
                <a:rect r="r" b="b" t="t" l="l"/>
                <a:pathLst>
                  <a:path h="3732164" w="3250378">
                    <a:moveTo>
                      <a:pt x="0" y="0"/>
                    </a:moveTo>
                    <a:lnTo>
                      <a:pt x="3250378" y="0"/>
                    </a:lnTo>
                    <a:lnTo>
                      <a:pt x="3250378" y="3732164"/>
                    </a:lnTo>
                    <a:lnTo>
                      <a:pt x="0" y="373216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7CCE6B">
                      <a:alpha val="100000"/>
                    </a:srgbClr>
                  </a:gs>
                  <a:gs pos="100000">
                    <a:srgbClr val="D8FFD0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3250378" cy="3770264"/>
              </a:xfrm>
              <a:prstGeom prst="rect">
                <a:avLst/>
              </a:prstGeom>
            </p:spPr>
            <p:txBody>
              <a:bodyPr anchor="ctr" rtlCol="false" tIns="9492" lIns="9492" bIns="9492" rIns="949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507846" y="376349"/>
              <a:ext cx="1821969" cy="2204847"/>
            </a:xfrm>
            <a:custGeom>
              <a:avLst/>
              <a:gdLst/>
              <a:ahLst/>
              <a:cxnLst/>
              <a:rect r="r" b="b" t="t" l="l"/>
              <a:pathLst>
                <a:path h="2204847" w="1821969">
                  <a:moveTo>
                    <a:pt x="0" y="0"/>
                  </a:moveTo>
                  <a:lnTo>
                    <a:pt x="1821969" y="0"/>
                  </a:lnTo>
                  <a:lnTo>
                    <a:pt x="1821969" y="2204847"/>
                  </a:lnTo>
                  <a:lnTo>
                    <a:pt x="0" y="2204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-9525"/>
              <a:ext cx="2837661" cy="259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0"/>
                </a:lnSpc>
              </a:pPr>
              <a:r>
                <a:rPr lang="en-US" b="true" sz="125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Despliegue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3195193"/>
            <a:ext cx="2628599" cy="1304559"/>
            <a:chOff x="0" y="0"/>
            <a:chExt cx="3504799" cy="1739412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653678" y="263008"/>
              <a:ext cx="2197443" cy="1476404"/>
              <a:chOff x="0" y="0"/>
              <a:chExt cx="4319668" cy="290227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319668" cy="2902271"/>
              </a:xfrm>
              <a:custGeom>
                <a:avLst/>
                <a:gdLst/>
                <a:ahLst/>
                <a:cxnLst/>
                <a:rect r="r" b="b" t="t" l="l"/>
                <a:pathLst>
                  <a:path h="2902271" w="4319668">
                    <a:moveTo>
                      <a:pt x="0" y="0"/>
                    </a:moveTo>
                    <a:lnTo>
                      <a:pt x="4319668" y="0"/>
                    </a:lnTo>
                    <a:lnTo>
                      <a:pt x="4319668" y="2902271"/>
                    </a:lnTo>
                    <a:lnTo>
                      <a:pt x="0" y="290227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4319668" cy="2940371"/>
              </a:xfrm>
              <a:prstGeom prst="rect">
                <a:avLst/>
              </a:prstGeom>
            </p:spPr>
            <p:txBody>
              <a:bodyPr anchor="ctr" rtlCol="false" tIns="5105" lIns="5105" bIns="5105" rIns="510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717359" y="440241"/>
              <a:ext cx="2070082" cy="1121937"/>
            </a:xfrm>
            <a:custGeom>
              <a:avLst/>
              <a:gdLst/>
              <a:ahLst/>
              <a:cxnLst/>
              <a:rect r="r" b="b" t="t" l="l"/>
              <a:pathLst>
                <a:path h="1121937" w="2070082">
                  <a:moveTo>
                    <a:pt x="0" y="0"/>
                  </a:moveTo>
                  <a:lnTo>
                    <a:pt x="2070081" y="0"/>
                  </a:lnTo>
                  <a:lnTo>
                    <a:pt x="2070081" y="1121937"/>
                  </a:lnTo>
                  <a:lnTo>
                    <a:pt x="0" y="112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855" r="0" b="-85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0" y="-9525"/>
              <a:ext cx="3504799" cy="259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0"/>
                </a:lnSpc>
              </a:pPr>
              <a:r>
                <a:rPr lang="en-US" b="true" sz="125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MER (Modelo entidad-Relacion)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29773" y="4575952"/>
            <a:ext cx="1626452" cy="1725523"/>
            <a:chOff x="0" y="0"/>
            <a:chExt cx="2168603" cy="2300697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28840" y="250308"/>
              <a:ext cx="2139763" cy="2050390"/>
              <a:chOff x="0" y="0"/>
              <a:chExt cx="3250378" cy="3114616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3250378" cy="3114616"/>
              </a:xfrm>
              <a:custGeom>
                <a:avLst/>
                <a:gdLst/>
                <a:ahLst/>
                <a:cxnLst/>
                <a:rect r="r" b="b" t="t" l="l"/>
                <a:pathLst>
                  <a:path h="3114616" w="3250378">
                    <a:moveTo>
                      <a:pt x="0" y="0"/>
                    </a:moveTo>
                    <a:lnTo>
                      <a:pt x="3250378" y="0"/>
                    </a:lnTo>
                    <a:lnTo>
                      <a:pt x="3250378" y="3114616"/>
                    </a:lnTo>
                    <a:lnTo>
                      <a:pt x="0" y="311461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6767">
                      <a:alpha val="100000"/>
                    </a:srgbClr>
                  </a:gs>
                  <a:gs pos="100000">
                    <a:srgbClr val="FFD1D1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3250378" cy="3152716"/>
              </a:xfrm>
              <a:prstGeom prst="rect">
                <a:avLst/>
              </a:prstGeom>
            </p:spPr>
            <p:txBody>
              <a:bodyPr anchor="ctr" rtlCol="false" tIns="9492" lIns="9492" bIns="9492" rIns="949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155169" y="386941"/>
              <a:ext cx="1887104" cy="1777123"/>
            </a:xfrm>
            <a:custGeom>
              <a:avLst/>
              <a:gdLst/>
              <a:ahLst/>
              <a:cxnLst/>
              <a:rect r="r" b="b" t="t" l="l"/>
              <a:pathLst>
                <a:path h="1777123" w="1887104">
                  <a:moveTo>
                    <a:pt x="0" y="0"/>
                  </a:moveTo>
                  <a:lnTo>
                    <a:pt x="1887104" y="0"/>
                  </a:lnTo>
                  <a:lnTo>
                    <a:pt x="1887104" y="1777123"/>
                  </a:lnTo>
                  <a:lnTo>
                    <a:pt x="0" y="1777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0" y="-9525"/>
              <a:ext cx="2139763" cy="259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0"/>
                </a:lnSpc>
              </a:pPr>
              <a:r>
                <a:rPr lang="en-US" b="true" sz="125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Modelo Relacional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47081" y="77337"/>
            <a:ext cx="1643760" cy="1322430"/>
            <a:chOff x="0" y="0"/>
            <a:chExt cx="2191680" cy="1763240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251883"/>
              <a:ext cx="2191680" cy="1511356"/>
              <a:chOff x="0" y="0"/>
              <a:chExt cx="4690226" cy="3234323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690226" cy="3234323"/>
              </a:xfrm>
              <a:custGeom>
                <a:avLst/>
                <a:gdLst/>
                <a:ahLst/>
                <a:cxnLst/>
                <a:rect r="r" b="b" t="t" l="l"/>
                <a:pathLst>
                  <a:path h="3234323" w="4690226">
                    <a:moveTo>
                      <a:pt x="0" y="0"/>
                    </a:moveTo>
                    <a:lnTo>
                      <a:pt x="4690226" y="0"/>
                    </a:lnTo>
                    <a:lnTo>
                      <a:pt x="4690226" y="3234323"/>
                    </a:lnTo>
                    <a:lnTo>
                      <a:pt x="0" y="323432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7CCE6B">
                      <a:alpha val="100000"/>
                    </a:srgbClr>
                  </a:gs>
                  <a:gs pos="100000">
                    <a:srgbClr val="D8FFD0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4690226" cy="3272423"/>
              </a:xfrm>
              <a:prstGeom prst="rect">
                <a:avLst/>
              </a:prstGeom>
            </p:spPr>
            <p:txBody>
              <a:bodyPr anchor="ctr" rtlCol="false" tIns="4689" lIns="4689" bIns="4689" rIns="468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41" id="41"/>
            <p:cNvSpPr/>
            <p:nvPr/>
          </p:nvSpPr>
          <p:spPr>
            <a:xfrm flipH="false" flipV="false" rot="0">
              <a:off x="79593" y="349542"/>
              <a:ext cx="2032494" cy="1316040"/>
            </a:xfrm>
            <a:custGeom>
              <a:avLst/>
              <a:gdLst/>
              <a:ahLst/>
              <a:cxnLst/>
              <a:rect r="r" b="b" t="t" l="l"/>
              <a:pathLst>
                <a:path h="1316040" w="2032494">
                  <a:moveTo>
                    <a:pt x="0" y="0"/>
                  </a:moveTo>
                  <a:lnTo>
                    <a:pt x="2032494" y="0"/>
                  </a:lnTo>
                  <a:lnTo>
                    <a:pt x="2032494" y="1316039"/>
                  </a:lnTo>
                  <a:lnTo>
                    <a:pt x="0" y="1316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 rot="0">
              <a:off x="77179" y="-9525"/>
              <a:ext cx="2014244" cy="261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87"/>
                </a:lnSpc>
              </a:pPr>
              <a:r>
                <a:rPr lang="en-US" b="true" sz="125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AS-IS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47081" y="1475967"/>
            <a:ext cx="1626452" cy="1643026"/>
            <a:chOff x="0" y="0"/>
            <a:chExt cx="2168603" cy="2190702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269858"/>
              <a:ext cx="2168603" cy="1920844"/>
              <a:chOff x="0" y="0"/>
              <a:chExt cx="3981592" cy="3526702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3981592" cy="3526702"/>
              </a:xfrm>
              <a:custGeom>
                <a:avLst/>
                <a:gdLst/>
                <a:ahLst/>
                <a:cxnLst/>
                <a:rect r="r" b="b" t="t" l="l"/>
                <a:pathLst>
                  <a:path h="3526702" w="3981592">
                    <a:moveTo>
                      <a:pt x="0" y="0"/>
                    </a:moveTo>
                    <a:lnTo>
                      <a:pt x="3981592" y="0"/>
                    </a:lnTo>
                    <a:lnTo>
                      <a:pt x="3981592" y="3526702"/>
                    </a:lnTo>
                    <a:lnTo>
                      <a:pt x="0" y="352670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3981592" cy="3564802"/>
              </a:xfrm>
              <a:prstGeom prst="rect">
                <a:avLst/>
              </a:prstGeom>
            </p:spPr>
            <p:txBody>
              <a:bodyPr anchor="ctr" rtlCol="false" tIns="19783" lIns="19783" bIns="19783" rIns="19783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7" id="47"/>
            <p:cNvSpPr/>
            <p:nvPr/>
          </p:nvSpPr>
          <p:spPr>
            <a:xfrm flipH="false" flipV="false" rot="0">
              <a:off x="134444" y="342163"/>
              <a:ext cx="1899716" cy="1776234"/>
            </a:xfrm>
            <a:custGeom>
              <a:avLst/>
              <a:gdLst/>
              <a:ahLst/>
              <a:cxnLst/>
              <a:rect r="r" b="b" t="t" l="l"/>
              <a:pathLst>
                <a:path h="1776234" w="1899716">
                  <a:moveTo>
                    <a:pt x="0" y="0"/>
                  </a:moveTo>
                  <a:lnTo>
                    <a:pt x="1899715" y="0"/>
                  </a:lnTo>
                  <a:lnTo>
                    <a:pt x="1899715" y="1776234"/>
                  </a:lnTo>
                  <a:lnTo>
                    <a:pt x="0" y="1776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 rot="0">
              <a:off x="0" y="-19050"/>
              <a:ext cx="2168603" cy="2591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6"/>
                </a:lnSpc>
              </a:pPr>
              <a:r>
                <a:rPr lang="en-US" b="true" sz="118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TOBE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69148" y="6987206"/>
            <a:ext cx="1125100" cy="1655766"/>
            <a:chOff x="0" y="0"/>
            <a:chExt cx="1500134" cy="220768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207803"/>
              <a:ext cx="1500134" cy="1999884"/>
              <a:chOff x="0" y="0"/>
              <a:chExt cx="1681903" cy="224220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681903" cy="2242208"/>
              </a:xfrm>
              <a:custGeom>
                <a:avLst/>
                <a:gdLst/>
                <a:ahLst/>
                <a:cxnLst/>
                <a:rect r="r" b="b" t="t" l="l"/>
                <a:pathLst>
                  <a:path h="2242208" w="1681903">
                    <a:moveTo>
                      <a:pt x="0" y="0"/>
                    </a:moveTo>
                    <a:lnTo>
                      <a:pt x="1681903" y="0"/>
                    </a:lnTo>
                    <a:lnTo>
                      <a:pt x="1681903" y="2242208"/>
                    </a:lnTo>
                    <a:lnTo>
                      <a:pt x="0" y="2242208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4A9FF">
                      <a:alpha val="100000"/>
                    </a:srgbClr>
                  </a:gs>
                  <a:gs pos="100000">
                    <a:srgbClr val="F5F8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681903" cy="2280308"/>
              </a:xfrm>
              <a:prstGeom prst="rect">
                <a:avLst/>
              </a:prstGeom>
            </p:spPr>
            <p:txBody>
              <a:bodyPr anchor="ctr" rtlCol="false" tIns="27904" lIns="27904" bIns="27904" rIns="2790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05988" y="290802"/>
              <a:ext cx="1288158" cy="1833888"/>
            </a:xfrm>
            <a:custGeom>
              <a:avLst/>
              <a:gdLst/>
              <a:ahLst/>
              <a:cxnLst/>
              <a:rect r="r" b="b" t="t" l="l"/>
              <a:pathLst>
                <a:path h="1833888" w="1288158">
                  <a:moveTo>
                    <a:pt x="0" y="0"/>
                  </a:moveTo>
                  <a:lnTo>
                    <a:pt x="1288158" y="0"/>
                  </a:lnTo>
                  <a:lnTo>
                    <a:pt x="1288158" y="1833887"/>
                  </a:lnTo>
                  <a:lnTo>
                    <a:pt x="0" y="1833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-28575"/>
              <a:ext cx="1500134" cy="2363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b="true" sz="102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Casos de Uso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73502" y="4925840"/>
            <a:ext cx="2082521" cy="1986804"/>
            <a:chOff x="0" y="0"/>
            <a:chExt cx="2776694" cy="264907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341452" y="244930"/>
              <a:ext cx="2093791" cy="2404142"/>
              <a:chOff x="0" y="0"/>
              <a:chExt cx="3250378" cy="373216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250378" cy="3732164"/>
              </a:xfrm>
              <a:custGeom>
                <a:avLst/>
                <a:gdLst/>
                <a:ahLst/>
                <a:cxnLst/>
                <a:rect r="r" b="b" t="t" l="l"/>
                <a:pathLst>
                  <a:path h="3732164" w="3250378">
                    <a:moveTo>
                      <a:pt x="0" y="0"/>
                    </a:moveTo>
                    <a:lnTo>
                      <a:pt x="3250378" y="0"/>
                    </a:lnTo>
                    <a:lnTo>
                      <a:pt x="3250378" y="3732164"/>
                    </a:lnTo>
                    <a:lnTo>
                      <a:pt x="0" y="373216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7CCE6B">
                      <a:alpha val="100000"/>
                    </a:srgbClr>
                  </a:gs>
                  <a:gs pos="100000">
                    <a:srgbClr val="D8FFD0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3250378" cy="3770264"/>
              </a:xfrm>
              <a:prstGeom prst="rect">
                <a:avLst/>
              </a:prstGeom>
            </p:spPr>
            <p:txBody>
              <a:bodyPr anchor="ctr" rtlCol="false" tIns="9492" lIns="9492" bIns="9492" rIns="949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496935" y="368263"/>
              <a:ext cx="1782824" cy="2157476"/>
            </a:xfrm>
            <a:custGeom>
              <a:avLst/>
              <a:gdLst/>
              <a:ahLst/>
              <a:cxnLst/>
              <a:rect r="r" b="b" t="t" l="l"/>
              <a:pathLst>
                <a:path h="2157476" w="1782824">
                  <a:moveTo>
                    <a:pt x="0" y="0"/>
                  </a:moveTo>
                  <a:lnTo>
                    <a:pt x="1782824" y="0"/>
                  </a:lnTo>
                  <a:lnTo>
                    <a:pt x="1782824" y="2157476"/>
                  </a:lnTo>
                  <a:lnTo>
                    <a:pt x="0" y="2157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-19050"/>
              <a:ext cx="2776694" cy="263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b="true" sz="122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Despliegue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1811734"/>
            <a:ext cx="2572124" cy="1276530"/>
            <a:chOff x="0" y="0"/>
            <a:chExt cx="3429498" cy="170204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639634" y="257357"/>
              <a:ext cx="2150231" cy="1444684"/>
              <a:chOff x="0" y="0"/>
              <a:chExt cx="4319668" cy="290227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319668" cy="2902271"/>
              </a:xfrm>
              <a:custGeom>
                <a:avLst/>
                <a:gdLst/>
                <a:ahLst/>
                <a:cxnLst/>
                <a:rect r="r" b="b" t="t" l="l"/>
                <a:pathLst>
                  <a:path h="2902271" w="4319668">
                    <a:moveTo>
                      <a:pt x="0" y="0"/>
                    </a:moveTo>
                    <a:lnTo>
                      <a:pt x="4319668" y="0"/>
                    </a:lnTo>
                    <a:lnTo>
                      <a:pt x="4319668" y="2902271"/>
                    </a:lnTo>
                    <a:lnTo>
                      <a:pt x="0" y="290227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4319668" cy="2940371"/>
              </a:xfrm>
              <a:prstGeom prst="rect">
                <a:avLst/>
              </a:prstGeom>
            </p:spPr>
            <p:txBody>
              <a:bodyPr anchor="ctr" rtlCol="false" tIns="5105" lIns="5105" bIns="5105" rIns="510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701946" y="430782"/>
              <a:ext cx="2025606" cy="1097832"/>
            </a:xfrm>
            <a:custGeom>
              <a:avLst/>
              <a:gdLst/>
              <a:ahLst/>
              <a:cxnLst/>
              <a:rect r="r" b="b" t="t" l="l"/>
              <a:pathLst>
                <a:path h="1097832" w="2025606">
                  <a:moveTo>
                    <a:pt x="0" y="0"/>
                  </a:moveTo>
                  <a:lnTo>
                    <a:pt x="2025606" y="0"/>
                  </a:lnTo>
                  <a:lnTo>
                    <a:pt x="2025606" y="1097833"/>
                  </a:lnTo>
                  <a:lnTo>
                    <a:pt x="0" y="1097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55" r="0" b="-85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-19050"/>
              <a:ext cx="3429498" cy="263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b="true" sz="122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MER (Modelo entidad-Relacion)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19008" y="3162827"/>
            <a:ext cx="1591508" cy="1688450"/>
            <a:chOff x="0" y="0"/>
            <a:chExt cx="2122011" cy="225126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28220" y="244930"/>
              <a:ext cx="2093791" cy="2006337"/>
              <a:chOff x="0" y="0"/>
              <a:chExt cx="3250378" cy="3114616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250378" cy="3114616"/>
              </a:xfrm>
              <a:custGeom>
                <a:avLst/>
                <a:gdLst/>
                <a:ahLst/>
                <a:cxnLst/>
                <a:rect r="r" b="b" t="t" l="l"/>
                <a:pathLst>
                  <a:path h="3114616" w="3250378">
                    <a:moveTo>
                      <a:pt x="0" y="0"/>
                    </a:moveTo>
                    <a:lnTo>
                      <a:pt x="3250378" y="0"/>
                    </a:lnTo>
                    <a:lnTo>
                      <a:pt x="3250378" y="3114616"/>
                    </a:lnTo>
                    <a:lnTo>
                      <a:pt x="0" y="311461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6767">
                      <a:alpha val="100000"/>
                    </a:srgbClr>
                  </a:gs>
                  <a:gs pos="100000">
                    <a:srgbClr val="FFD1D1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3250378" cy="3152716"/>
              </a:xfrm>
              <a:prstGeom prst="rect">
                <a:avLst/>
              </a:prstGeom>
            </p:spPr>
            <p:txBody>
              <a:bodyPr anchor="ctr" rtlCol="false" tIns="9492" lIns="9492" bIns="9492" rIns="949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151836" y="378628"/>
              <a:ext cx="1846560" cy="1738941"/>
            </a:xfrm>
            <a:custGeom>
              <a:avLst/>
              <a:gdLst/>
              <a:ahLst/>
              <a:cxnLst/>
              <a:rect r="r" b="b" t="t" l="l"/>
              <a:pathLst>
                <a:path h="1738941" w="1846560">
                  <a:moveTo>
                    <a:pt x="0" y="0"/>
                  </a:moveTo>
                  <a:lnTo>
                    <a:pt x="1846559" y="0"/>
                  </a:lnTo>
                  <a:lnTo>
                    <a:pt x="1846559" y="1738941"/>
                  </a:lnTo>
                  <a:lnTo>
                    <a:pt x="0" y="1738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0" y="-19050"/>
              <a:ext cx="2093791" cy="263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b="true" sz="122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Modelo Relacional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351139" y="791436"/>
            <a:ext cx="10819099" cy="8704128"/>
            <a:chOff x="0" y="0"/>
            <a:chExt cx="14425465" cy="11605504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1657876"/>
              <a:ext cx="14425465" cy="9947628"/>
              <a:chOff x="0" y="0"/>
              <a:chExt cx="4690226" cy="3234323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690226" cy="3234323"/>
              </a:xfrm>
              <a:custGeom>
                <a:avLst/>
                <a:gdLst/>
                <a:ahLst/>
                <a:cxnLst/>
                <a:rect r="r" b="b" t="t" l="l"/>
                <a:pathLst>
                  <a:path h="3234323" w="4690226">
                    <a:moveTo>
                      <a:pt x="0" y="0"/>
                    </a:moveTo>
                    <a:lnTo>
                      <a:pt x="4690226" y="0"/>
                    </a:lnTo>
                    <a:lnTo>
                      <a:pt x="4690226" y="3234323"/>
                    </a:lnTo>
                    <a:lnTo>
                      <a:pt x="0" y="323432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7CCE6B">
                      <a:alpha val="100000"/>
                    </a:srgbClr>
                  </a:gs>
                  <a:gs pos="100000">
                    <a:srgbClr val="D8FFD0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4690226" cy="3272423"/>
              </a:xfrm>
              <a:prstGeom prst="rect">
                <a:avLst/>
              </a:prstGeom>
            </p:spPr>
            <p:txBody>
              <a:bodyPr anchor="ctr" rtlCol="false" tIns="4689" lIns="4689" bIns="4689" rIns="468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523876" y="2300655"/>
              <a:ext cx="13377714" cy="8662070"/>
            </a:xfrm>
            <a:custGeom>
              <a:avLst/>
              <a:gdLst/>
              <a:ahLst/>
              <a:cxnLst/>
              <a:rect r="r" b="b" t="t" l="l"/>
              <a:pathLst>
                <a:path h="8662070" w="13377714">
                  <a:moveTo>
                    <a:pt x="0" y="0"/>
                  </a:moveTo>
                  <a:lnTo>
                    <a:pt x="13377714" y="0"/>
                  </a:lnTo>
                  <a:lnTo>
                    <a:pt x="13377714" y="8662070"/>
                  </a:lnTo>
                  <a:lnTo>
                    <a:pt x="0" y="8662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507989" y="-133350"/>
              <a:ext cx="13257596" cy="1791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48"/>
                </a:lnSpc>
              </a:pPr>
              <a:r>
                <a:rPr lang="en-US" b="true" sz="8227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AS-IS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35944" y="129445"/>
            <a:ext cx="1591508" cy="1607726"/>
            <a:chOff x="0" y="0"/>
            <a:chExt cx="2122011" cy="2143635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264060"/>
              <a:ext cx="2122011" cy="1879574"/>
              <a:chOff x="0" y="0"/>
              <a:chExt cx="3981592" cy="3526702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3981592" cy="3526702"/>
              </a:xfrm>
              <a:custGeom>
                <a:avLst/>
                <a:gdLst/>
                <a:ahLst/>
                <a:cxnLst/>
                <a:rect r="r" b="b" t="t" l="l"/>
                <a:pathLst>
                  <a:path h="3526702" w="3981592">
                    <a:moveTo>
                      <a:pt x="0" y="0"/>
                    </a:moveTo>
                    <a:lnTo>
                      <a:pt x="3981592" y="0"/>
                    </a:lnTo>
                    <a:lnTo>
                      <a:pt x="3981592" y="3526702"/>
                    </a:lnTo>
                    <a:lnTo>
                      <a:pt x="0" y="352670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3981592" cy="3564802"/>
              </a:xfrm>
              <a:prstGeom prst="rect">
                <a:avLst/>
              </a:prstGeom>
            </p:spPr>
            <p:txBody>
              <a:bodyPr anchor="ctr" rtlCol="false" tIns="19783" lIns="19783" bIns="19783" rIns="19783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1" id="41"/>
            <p:cNvSpPr/>
            <p:nvPr/>
          </p:nvSpPr>
          <p:spPr>
            <a:xfrm flipH="false" flipV="false" rot="0">
              <a:off x="131555" y="334812"/>
              <a:ext cx="1858900" cy="1738072"/>
            </a:xfrm>
            <a:custGeom>
              <a:avLst/>
              <a:gdLst/>
              <a:ahLst/>
              <a:cxnLst/>
              <a:rect r="r" b="b" t="t" l="l"/>
              <a:pathLst>
                <a:path h="1738072" w="1858900">
                  <a:moveTo>
                    <a:pt x="0" y="0"/>
                  </a:moveTo>
                  <a:lnTo>
                    <a:pt x="1858900" y="0"/>
                  </a:lnTo>
                  <a:lnTo>
                    <a:pt x="1858900" y="1738071"/>
                  </a:lnTo>
                  <a:lnTo>
                    <a:pt x="0" y="1738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 rot="0">
              <a:off x="0" y="-9525"/>
              <a:ext cx="2122011" cy="244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73"/>
                </a:lnSpc>
              </a:pPr>
              <a:r>
                <a:rPr lang="en-US" b="true" sz="116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TOBE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85136" y="8717535"/>
            <a:ext cx="1625380" cy="1440020"/>
            <a:chOff x="0" y="0"/>
            <a:chExt cx="2167173" cy="1920027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244930"/>
              <a:ext cx="2167173" cy="1675097"/>
              <a:chOff x="0" y="0"/>
              <a:chExt cx="2090433" cy="1615782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090433" cy="1615782"/>
              </a:xfrm>
              <a:custGeom>
                <a:avLst/>
                <a:gdLst/>
                <a:ahLst/>
                <a:cxnLst/>
                <a:rect r="r" b="b" t="t" l="l"/>
                <a:pathLst>
                  <a:path h="1615782" w="2090433">
                    <a:moveTo>
                      <a:pt x="0" y="0"/>
                    </a:moveTo>
                    <a:lnTo>
                      <a:pt x="2090433" y="0"/>
                    </a:lnTo>
                    <a:lnTo>
                      <a:pt x="2090433" y="1615782"/>
                    </a:lnTo>
                    <a:lnTo>
                      <a:pt x="0" y="16157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DA6A">
                      <a:alpha val="100000"/>
                    </a:srgbClr>
                  </a:gs>
                  <a:gs pos="100000">
                    <a:srgbClr val="FFF7DE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2090433" cy="1653882"/>
              </a:xfrm>
              <a:prstGeom prst="rect">
                <a:avLst/>
              </a:prstGeom>
            </p:spPr>
            <p:txBody>
              <a:bodyPr anchor="ctr" rtlCol="false" tIns="15276" lIns="15276" bIns="15276" rIns="1527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47" id="47"/>
            <p:cNvSpPr/>
            <p:nvPr/>
          </p:nvSpPr>
          <p:spPr>
            <a:xfrm flipH="false" flipV="false" rot="0">
              <a:off x="93089" y="355082"/>
              <a:ext cx="1980994" cy="1454793"/>
            </a:xfrm>
            <a:custGeom>
              <a:avLst/>
              <a:gdLst/>
              <a:ahLst/>
              <a:cxnLst/>
              <a:rect r="r" b="b" t="t" l="l"/>
              <a:pathLst>
                <a:path h="1454793" w="1980994">
                  <a:moveTo>
                    <a:pt x="0" y="0"/>
                  </a:moveTo>
                  <a:lnTo>
                    <a:pt x="1980995" y="0"/>
                  </a:lnTo>
                  <a:lnTo>
                    <a:pt x="1980995" y="1454793"/>
                  </a:lnTo>
                  <a:lnTo>
                    <a:pt x="0" y="1454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 rot="0">
              <a:off x="0" y="-19050"/>
              <a:ext cx="2167173" cy="263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b="true" sz="122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de Clases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69148" y="5446747"/>
            <a:ext cx="1125100" cy="1655766"/>
            <a:chOff x="0" y="0"/>
            <a:chExt cx="1500134" cy="220768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207803"/>
              <a:ext cx="1500134" cy="1999884"/>
              <a:chOff x="0" y="0"/>
              <a:chExt cx="1681903" cy="224220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681903" cy="2242208"/>
              </a:xfrm>
              <a:custGeom>
                <a:avLst/>
                <a:gdLst/>
                <a:ahLst/>
                <a:cxnLst/>
                <a:rect r="r" b="b" t="t" l="l"/>
                <a:pathLst>
                  <a:path h="2242208" w="1681903">
                    <a:moveTo>
                      <a:pt x="0" y="0"/>
                    </a:moveTo>
                    <a:lnTo>
                      <a:pt x="1681903" y="0"/>
                    </a:lnTo>
                    <a:lnTo>
                      <a:pt x="1681903" y="2242208"/>
                    </a:lnTo>
                    <a:lnTo>
                      <a:pt x="0" y="2242208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4A9FF">
                      <a:alpha val="100000"/>
                    </a:srgbClr>
                  </a:gs>
                  <a:gs pos="100000">
                    <a:srgbClr val="F5F8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681903" cy="2280308"/>
              </a:xfrm>
              <a:prstGeom prst="rect">
                <a:avLst/>
              </a:prstGeom>
            </p:spPr>
            <p:txBody>
              <a:bodyPr anchor="ctr" rtlCol="false" tIns="27904" lIns="27904" bIns="27904" rIns="2790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05988" y="290802"/>
              <a:ext cx="1288158" cy="1833888"/>
            </a:xfrm>
            <a:custGeom>
              <a:avLst/>
              <a:gdLst/>
              <a:ahLst/>
              <a:cxnLst/>
              <a:rect r="r" b="b" t="t" l="l"/>
              <a:pathLst>
                <a:path h="1833888" w="1288158">
                  <a:moveTo>
                    <a:pt x="0" y="0"/>
                  </a:moveTo>
                  <a:lnTo>
                    <a:pt x="1288158" y="0"/>
                  </a:lnTo>
                  <a:lnTo>
                    <a:pt x="1288158" y="1833887"/>
                  </a:lnTo>
                  <a:lnTo>
                    <a:pt x="0" y="1833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-28575"/>
              <a:ext cx="1500134" cy="2363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b="true" sz="102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Casos de Uso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73502" y="3385381"/>
            <a:ext cx="2082521" cy="1986804"/>
            <a:chOff x="0" y="0"/>
            <a:chExt cx="2776694" cy="264907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341452" y="244930"/>
              <a:ext cx="2093791" cy="2404142"/>
              <a:chOff x="0" y="0"/>
              <a:chExt cx="3250378" cy="373216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250378" cy="3732164"/>
              </a:xfrm>
              <a:custGeom>
                <a:avLst/>
                <a:gdLst/>
                <a:ahLst/>
                <a:cxnLst/>
                <a:rect r="r" b="b" t="t" l="l"/>
                <a:pathLst>
                  <a:path h="3732164" w="3250378">
                    <a:moveTo>
                      <a:pt x="0" y="0"/>
                    </a:moveTo>
                    <a:lnTo>
                      <a:pt x="3250378" y="0"/>
                    </a:lnTo>
                    <a:lnTo>
                      <a:pt x="3250378" y="3732164"/>
                    </a:lnTo>
                    <a:lnTo>
                      <a:pt x="0" y="373216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7CCE6B">
                      <a:alpha val="100000"/>
                    </a:srgbClr>
                  </a:gs>
                  <a:gs pos="100000">
                    <a:srgbClr val="D8FFD0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3250378" cy="3770264"/>
              </a:xfrm>
              <a:prstGeom prst="rect">
                <a:avLst/>
              </a:prstGeom>
            </p:spPr>
            <p:txBody>
              <a:bodyPr anchor="ctr" rtlCol="false" tIns="9492" lIns="9492" bIns="9492" rIns="949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496935" y="368263"/>
              <a:ext cx="1782824" cy="2157476"/>
            </a:xfrm>
            <a:custGeom>
              <a:avLst/>
              <a:gdLst/>
              <a:ahLst/>
              <a:cxnLst/>
              <a:rect r="r" b="b" t="t" l="l"/>
              <a:pathLst>
                <a:path h="2157476" w="1782824">
                  <a:moveTo>
                    <a:pt x="0" y="0"/>
                  </a:moveTo>
                  <a:lnTo>
                    <a:pt x="1782824" y="0"/>
                  </a:lnTo>
                  <a:lnTo>
                    <a:pt x="1782824" y="2157476"/>
                  </a:lnTo>
                  <a:lnTo>
                    <a:pt x="0" y="2157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-19050"/>
              <a:ext cx="2776694" cy="263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b="true" sz="122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Despliegue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271275"/>
            <a:ext cx="2572124" cy="1276530"/>
            <a:chOff x="0" y="0"/>
            <a:chExt cx="3429498" cy="170204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639634" y="257357"/>
              <a:ext cx="2150231" cy="1444684"/>
              <a:chOff x="0" y="0"/>
              <a:chExt cx="4319668" cy="290227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319668" cy="2902271"/>
              </a:xfrm>
              <a:custGeom>
                <a:avLst/>
                <a:gdLst/>
                <a:ahLst/>
                <a:cxnLst/>
                <a:rect r="r" b="b" t="t" l="l"/>
                <a:pathLst>
                  <a:path h="2902271" w="4319668">
                    <a:moveTo>
                      <a:pt x="0" y="0"/>
                    </a:moveTo>
                    <a:lnTo>
                      <a:pt x="4319668" y="0"/>
                    </a:lnTo>
                    <a:lnTo>
                      <a:pt x="4319668" y="2902271"/>
                    </a:lnTo>
                    <a:lnTo>
                      <a:pt x="0" y="290227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4319668" cy="2940371"/>
              </a:xfrm>
              <a:prstGeom prst="rect">
                <a:avLst/>
              </a:prstGeom>
            </p:spPr>
            <p:txBody>
              <a:bodyPr anchor="ctr" rtlCol="false" tIns="5105" lIns="5105" bIns="5105" rIns="510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701946" y="430782"/>
              <a:ext cx="2025606" cy="1097832"/>
            </a:xfrm>
            <a:custGeom>
              <a:avLst/>
              <a:gdLst/>
              <a:ahLst/>
              <a:cxnLst/>
              <a:rect r="r" b="b" t="t" l="l"/>
              <a:pathLst>
                <a:path h="1097832" w="2025606">
                  <a:moveTo>
                    <a:pt x="0" y="0"/>
                  </a:moveTo>
                  <a:lnTo>
                    <a:pt x="2025606" y="0"/>
                  </a:lnTo>
                  <a:lnTo>
                    <a:pt x="2025606" y="1097833"/>
                  </a:lnTo>
                  <a:lnTo>
                    <a:pt x="0" y="1097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55" r="0" b="-85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-19050"/>
              <a:ext cx="3429498" cy="263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b="true" sz="122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MER (Modelo entidad-Relacion)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19008" y="1622368"/>
            <a:ext cx="1591508" cy="1688450"/>
            <a:chOff x="0" y="0"/>
            <a:chExt cx="2122011" cy="225126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28220" y="244930"/>
              <a:ext cx="2093791" cy="2006337"/>
              <a:chOff x="0" y="0"/>
              <a:chExt cx="3250378" cy="3114616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250378" cy="3114616"/>
              </a:xfrm>
              <a:custGeom>
                <a:avLst/>
                <a:gdLst/>
                <a:ahLst/>
                <a:cxnLst/>
                <a:rect r="r" b="b" t="t" l="l"/>
                <a:pathLst>
                  <a:path h="3114616" w="3250378">
                    <a:moveTo>
                      <a:pt x="0" y="0"/>
                    </a:moveTo>
                    <a:lnTo>
                      <a:pt x="3250378" y="0"/>
                    </a:lnTo>
                    <a:lnTo>
                      <a:pt x="3250378" y="3114616"/>
                    </a:lnTo>
                    <a:lnTo>
                      <a:pt x="0" y="311461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6767">
                      <a:alpha val="100000"/>
                    </a:srgbClr>
                  </a:gs>
                  <a:gs pos="100000">
                    <a:srgbClr val="FFD1D1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3250378" cy="3152716"/>
              </a:xfrm>
              <a:prstGeom prst="rect">
                <a:avLst/>
              </a:prstGeom>
            </p:spPr>
            <p:txBody>
              <a:bodyPr anchor="ctr" rtlCol="false" tIns="9492" lIns="9492" bIns="9492" rIns="949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151836" y="378628"/>
              <a:ext cx="1846560" cy="1738941"/>
            </a:xfrm>
            <a:custGeom>
              <a:avLst/>
              <a:gdLst/>
              <a:ahLst/>
              <a:cxnLst/>
              <a:rect r="r" b="b" t="t" l="l"/>
              <a:pathLst>
                <a:path h="1738941" w="1846560">
                  <a:moveTo>
                    <a:pt x="0" y="0"/>
                  </a:moveTo>
                  <a:lnTo>
                    <a:pt x="1846559" y="0"/>
                  </a:lnTo>
                  <a:lnTo>
                    <a:pt x="1846559" y="1738941"/>
                  </a:lnTo>
                  <a:lnTo>
                    <a:pt x="0" y="1738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0" y="-19050"/>
              <a:ext cx="2093791" cy="263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b="true" sz="122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Modelo Relacional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668745" y="433179"/>
            <a:ext cx="9325611" cy="9420642"/>
            <a:chOff x="0" y="0"/>
            <a:chExt cx="12434148" cy="12560856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1547289"/>
              <a:ext cx="12434148" cy="11013567"/>
              <a:chOff x="0" y="0"/>
              <a:chExt cx="3981592" cy="352670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3981592" cy="3526702"/>
              </a:xfrm>
              <a:custGeom>
                <a:avLst/>
                <a:gdLst/>
                <a:ahLst/>
                <a:cxnLst/>
                <a:rect r="r" b="b" t="t" l="l"/>
                <a:pathLst>
                  <a:path h="3526702" w="3981592">
                    <a:moveTo>
                      <a:pt x="0" y="0"/>
                    </a:moveTo>
                    <a:lnTo>
                      <a:pt x="3981592" y="0"/>
                    </a:lnTo>
                    <a:lnTo>
                      <a:pt x="3981592" y="3526702"/>
                    </a:lnTo>
                    <a:lnTo>
                      <a:pt x="0" y="352670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3981592" cy="3564802"/>
              </a:xfrm>
              <a:prstGeom prst="rect">
                <a:avLst/>
              </a:prstGeom>
            </p:spPr>
            <p:txBody>
              <a:bodyPr anchor="ctr" rtlCol="false" tIns="19783" lIns="19783" bIns="19783" rIns="19783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770862" y="1961864"/>
              <a:ext cx="10892425" cy="10184417"/>
            </a:xfrm>
            <a:custGeom>
              <a:avLst/>
              <a:gdLst/>
              <a:ahLst/>
              <a:cxnLst/>
              <a:rect r="r" b="b" t="t" l="l"/>
              <a:pathLst>
                <a:path h="10184417" w="10892425">
                  <a:moveTo>
                    <a:pt x="0" y="0"/>
                  </a:moveTo>
                  <a:lnTo>
                    <a:pt x="10892424" y="0"/>
                  </a:lnTo>
                  <a:lnTo>
                    <a:pt x="10892424" y="10184417"/>
                  </a:lnTo>
                  <a:lnTo>
                    <a:pt x="0" y="10184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0" y="-114300"/>
              <a:ext cx="12434148" cy="14911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36"/>
                </a:lnSpc>
              </a:pPr>
              <a:r>
                <a:rPr lang="en-US" b="true" sz="68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TOBE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85136" y="7177076"/>
            <a:ext cx="1625380" cy="1440020"/>
            <a:chOff x="0" y="0"/>
            <a:chExt cx="2167173" cy="1920027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244930"/>
              <a:ext cx="2167173" cy="1675097"/>
              <a:chOff x="0" y="0"/>
              <a:chExt cx="2090433" cy="1615782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090433" cy="1615782"/>
              </a:xfrm>
              <a:custGeom>
                <a:avLst/>
                <a:gdLst/>
                <a:ahLst/>
                <a:cxnLst/>
                <a:rect r="r" b="b" t="t" l="l"/>
                <a:pathLst>
                  <a:path h="1615782" w="2090433">
                    <a:moveTo>
                      <a:pt x="0" y="0"/>
                    </a:moveTo>
                    <a:lnTo>
                      <a:pt x="2090433" y="0"/>
                    </a:lnTo>
                    <a:lnTo>
                      <a:pt x="2090433" y="1615782"/>
                    </a:lnTo>
                    <a:lnTo>
                      <a:pt x="0" y="16157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DA6A">
                      <a:alpha val="100000"/>
                    </a:srgbClr>
                  </a:gs>
                  <a:gs pos="100000">
                    <a:srgbClr val="FFF7DE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2090433" cy="1653882"/>
              </a:xfrm>
              <a:prstGeom prst="rect">
                <a:avLst/>
              </a:prstGeom>
            </p:spPr>
            <p:txBody>
              <a:bodyPr anchor="ctr" rtlCol="false" tIns="15276" lIns="15276" bIns="15276" rIns="1527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41" id="41"/>
            <p:cNvSpPr/>
            <p:nvPr/>
          </p:nvSpPr>
          <p:spPr>
            <a:xfrm flipH="false" flipV="false" rot="0">
              <a:off x="93089" y="355082"/>
              <a:ext cx="1980994" cy="1454793"/>
            </a:xfrm>
            <a:custGeom>
              <a:avLst/>
              <a:gdLst/>
              <a:ahLst/>
              <a:cxnLst/>
              <a:rect r="r" b="b" t="t" l="l"/>
              <a:pathLst>
                <a:path h="1454793" w="1980994">
                  <a:moveTo>
                    <a:pt x="0" y="0"/>
                  </a:moveTo>
                  <a:lnTo>
                    <a:pt x="1980995" y="0"/>
                  </a:lnTo>
                  <a:lnTo>
                    <a:pt x="1980995" y="1454793"/>
                  </a:lnTo>
                  <a:lnTo>
                    <a:pt x="0" y="1454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 rot="0">
              <a:off x="0" y="-19050"/>
              <a:ext cx="2167173" cy="263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b="true" sz="122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de Clases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66756" y="8693296"/>
            <a:ext cx="1643760" cy="1322430"/>
            <a:chOff x="0" y="0"/>
            <a:chExt cx="2191680" cy="1763240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251883"/>
              <a:ext cx="2191680" cy="1511356"/>
              <a:chOff x="0" y="0"/>
              <a:chExt cx="4690226" cy="3234323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690226" cy="3234323"/>
              </a:xfrm>
              <a:custGeom>
                <a:avLst/>
                <a:gdLst/>
                <a:ahLst/>
                <a:cxnLst/>
                <a:rect r="r" b="b" t="t" l="l"/>
                <a:pathLst>
                  <a:path h="3234323" w="4690226">
                    <a:moveTo>
                      <a:pt x="0" y="0"/>
                    </a:moveTo>
                    <a:lnTo>
                      <a:pt x="4690226" y="0"/>
                    </a:lnTo>
                    <a:lnTo>
                      <a:pt x="4690226" y="3234323"/>
                    </a:lnTo>
                    <a:lnTo>
                      <a:pt x="0" y="323432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7CCE6B">
                      <a:alpha val="100000"/>
                    </a:srgbClr>
                  </a:gs>
                  <a:gs pos="100000">
                    <a:srgbClr val="D8FFD0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4690226" cy="3272423"/>
              </a:xfrm>
              <a:prstGeom prst="rect">
                <a:avLst/>
              </a:prstGeom>
            </p:spPr>
            <p:txBody>
              <a:bodyPr anchor="ctr" rtlCol="false" tIns="4689" lIns="4689" bIns="4689" rIns="468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47" id="47"/>
            <p:cNvSpPr/>
            <p:nvPr/>
          </p:nvSpPr>
          <p:spPr>
            <a:xfrm flipH="false" flipV="false" rot="0">
              <a:off x="79593" y="349542"/>
              <a:ext cx="2032494" cy="1316040"/>
            </a:xfrm>
            <a:custGeom>
              <a:avLst/>
              <a:gdLst/>
              <a:ahLst/>
              <a:cxnLst/>
              <a:rect r="r" b="b" t="t" l="l"/>
              <a:pathLst>
                <a:path h="1316040" w="2032494">
                  <a:moveTo>
                    <a:pt x="0" y="0"/>
                  </a:moveTo>
                  <a:lnTo>
                    <a:pt x="2032494" y="0"/>
                  </a:lnTo>
                  <a:lnTo>
                    <a:pt x="2032494" y="1316039"/>
                  </a:lnTo>
                  <a:lnTo>
                    <a:pt x="0" y="1316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 rot="0">
              <a:off x="77179" y="-9525"/>
              <a:ext cx="2014244" cy="261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87"/>
                </a:lnSpc>
              </a:pPr>
              <a:r>
                <a:rPr lang="en-US" b="true" sz="125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AS-IS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048163" y="1354073"/>
            <a:ext cx="13827104" cy="7578854"/>
            <a:chOff x="0" y="0"/>
            <a:chExt cx="18436139" cy="1010513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684376" y="1325506"/>
              <a:ext cx="13067386" cy="8779633"/>
              <a:chOff x="0" y="0"/>
              <a:chExt cx="4319668" cy="290227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319668" cy="2902271"/>
              </a:xfrm>
              <a:custGeom>
                <a:avLst/>
                <a:gdLst/>
                <a:ahLst/>
                <a:cxnLst/>
                <a:rect r="r" b="b" t="t" l="l"/>
                <a:pathLst>
                  <a:path h="2902271" w="4319668">
                    <a:moveTo>
                      <a:pt x="0" y="0"/>
                    </a:moveTo>
                    <a:lnTo>
                      <a:pt x="4319668" y="0"/>
                    </a:lnTo>
                    <a:lnTo>
                      <a:pt x="4319668" y="2902271"/>
                    </a:lnTo>
                    <a:lnTo>
                      <a:pt x="0" y="290227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319668" cy="2940371"/>
              </a:xfrm>
              <a:prstGeom prst="rect">
                <a:avLst/>
              </a:prstGeom>
            </p:spPr>
            <p:txBody>
              <a:bodyPr anchor="ctr" rtlCol="false" tIns="14746" lIns="14746" bIns="14746" rIns="1474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3063061" y="2379448"/>
              <a:ext cx="12310016" cy="6671748"/>
            </a:xfrm>
            <a:custGeom>
              <a:avLst/>
              <a:gdLst/>
              <a:ahLst/>
              <a:cxnLst/>
              <a:rect r="r" b="b" t="t" l="l"/>
              <a:pathLst>
                <a:path h="6671748" w="12310016">
                  <a:moveTo>
                    <a:pt x="0" y="0"/>
                  </a:moveTo>
                  <a:lnTo>
                    <a:pt x="12310016" y="0"/>
                  </a:lnTo>
                  <a:lnTo>
                    <a:pt x="12310016" y="6671748"/>
                  </a:lnTo>
                  <a:lnTo>
                    <a:pt x="0" y="6671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55" r="0" b="-85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-95250"/>
              <a:ext cx="18436139" cy="1428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366"/>
                </a:lnSpc>
              </a:pPr>
              <a:r>
                <a:rPr lang="en-US" b="true" sz="6587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MER (Modelo entidad-Relacion)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24346" y="3929238"/>
            <a:ext cx="1125100" cy="1655766"/>
            <a:chOff x="0" y="0"/>
            <a:chExt cx="1500134" cy="2207687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207803"/>
              <a:ext cx="1500134" cy="1999884"/>
              <a:chOff x="0" y="0"/>
              <a:chExt cx="1681903" cy="224220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681903" cy="2242208"/>
              </a:xfrm>
              <a:custGeom>
                <a:avLst/>
                <a:gdLst/>
                <a:ahLst/>
                <a:cxnLst/>
                <a:rect r="r" b="b" t="t" l="l"/>
                <a:pathLst>
                  <a:path h="2242208" w="1681903">
                    <a:moveTo>
                      <a:pt x="0" y="0"/>
                    </a:moveTo>
                    <a:lnTo>
                      <a:pt x="1681903" y="0"/>
                    </a:lnTo>
                    <a:lnTo>
                      <a:pt x="1681903" y="2242208"/>
                    </a:lnTo>
                    <a:lnTo>
                      <a:pt x="0" y="2242208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4A9FF">
                      <a:alpha val="100000"/>
                    </a:srgbClr>
                  </a:gs>
                  <a:gs pos="100000">
                    <a:srgbClr val="F5F8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681903" cy="2280308"/>
              </a:xfrm>
              <a:prstGeom prst="rect">
                <a:avLst/>
              </a:prstGeom>
            </p:spPr>
            <p:txBody>
              <a:bodyPr anchor="ctr" rtlCol="false" tIns="27904" lIns="27904" bIns="27904" rIns="2790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105988" y="290802"/>
              <a:ext cx="1288158" cy="1833888"/>
            </a:xfrm>
            <a:custGeom>
              <a:avLst/>
              <a:gdLst/>
              <a:ahLst/>
              <a:cxnLst/>
              <a:rect r="r" b="b" t="t" l="l"/>
              <a:pathLst>
                <a:path h="1833888" w="1288158">
                  <a:moveTo>
                    <a:pt x="0" y="0"/>
                  </a:moveTo>
                  <a:lnTo>
                    <a:pt x="1288158" y="0"/>
                  </a:lnTo>
                  <a:lnTo>
                    <a:pt x="1288158" y="1833887"/>
                  </a:lnTo>
                  <a:lnTo>
                    <a:pt x="0" y="1833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-28575"/>
              <a:ext cx="1500134" cy="2363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b="true" sz="102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Casos de Uso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1867871"/>
            <a:ext cx="2082521" cy="1986804"/>
            <a:chOff x="0" y="0"/>
            <a:chExt cx="2776694" cy="264907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341452" y="244930"/>
              <a:ext cx="2093791" cy="2404142"/>
              <a:chOff x="0" y="0"/>
              <a:chExt cx="3250378" cy="3732164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250378" cy="3732164"/>
              </a:xfrm>
              <a:custGeom>
                <a:avLst/>
                <a:gdLst/>
                <a:ahLst/>
                <a:cxnLst/>
                <a:rect r="r" b="b" t="t" l="l"/>
                <a:pathLst>
                  <a:path h="3732164" w="3250378">
                    <a:moveTo>
                      <a:pt x="0" y="0"/>
                    </a:moveTo>
                    <a:lnTo>
                      <a:pt x="3250378" y="0"/>
                    </a:lnTo>
                    <a:lnTo>
                      <a:pt x="3250378" y="3732164"/>
                    </a:lnTo>
                    <a:lnTo>
                      <a:pt x="0" y="373216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7CCE6B">
                      <a:alpha val="100000"/>
                    </a:srgbClr>
                  </a:gs>
                  <a:gs pos="100000">
                    <a:srgbClr val="D8FFD0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3250378" cy="3770264"/>
              </a:xfrm>
              <a:prstGeom prst="rect">
                <a:avLst/>
              </a:prstGeom>
            </p:spPr>
            <p:txBody>
              <a:bodyPr anchor="ctr" rtlCol="false" tIns="9492" lIns="9492" bIns="9492" rIns="949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496935" y="368263"/>
              <a:ext cx="1782824" cy="2157476"/>
            </a:xfrm>
            <a:custGeom>
              <a:avLst/>
              <a:gdLst/>
              <a:ahLst/>
              <a:cxnLst/>
              <a:rect r="r" b="b" t="t" l="l"/>
              <a:pathLst>
                <a:path h="2157476" w="1782824">
                  <a:moveTo>
                    <a:pt x="0" y="0"/>
                  </a:moveTo>
                  <a:lnTo>
                    <a:pt x="1782824" y="0"/>
                  </a:lnTo>
                  <a:lnTo>
                    <a:pt x="1782824" y="2157476"/>
                  </a:lnTo>
                  <a:lnTo>
                    <a:pt x="0" y="2157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-19050"/>
              <a:ext cx="2776694" cy="263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b="true" sz="122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Despliegue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74206" y="104858"/>
            <a:ext cx="1591508" cy="1688450"/>
            <a:chOff x="0" y="0"/>
            <a:chExt cx="2122011" cy="225126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28220" y="244930"/>
              <a:ext cx="2093791" cy="2006337"/>
              <a:chOff x="0" y="0"/>
              <a:chExt cx="3250378" cy="3114616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250378" cy="3114616"/>
              </a:xfrm>
              <a:custGeom>
                <a:avLst/>
                <a:gdLst/>
                <a:ahLst/>
                <a:cxnLst/>
                <a:rect r="r" b="b" t="t" l="l"/>
                <a:pathLst>
                  <a:path h="3114616" w="3250378">
                    <a:moveTo>
                      <a:pt x="0" y="0"/>
                    </a:moveTo>
                    <a:lnTo>
                      <a:pt x="3250378" y="0"/>
                    </a:lnTo>
                    <a:lnTo>
                      <a:pt x="3250378" y="3114616"/>
                    </a:lnTo>
                    <a:lnTo>
                      <a:pt x="0" y="311461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6767">
                      <a:alpha val="100000"/>
                    </a:srgbClr>
                  </a:gs>
                  <a:gs pos="100000">
                    <a:srgbClr val="FFD1D1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3250378" cy="3152716"/>
              </a:xfrm>
              <a:prstGeom prst="rect">
                <a:avLst/>
              </a:prstGeom>
            </p:spPr>
            <p:txBody>
              <a:bodyPr anchor="ctr" rtlCol="false" tIns="9492" lIns="9492" bIns="9492" rIns="949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151836" y="378628"/>
              <a:ext cx="1846560" cy="1738941"/>
            </a:xfrm>
            <a:custGeom>
              <a:avLst/>
              <a:gdLst/>
              <a:ahLst/>
              <a:cxnLst/>
              <a:rect r="r" b="b" t="t" l="l"/>
              <a:pathLst>
                <a:path h="1738941" w="1846560">
                  <a:moveTo>
                    <a:pt x="0" y="0"/>
                  </a:moveTo>
                  <a:lnTo>
                    <a:pt x="1846559" y="0"/>
                  </a:lnTo>
                  <a:lnTo>
                    <a:pt x="1846559" y="1738941"/>
                  </a:lnTo>
                  <a:lnTo>
                    <a:pt x="0" y="1738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0" y="-19050"/>
              <a:ext cx="2093791" cy="263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b="true" sz="122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Modelo Relacional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40335" y="5659566"/>
            <a:ext cx="1625380" cy="1440020"/>
            <a:chOff x="0" y="0"/>
            <a:chExt cx="2167173" cy="1920027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244930"/>
              <a:ext cx="2167173" cy="1675097"/>
              <a:chOff x="0" y="0"/>
              <a:chExt cx="2090433" cy="161578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090433" cy="1615782"/>
              </a:xfrm>
              <a:custGeom>
                <a:avLst/>
                <a:gdLst/>
                <a:ahLst/>
                <a:cxnLst/>
                <a:rect r="r" b="b" t="t" l="l"/>
                <a:pathLst>
                  <a:path h="1615782" w="2090433">
                    <a:moveTo>
                      <a:pt x="0" y="0"/>
                    </a:moveTo>
                    <a:lnTo>
                      <a:pt x="2090433" y="0"/>
                    </a:lnTo>
                    <a:lnTo>
                      <a:pt x="2090433" y="1615782"/>
                    </a:lnTo>
                    <a:lnTo>
                      <a:pt x="0" y="16157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DA6A">
                      <a:alpha val="100000"/>
                    </a:srgbClr>
                  </a:gs>
                  <a:gs pos="100000">
                    <a:srgbClr val="FFF7DE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2090433" cy="1653882"/>
              </a:xfrm>
              <a:prstGeom prst="rect">
                <a:avLst/>
              </a:prstGeom>
            </p:spPr>
            <p:txBody>
              <a:bodyPr anchor="ctr" rtlCol="false" tIns="15276" lIns="15276" bIns="15276" rIns="1527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93089" y="355082"/>
              <a:ext cx="1980994" cy="1454793"/>
            </a:xfrm>
            <a:custGeom>
              <a:avLst/>
              <a:gdLst/>
              <a:ahLst/>
              <a:cxnLst/>
              <a:rect r="r" b="b" t="t" l="l"/>
              <a:pathLst>
                <a:path h="1454793" w="1980994">
                  <a:moveTo>
                    <a:pt x="0" y="0"/>
                  </a:moveTo>
                  <a:lnTo>
                    <a:pt x="1980995" y="0"/>
                  </a:lnTo>
                  <a:lnTo>
                    <a:pt x="1980995" y="1454793"/>
                  </a:lnTo>
                  <a:lnTo>
                    <a:pt x="0" y="1454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0" y="-19050"/>
              <a:ext cx="2167173" cy="263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b="true" sz="122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de Clases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1954" y="7175786"/>
            <a:ext cx="1643760" cy="1322430"/>
            <a:chOff x="0" y="0"/>
            <a:chExt cx="2191680" cy="1763240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251883"/>
              <a:ext cx="2191680" cy="1511356"/>
              <a:chOff x="0" y="0"/>
              <a:chExt cx="4690226" cy="3234323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690226" cy="3234323"/>
              </a:xfrm>
              <a:custGeom>
                <a:avLst/>
                <a:gdLst/>
                <a:ahLst/>
                <a:cxnLst/>
                <a:rect r="r" b="b" t="t" l="l"/>
                <a:pathLst>
                  <a:path h="3234323" w="4690226">
                    <a:moveTo>
                      <a:pt x="0" y="0"/>
                    </a:moveTo>
                    <a:lnTo>
                      <a:pt x="4690226" y="0"/>
                    </a:lnTo>
                    <a:lnTo>
                      <a:pt x="4690226" y="3234323"/>
                    </a:lnTo>
                    <a:lnTo>
                      <a:pt x="0" y="323432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7CCE6B">
                      <a:alpha val="100000"/>
                    </a:srgbClr>
                  </a:gs>
                  <a:gs pos="100000">
                    <a:srgbClr val="D8FFD0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4690226" cy="3272423"/>
              </a:xfrm>
              <a:prstGeom prst="rect">
                <a:avLst/>
              </a:prstGeom>
            </p:spPr>
            <p:txBody>
              <a:bodyPr anchor="ctr" rtlCol="false" tIns="4689" lIns="4689" bIns="4689" rIns="468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41" id="41"/>
            <p:cNvSpPr/>
            <p:nvPr/>
          </p:nvSpPr>
          <p:spPr>
            <a:xfrm flipH="false" flipV="false" rot="0">
              <a:off x="79593" y="349542"/>
              <a:ext cx="2032494" cy="1316040"/>
            </a:xfrm>
            <a:custGeom>
              <a:avLst/>
              <a:gdLst/>
              <a:ahLst/>
              <a:cxnLst/>
              <a:rect r="r" b="b" t="t" l="l"/>
              <a:pathLst>
                <a:path h="1316040" w="2032494">
                  <a:moveTo>
                    <a:pt x="0" y="0"/>
                  </a:moveTo>
                  <a:lnTo>
                    <a:pt x="2032494" y="0"/>
                  </a:lnTo>
                  <a:lnTo>
                    <a:pt x="2032494" y="1316039"/>
                  </a:lnTo>
                  <a:lnTo>
                    <a:pt x="0" y="1316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 rot="0">
              <a:off x="77179" y="-9525"/>
              <a:ext cx="2014244" cy="261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87"/>
                </a:lnSpc>
              </a:pPr>
              <a:r>
                <a:rPr lang="en-US" b="true" sz="125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AS-IS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91142" y="8574416"/>
            <a:ext cx="1591508" cy="1607726"/>
            <a:chOff x="0" y="0"/>
            <a:chExt cx="2122011" cy="2143635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264060"/>
              <a:ext cx="2122011" cy="1879574"/>
              <a:chOff x="0" y="0"/>
              <a:chExt cx="3981592" cy="3526702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3981592" cy="3526702"/>
              </a:xfrm>
              <a:custGeom>
                <a:avLst/>
                <a:gdLst/>
                <a:ahLst/>
                <a:cxnLst/>
                <a:rect r="r" b="b" t="t" l="l"/>
                <a:pathLst>
                  <a:path h="3526702" w="3981592">
                    <a:moveTo>
                      <a:pt x="0" y="0"/>
                    </a:moveTo>
                    <a:lnTo>
                      <a:pt x="3981592" y="0"/>
                    </a:lnTo>
                    <a:lnTo>
                      <a:pt x="3981592" y="3526702"/>
                    </a:lnTo>
                    <a:lnTo>
                      <a:pt x="0" y="352670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3981592" cy="3564802"/>
              </a:xfrm>
              <a:prstGeom prst="rect">
                <a:avLst/>
              </a:prstGeom>
            </p:spPr>
            <p:txBody>
              <a:bodyPr anchor="ctr" rtlCol="false" tIns="19783" lIns="19783" bIns="19783" rIns="19783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7" id="47"/>
            <p:cNvSpPr/>
            <p:nvPr/>
          </p:nvSpPr>
          <p:spPr>
            <a:xfrm flipH="false" flipV="false" rot="0">
              <a:off x="131555" y="334812"/>
              <a:ext cx="1858900" cy="1738072"/>
            </a:xfrm>
            <a:custGeom>
              <a:avLst/>
              <a:gdLst/>
              <a:ahLst/>
              <a:cxnLst/>
              <a:rect r="r" b="b" t="t" l="l"/>
              <a:pathLst>
                <a:path h="1738072" w="1858900">
                  <a:moveTo>
                    <a:pt x="0" y="0"/>
                  </a:moveTo>
                  <a:lnTo>
                    <a:pt x="1858900" y="0"/>
                  </a:lnTo>
                  <a:lnTo>
                    <a:pt x="1858900" y="1738071"/>
                  </a:lnTo>
                  <a:lnTo>
                    <a:pt x="0" y="1738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 rot="0">
              <a:off x="0" y="-9525"/>
              <a:ext cx="2122011" cy="244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73"/>
                </a:lnSpc>
              </a:pPr>
              <a:r>
                <a:rPr lang="en-US" b="true" sz="116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TOBE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296490" y="189009"/>
            <a:ext cx="9215848" cy="9908982"/>
            <a:chOff x="0" y="0"/>
            <a:chExt cx="12287797" cy="1321197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1437415"/>
              <a:ext cx="12287797" cy="11774560"/>
              <a:chOff x="0" y="0"/>
              <a:chExt cx="3250378" cy="311461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250378" cy="3114616"/>
              </a:xfrm>
              <a:custGeom>
                <a:avLst/>
                <a:gdLst/>
                <a:ahLst/>
                <a:cxnLst/>
                <a:rect r="r" b="b" t="t" l="l"/>
                <a:pathLst>
                  <a:path h="3114616" w="3250378">
                    <a:moveTo>
                      <a:pt x="0" y="0"/>
                    </a:moveTo>
                    <a:lnTo>
                      <a:pt x="3250378" y="0"/>
                    </a:lnTo>
                    <a:lnTo>
                      <a:pt x="3250378" y="3114616"/>
                    </a:lnTo>
                    <a:lnTo>
                      <a:pt x="0" y="311461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6767">
                      <a:alpha val="100000"/>
                    </a:srgbClr>
                  </a:gs>
                  <a:gs pos="100000">
                    <a:srgbClr val="FFD1D1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3250378" cy="3152716"/>
              </a:xfrm>
              <a:prstGeom prst="rect">
                <a:avLst/>
              </a:prstGeom>
            </p:spPr>
            <p:txBody>
              <a:bodyPr anchor="ctr" rtlCol="false" tIns="37935" lIns="37935" bIns="37935" rIns="37935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725460" y="2222046"/>
              <a:ext cx="10836876" cy="10205298"/>
            </a:xfrm>
            <a:custGeom>
              <a:avLst/>
              <a:gdLst/>
              <a:ahLst/>
              <a:cxnLst/>
              <a:rect r="r" b="b" t="t" l="l"/>
              <a:pathLst>
                <a:path h="10205298" w="10836876">
                  <a:moveTo>
                    <a:pt x="0" y="0"/>
                  </a:moveTo>
                  <a:lnTo>
                    <a:pt x="10836876" y="0"/>
                  </a:lnTo>
                  <a:lnTo>
                    <a:pt x="10836876" y="10205299"/>
                  </a:lnTo>
                  <a:lnTo>
                    <a:pt x="0" y="10205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-114300"/>
              <a:ext cx="12122182" cy="1551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36"/>
                </a:lnSpc>
              </a:pPr>
              <a:r>
                <a:rPr lang="en-US" b="true" sz="7193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Modelo Relacional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52212" y="2371366"/>
            <a:ext cx="1125100" cy="1655766"/>
            <a:chOff x="0" y="0"/>
            <a:chExt cx="1500134" cy="2207687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207803"/>
              <a:ext cx="1500134" cy="1999884"/>
              <a:chOff x="0" y="0"/>
              <a:chExt cx="1681903" cy="224220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681903" cy="2242208"/>
              </a:xfrm>
              <a:custGeom>
                <a:avLst/>
                <a:gdLst/>
                <a:ahLst/>
                <a:cxnLst/>
                <a:rect r="r" b="b" t="t" l="l"/>
                <a:pathLst>
                  <a:path h="2242208" w="1681903">
                    <a:moveTo>
                      <a:pt x="0" y="0"/>
                    </a:moveTo>
                    <a:lnTo>
                      <a:pt x="1681903" y="0"/>
                    </a:lnTo>
                    <a:lnTo>
                      <a:pt x="1681903" y="2242208"/>
                    </a:lnTo>
                    <a:lnTo>
                      <a:pt x="0" y="2242208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4A9FF">
                      <a:alpha val="100000"/>
                    </a:srgbClr>
                  </a:gs>
                  <a:gs pos="100000">
                    <a:srgbClr val="F5F8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681903" cy="2280308"/>
              </a:xfrm>
              <a:prstGeom prst="rect">
                <a:avLst/>
              </a:prstGeom>
            </p:spPr>
            <p:txBody>
              <a:bodyPr anchor="ctr" rtlCol="false" tIns="27904" lIns="27904" bIns="27904" rIns="2790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105988" y="290802"/>
              <a:ext cx="1288158" cy="1833888"/>
            </a:xfrm>
            <a:custGeom>
              <a:avLst/>
              <a:gdLst/>
              <a:ahLst/>
              <a:cxnLst/>
              <a:rect r="r" b="b" t="t" l="l"/>
              <a:pathLst>
                <a:path h="1833888" w="1288158">
                  <a:moveTo>
                    <a:pt x="0" y="0"/>
                  </a:moveTo>
                  <a:lnTo>
                    <a:pt x="1288158" y="0"/>
                  </a:lnTo>
                  <a:lnTo>
                    <a:pt x="1288158" y="1833887"/>
                  </a:lnTo>
                  <a:lnTo>
                    <a:pt x="0" y="1833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-28575"/>
              <a:ext cx="1500134" cy="2363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b="true" sz="102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Casos de Uso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6566" y="310000"/>
            <a:ext cx="2082521" cy="1986804"/>
            <a:chOff x="0" y="0"/>
            <a:chExt cx="2776694" cy="264907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341452" y="244930"/>
              <a:ext cx="2093791" cy="2404142"/>
              <a:chOff x="0" y="0"/>
              <a:chExt cx="3250378" cy="3732164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250378" cy="3732164"/>
              </a:xfrm>
              <a:custGeom>
                <a:avLst/>
                <a:gdLst/>
                <a:ahLst/>
                <a:cxnLst/>
                <a:rect r="r" b="b" t="t" l="l"/>
                <a:pathLst>
                  <a:path h="3732164" w="3250378">
                    <a:moveTo>
                      <a:pt x="0" y="0"/>
                    </a:moveTo>
                    <a:lnTo>
                      <a:pt x="3250378" y="0"/>
                    </a:lnTo>
                    <a:lnTo>
                      <a:pt x="3250378" y="3732164"/>
                    </a:lnTo>
                    <a:lnTo>
                      <a:pt x="0" y="373216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7CCE6B">
                      <a:alpha val="100000"/>
                    </a:srgbClr>
                  </a:gs>
                  <a:gs pos="100000">
                    <a:srgbClr val="D8FFD0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3250378" cy="3770264"/>
              </a:xfrm>
              <a:prstGeom prst="rect">
                <a:avLst/>
              </a:prstGeom>
            </p:spPr>
            <p:txBody>
              <a:bodyPr anchor="ctr" rtlCol="false" tIns="9492" lIns="9492" bIns="9492" rIns="949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496935" y="368263"/>
              <a:ext cx="1782824" cy="2157476"/>
            </a:xfrm>
            <a:custGeom>
              <a:avLst/>
              <a:gdLst/>
              <a:ahLst/>
              <a:cxnLst/>
              <a:rect r="r" b="b" t="t" l="l"/>
              <a:pathLst>
                <a:path h="2157476" w="1782824">
                  <a:moveTo>
                    <a:pt x="0" y="0"/>
                  </a:moveTo>
                  <a:lnTo>
                    <a:pt x="1782824" y="0"/>
                  </a:lnTo>
                  <a:lnTo>
                    <a:pt x="1782824" y="2157476"/>
                  </a:lnTo>
                  <a:lnTo>
                    <a:pt x="0" y="2157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-19050"/>
              <a:ext cx="2776694" cy="263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b="true" sz="122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Despliegue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68200" y="4101695"/>
            <a:ext cx="1625380" cy="1440020"/>
            <a:chOff x="0" y="0"/>
            <a:chExt cx="2167173" cy="192002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244930"/>
              <a:ext cx="2167173" cy="1675097"/>
              <a:chOff x="0" y="0"/>
              <a:chExt cx="2090433" cy="161578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090433" cy="1615782"/>
              </a:xfrm>
              <a:custGeom>
                <a:avLst/>
                <a:gdLst/>
                <a:ahLst/>
                <a:cxnLst/>
                <a:rect r="r" b="b" t="t" l="l"/>
                <a:pathLst>
                  <a:path h="1615782" w="2090433">
                    <a:moveTo>
                      <a:pt x="0" y="0"/>
                    </a:moveTo>
                    <a:lnTo>
                      <a:pt x="2090433" y="0"/>
                    </a:lnTo>
                    <a:lnTo>
                      <a:pt x="2090433" y="1615782"/>
                    </a:lnTo>
                    <a:lnTo>
                      <a:pt x="0" y="16157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DA6A">
                      <a:alpha val="100000"/>
                    </a:srgbClr>
                  </a:gs>
                  <a:gs pos="100000">
                    <a:srgbClr val="FFF7DE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2090433" cy="1653882"/>
              </a:xfrm>
              <a:prstGeom prst="rect">
                <a:avLst/>
              </a:prstGeom>
            </p:spPr>
            <p:txBody>
              <a:bodyPr anchor="ctr" rtlCol="false" tIns="15276" lIns="15276" bIns="15276" rIns="1527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93089" y="355082"/>
              <a:ext cx="1980994" cy="1454793"/>
            </a:xfrm>
            <a:custGeom>
              <a:avLst/>
              <a:gdLst/>
              <a:ahLst/>
              <a:cxnLst/>
              <a:rect r="r" b="b" t="t" l="l"/>
              <a:pathLst>
                <a:path h="1454793" w="1980994">
                  <a:moveTo>
                    <a:pt x="0" y="0"/>
                  </a:moveTo>
                  <a:lnTo>
                    <a:pt x="1980995" y="0"/>
                  </a:lnTo>
                  <a:lnTo>
                    <a:pt x="1980995" y="1454793"/>
                  </a:lnTo>
                  <a:lnTo>
                    <a:pt x="0" y="1454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0" y="-19050"/>
              <a:ext cx="2167173" cy="263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b="true" sz="122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de Clases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49820" y="5617915"/>
            <a:ext cx="1643760" cy="1322430"/>
            <a:chOff x="0" y="0"/>
            <a:chExt cx="2191680" cy="176324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251883"/>
              <a:ext cx="2191680" cy="1511356"/>
              <a:chOff x="0" y="0"/>
              <a:chExt cx="4690226" cy="3234323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690226" cy="3234323"/>
              </a:xfrm>
              <a:custGeom>
                <a:avLst/>
                <a:gdLst/>
                <a:ahLst/>
                <a:cxnLst/>
                <a:rect r="r" b="b" t="t" l="l"/>
                <a:pathLst>
                  <a:path h="3234323" w="4690226">
                    <a:moveTo>
                      <a:pt x="0" y="0"/>
                    </a:moveTo>
                    <a:lnTo>
                      <a:pt x="4690226" y="0"/>
                    </a:lnTo>
                    <a:lnTo>
                      <a:pt x="4690226" y="3234323"/>
                    </a:lnTo>
                    <a:lnTo>
                      <a:pt x="0" y="323432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7CCE6B">
                      <a:alpha val="100000"/>
                    </a:srgbClr>
                  </a:gs>
                  <a:gs pos="100000">
                    <a:srgbClr val="D8FFD0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4690226" cy="3272423"/>
              </a:xfrm>
              <a:prstGeom prst="rect">
                <a:avLst/>
              </a:prstGeom>
            </p:spPr>
            <p:txBody>
              <a:bodyPr anchor="ctr" rtlCol="false" tIns="4689" lIns="4689" bIns="4689" rIns="468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79593" y="349542"/>
              <a:ext cx="2032494" cy="1316040"/>
            </a:xfrm>
            <a:custGeom>
              <a:avLst/>
              <a:gdLst/>
              <a:ahLst/>
              <a:cxnLst/>
              <a:rect r="r" b="b" t="t" l="l"/>
              <a:pathLst>
                <a:path h="1316040" w="2032494">
                  <a:moveTo>
                    <a:pt x="0" y="0"/>
                  </a:moveTo>
                  <a:lnTo>
                    <a:pt x="2032494" y="0"/>
                  </a:lnTo>
                  <a:lnTo>
                    <a:pt x="2032494" y="1316039"/>
                  </a:lnTo>
                  <a:lnTo>
                    <a:pt x="0" y="1316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77179" y="-9525"/>
              <a:ext cx="2014244" cy="261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87"/>
                </a:lnSpc>
              </a:pPr>
              <a:r>
                <a:rPr lang="en-US" b="true" sz="125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AS-IS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19008" y="7016544"/>
            <a:ext cx="1591508" cy="1607726"/>
            <a:chOff x="0" y="0"/>
            <a:chExt cx="2122011" cy="2143635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264060"/>
              <a:ext cx="2122011" cy="1879574"/>
              <a:chOff x="0" y="0"/>
              <a:chExt cx="3981592" cy="3526702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3981592" cy="3526702"/>
              </a:xfrm>
              <a:custGeom>
                <a:avLst/>
                <a:gdLst/>
                <a:ahLst/>
                <a:cxnLst/>
                <a:rect r="r" b="b" t="t" l="l"/>
                <a:pathLst>
                  <a:path h="3526702" w="3981592">
                    <a:moveTo>
                      <a:pt x="0" y="0"/>
                    </a:moveTo>
                    <a:lnTo>
                      <a:pt x="3981592" y="0"/>
                    </a:lnTo>
                    <a:lnTo>
                      <a:pt x="3981592" y="3526702"/>
                    </a:lnTo>
                    <a:lnTo>
                      <a:pt x="0" y="352670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3981592" cy="3564802"/>
              </a:xfrm>
              <a:prstGeom prst="rect">
                <a:avLst/>
              </a:prstGeom>
            </p:spPr>
            <p:txBody>
              <a:bodyPr anchor="ctr" rtlCol="false" tIns="19783" lIns="19783" bIns="19783" rIns="19783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1" id="41"/>
            <p:cNvSpPr/>
            <p:nvPr/>
          </p:nvSpPr>
          <p:spPr>
            <a:xfrm flipH="false" flipV="false" rot="0">
              <a:off x="131555" y="334812"/>
              <a:ext cx="1858900" cy="1738072"/>
            </a:xfrm>
            <a:custGeom>
              <a:avLst/>
              <a:gdLst/>
              <a:ahLst/>
              <a:cxnLst/>
              <a:rect r="r" b="b" t="t" l="l"/>
              <a:pathLst>
                <a:path h="1738072" w="1858900">
                  <a:moveTo>
                    <a:pt x="0" y="0"/>
                  </a:moveTo>
                  <a:lnTo>
                    <a:pt x="1858900" y="0"/>
                  </a:lnTo>
                  <a:lnTo>
                    <a:pt x="1858900" y="1738071"/>
                  </a:lnTo>
                  <a:lnTo>
                    <a:pt x="0" y="1738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 rot="0">
              <a:off x="0" y="-9525"/>
              <a:ext cx="2122011" cy="244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73"/>
                </a:lnSpc>
              </a:pPr>
              <a:r>
                <a:rPr lang="en-US" b="true" sz="116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TOBE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28700" y="8700470"/>
            <a:ext cx="2572124" cy="1276530"/>
            <a:chOff x="0" y="0"/>
            <a:chExt cx="3429498" cy="1702040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639634" y="257357"/>
              <a:ext cx="2150231" cy="1444684"/>
              <a:chOff x="0" y="0"/>
              <a:chExt cx="4319668" cy="2902271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319668" cy="2902271"/>
              </a:xfrm>
              <a:custGeom>
                <a:avLst/>
                <a:gdLst/>
                <a:ahLst/>
                <a:cxnLst/>
                <a:rect r="r" b="b" t="t" l="l"/>
                <a:pathLst>
                  <a:path h="2902271" w="4319668">
                    <a:moveTo>
                      <a:pt x="0" y="0"/>
                    </a:moveTo>
                    <a:lnTo>
                      <a:pt x="4319668" y="0"/>
                    </a:lnTo>
                    <a:lnTo>
                      <a:pt x="4319668" y="2902271"/>
                    </a:lnTo>
                    <a:lnTo>
                      <a:pt x="0" y="290227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4319668" cy="2940371"/>
              </a:xfrm>
              <a:prstGeom prst="rect">
                <a:avLst/>
              </a:prstGeom>
            </p:spPr>
            <p:txBody>
              <a:bodyPr anchor="ctr" rtlCol="false" tIns="5105" lIns="5105" bIns="5105" rIns="510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7" id="47"/>
            <p:cNvSpPr/>
            <p:nvPr/>
          </p:nvSpPr>
          <p:spPr>
            <a:xfrm flipH="false" flipV="false" rot="0">
              <a:off x="701946" y="430782"/>
              <a:ext cx="2025606" cy="1097832"/>
            </a:xfrm>
            <a:custGeom>
              <a:avLst/>
              <a:gdLst/>
              <a:ahLst/>
              <a:cxnLst/>
              <a:rect r="r" b="b" t="t" l="l"/>
              <a:pathLst>
                <a:path h="1097832" w="2025606">
                  <a:moveTo>
                    <a:pt x="0" y="0"/>
                  </a:moveTo>
                  <a:lnTo>
                    <a:pt x="2025606" y="0"/>
                  </a:lnTo>
                  <a:lnTo>
                    <a:pt x="2025606" y="1097833"/>
                  </a:lnTo>
                  <a:lnTo>
                    <a:pt x="0" y="1097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855" r="0" b="-85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 rot="0">
              <a:off x="0" y="-19050"/>
              <a:ext cx="3429498" cy="263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b="true" sz="122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MER (Modelo entidad-Relacion)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190482" y="509108"/>
            <a:ext cx="9666649" cy="9268784"/>
            <a:chOff x="0" y="0"/>
            <a:chExt cx="12888865" cy="1235837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1584952" y="1198829"/>
              <a:ext cx="9718961" cy="11159550"/>
              <a:chOff x="0" y="0"/>
              <a:chExt cx="3250378" cy="373216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250378" cy="3732164"/>
              </a:xfrm>
              <a:custGeom>
                <a:avLst/>
                <a:gdLst/>
                <a:ahLst/>
                <a:cxnLst/>
                <a:rect r="r" b="b" t="t" l="l"/>
                <a:pathLst>
                  <a:path h="3732164" w="3250378">
                    <a:moveTo>
                      <a:pt x="0" y="0"/>
                    </a:moveTo>
                    <a:lnTo>
                      <a:pt x="3250378" y="0"/>
                    </a:lnTo>
                    <a:lnTo>
                      <a:pt x="3250378" y="3732164"/>
                    </a:lnTo>
                    <a:lnTo>
                      <a:pt x="0" y="373216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7CCE6B">
                      <a:alpha val="100000"/>
                    </a:srgbClr>
                  </a:gs>
                  <a:gs pos="100000">
                    <a:srgbClr val="D8FFD0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3250378" cy="3770264"/>
              </a:xfrm>
              <a:prstGeom prst="rect">
                <a:avLst/>
              </a:prstGeom>
            </p:spPr>
            <p:txBody>
              <a:bodyPr anchor="ctr" rtlCol="false" tIns="30004" lIns="30004" bIns="30004" rIns="3000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2306674" y="1771316"/>
              <a:ext cx="8275518" cy="10014576"/>
            </a:xfrm>
            <a:custGeom>
              <a:avLst/>
              <a:gdLst/>
              <a:ahLst/>
              <a:cxnLst/>
              <a:rect r="r" b="b" t="t" l="l"/>
              <a:pathLst>
                <a:path h="10014576" w="8275518">
                  <a:moveTo>
                    <a:pt x="0" y="0"/>
                  </a:moveTo>
                  <a:lnTo>
                    <a:pt x="8275518" y="0"/>
                  </a:lnTo>
                  <a:lnTo>
                    <a:pt x="8275518" y="10014576"/>
                  </a:lnTo>
                  <a:lnTo>
                    <a:pt x="0" y="10014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-95250"/>
              <a:ext cx="12888865" cy="1294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20"/>
                </a:lnSpc>
              </a:pPr>
              <a:r>
                <a:rPr lang="en-US" b="true" sz="592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Despliegue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52212" y="458358"/>
            <a:ext cx="1125100" cy="1655766"/>
            <a:chOff x="0" y="0"/>
            <a:chExt cx="1500134" cy="2207687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207803"/>
              <a:ext cx="1500134" cy="1999884"/>
              <a:chOff x="0" y="0"/>
              <a:chExt cx="1681903" cy="224220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681903" cy="2242208"/>
              </a:xfrm>
              <a:custGeom>
                <a:avLst/>
                <a:gdLst/>
                <a:ahLst/>
                <a:cxnLst/>
                <a:rect r="r" b="b" t="t" l="l"/>
                <a:pathLst>
                  <a:path h="2242208" w="1681903">
                    <a:moveTo>
                      <a:pt x="0" y="0"/>
                    </a:moveTo>
                    <a:lnTo>
                      <a:pt x="1681903" y="0"/>
                    </a:lnTo>
                    <a:lnTo>
                      <a:pt x="1681903" y="2242208"/>
                    </a:lnTo>
                    <a:lnTo>
                      <a:pt x="0" y="2242208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4A9FF">
                      <a:alpha val="100000"/>
                    </a:srgbClr>
                  </a:gs>
                  <a:gs pos="100000">
                    <a:srgbClr val="F5F8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681903" cy="2280308"/>
              </a:xfrm>
              <a:prstGeom prst="rect">
                <a:avLst/>
              </a:prstGeom>
            </p:spPr>
            <p:txBody>
              <a:bodyPr anchor="ctr" rtlCol="false" tIns="27904" lIns="27904" bIns="27904" rIns="2790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105988" y="290802"/>
              <a:ext cx="1288158" cy="1833888"/>
            </a:xfrm>
            <a:custGeom>
              <a:avLst/>
              <a:gdLst/>
              <a:ahLst/>
              <a:cxnLst/>
              <a:rect r="r" b="b" t="t" l="l"/>
              <a:pathLst>
                <a:path h="1833888" w="1288158">
                  <a:moveTo>
                    <a:pt x="0" y="0"/>
                  </a:moveTo>
                  <a:lnTo>
                    <a:pt x="1288158" y="0"/>
                  </a:lnTo>
                  <a:lnTo>
                    <a:pt x="1288158" y="1833887"/>
                  </a:lnTo>
                  <a:lnTo>
                    <a:pt x="0" y="1833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-28575"/>
              <a:ext cx="1500134" cy="2363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03"/>
                </a:lnSpc>
              </a:pPr>
              <a:r>
                <a:rPr lang="en-US" b="true" sz="102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Casos de Uso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02072" y="2189996"/>
            <a:ext cx="1625380" cy="1440020"/>
            <a:chOff x="0" y="0"/>
            <a:chExt cx="2167173" cy="1920027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244930"/>
              <a:ext cx="2167173" cy="1675097"/>
              <a:chOff x="0" y="0"/>
              <a:chExt cx="2090433" cy="161578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090433" cy="1615782"/>
              </a:xfrm>
              <a:custGeom>
                <a:avLst/>
                <a:gdLst/>
                <a:ahLst/>
                <a:cxnLst/>
                <a:rect r="r" b="b" t="t" l="l"/>
                <a:pathLst>
                  <a:path h="1615782" w="2090433">
                    <a:moveTo>
                      <a:pt x="0" y="0"/>
                    </a:moveTo>
                    <a:lnTo>
                      <a:pt x="2090433" y="0"/>
                    </a:lnTo>
                    <a:lnTo>
                      <a:pt x="2090433" y="1615782"/>
                    </a:lnTo>
                    <a:lnTo>
                      <a:pt x="0" y="16157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DA6A">
                      <a:alpha val="100000"/>
                    </a:srgbClr>
                  </a:gs>
                  <a:gs pos="100000">
                    <a:srgbClr val="FFF7DE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090433" cy="1653882"/>
              </a:xfrm>
              <a:prstGeom prst="rect">
                <a:avLst/>
              </a:prstGeom>
            </p:spPr>
            <p:txBody>
              <a:bodyPr anchor="ctr" rtlCol="false" tIns="15276" lIns="15276" bIns="15276" rIns="1527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93089" y="355082"/>
              <a:ext cx="1980994" cy="1454793"/>
            </a:xfrm>
            <a:custGeom>
              <a:avLst/>
              <a:gdLst/>
              <a:ahLst/>
              <a:cxnLst/>
              <a:rect r="r" b="b" t="t" l="l"/>
              <a:pathLst>
                <a:path h="1454793" w="1980994">
                  <a:moveTo>
                    <a:pt x="0" y="0"/>
                  </a:moveTo>
                  <a:lnTo>
                    <a:pt x="1980995" y="0"/>
                  </a:lnTo>
                  <a:lnTo>
                    <a:pt x="1980995" y="1454793"/>
                  </a:lnTo>
                  <a:lnTo>
                    <a:pt x="0" y="1454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-19050"/>
              <a:ext cx="2167173" cy="263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b="true" sz="122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de Clases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92882" y="3705889"/>
            <a:ext cx="1643760" cy="1322430"/>
            <a:chOff x="0" y="0"/>
            <a:chExt cx="2191680" cy="176324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251883"/>
              <a:ext cx="2191680" cy="1511356"/>
              <a:chOff x="0" y="0"/>
              <a:chExt cx="4690226" cy="323432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690226" cy="3234323"/>
              </a:xfrm>
              <a:custGeom>
                <a:avLst/>
                <a:gdLst/>
                <a:ahLst/>
                <a:cxnLst/>
                <a:rect r="r" b="b" t="t" l="l"/>
                <a:pathLst>
                  <a:path h="3234323" w="4690226">
                    <a:moveTo>
                      <a:pt x="0" y="0"/>
                    </a:moveTo>
                    <a:lnTo>
                      <a:pt x="4690226" y="0"/>
                    </a:lnTo>
                    <a:lnTo>
                      <a:pt x="4690226" y="3234323"/>
                    </a:lnTo>
                    <a:lnTo>
                      <a:pt x="0" y="323432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7CCE6B">
                      <a:alpha val="100000"/>
                    </a:srgbClr>
                  </a:gs>
                  <a:gs pos="100000">
                    <a:srgbClr val="D8FFD0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4690226" cy="3272423"/>
              </a:xfrm>
              <a:prstGeom prst="rect">
                <a:avLst/>
              </a:prstGeom>
            </p:spPr>
            <p:txBody>
              <a:bodyPr anchor="ctr" rtlCol="false" tIns="4689" lIns="4689" bIns="4689" rIns="468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79593" y="349542"/>
              <a:ext cx="2032494" cy="1316040"/>
            </a:xfrm>
            <a:custGeom>
              <a:avLst/>
              <a:gdLst/>
              <a:ahLst/>
              <a:cxnLst/>
              <a:rect r="r" b="b" t="t" l="l"/>
              <a:pathLst>
                <a:path h="1316040" w="2032494">
                  <a:moveTo>
                    <a:pt x="0" y="0"/>
                  </a:moveTo>
                  <a:lnTo>
                    <a:pt x="2032494" y="0"/>
                  </a:lnTo>
                  <a:lnTo>
                    <a:pt x="2032494" y="1316039"/>
                  </a:lnTo>
                  <a:lnTo>
                    <a:pt x="0" y="1316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77179" y="-9525"/>
              <a:ext cx="2014244" cy="261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87"/>
                </a:lnSpc>
              </a:pPr>
              <a:r>
                <a:rPr lang="en-US" b="true" sz="125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AS-IS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19008" y="5104191"/>
            <a:ext cx="1591508" cy="1607726"/>
            <a:chOff x="0" y="0"/>
            <a:chExt cx="2122011" cy="2143635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264060"/>
              <a:ext cx="2122011" cy="1879574"/>
              <a:chOff x="0" y="0"/>
              <a:chExt cx="3981592" cy="352670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3981592" cy="3526702"/>
              </a:xfrm>
              <a:custGeom>
                <a:avLst/>
                <a:gdLst/>
                <a:ahLst/>
                <a:cxnLst/>
                <a:rect r="r" b="b" t="t" l="l"/>
                <a:pathLst>
                  <a:path h="3526702" w="3981592">
                    <a:moveTo>
                      <a:pt x="0" y="0"/>
                    </a:moveTo>
                    <a:lnTo>
                      <a:pt x="3981592" y="0"/>
                    </a:lnTo>
                    <a:lnTo>
                      <a:pt x="3981592" y="3526702"/>
                    </a:lnTo>
                    <a:lnTo>
                      <a:pt x="0" y="352670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3981592" cy="3564802"/>
              </a:xfrm>
              <a:prstGeom prst="rect">
                <a:avLst/>
              </a:prstGeom>
            </p:spPr>
            <p:txBody>
              <a:bodyPr anchor="ctr" rtlCol="false" tIns="19783" lIns="19783" bIns="19783" rIns="19783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131555" y="334812"/>
              <a:ext cx="1858900" cy="1738072"/>
            </a:xfrm>
            <a:custGeom>
              <a:avLst/>
              <a:gdLst/>
              <a:ahLst/>
              <a:cxnLst/>
              <a:rect r="r" b="b" t="t" l="l"/>
              <a:pathLst>
                <a:path h="1738072" w="1858900">
                  <a:moveTo>
                    <a:pt x="0" y="0"/>
                  </a:moveTo>
                  <a:lnTo>
                    <a:pt x="1858900" y="0"/>
                  </a:lnTo>
                  <a:lnTo>
                    <a:pt x="1858900" y="1738071"/>
                  </a:lnTo>
                  <a:lnTo>
                    <a:pt x="0" y="1738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0" y="-9525"/>
              <a:ext cx="2122011" cy="244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73"/>
                </a:lnSpc>
              </a:pPr>
              <a:r>
                <a:rPr lang="en-US" b="true" sz="116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Diagrama TOBE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28700" y="6787789"/>
            <a:ext cx="2572124" cy="1276530"/>
            <a:chOff x="0" y="0"/>
            <a:chExt cx="3429498" cy="1702040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639634" y="257357"/>
              <a:ext cx="2150231" cy="1444684"/>
              <a:chOff x="0" y="0"/>
              <a:chExt cx="4319668" cy="2902271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319668" cy="2902271"/>
              </a:xfrm>
              <a:custGeom>
                <a:avLst/>
                <a:gdLst/>
                <a:ahLst/>
                <a:cxnLst/>
                <a:rect r="r" b="b" t="t" l="l"/>
                <a:pathLst>
                  <a:path h="2902271" w="4319668">
                    <a:moveTo>
                      <a:pt x="0" y="0"/>
                    </a:moveTo>
                    <a:lnTo>
                      <a:pt x="4319668" y="0"/>
                    </a:lnTo>
                    <a:lnTo>
                      <a:pt x="4319668" y="2902271"/>
                    </a:lnTo>
                    <a:lnTo>
                      <a:pt x="0" y="290227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4319668" cy="2940371"/>
              </a:xfrm>
              <a:prstGeom prst="rect">
                <a:avLst/>
              </a:prstGeom>
            </p:spPr>
            <p:txBody>
              <a:bodyPr anchor="ctr" rtlCol="false" tIns="5105" lIns="5105" bIns="5105" rIns="510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1" id="41"/>
            <p:cNvSpPr/>
            <p:nvPr/>
          </p:nvSpPr>
          <p:spPr>
            <a:xfrm flipH="false" flipV="false" rot="0">
              <a:off x="701946" y="430782"/>
              <a:ext cx="2025606" cy="1097832"/>
            </a:xfrm>
            <a:custGeom>
              <a:avLst/>
              <a:gdLst/>
              <a:ahLst/>
              <a:cxnLst/>
              <a:rect r="r" b="b" t="t" l="l"/>
              <a:pathLst>
                <a:path h="1097832" w="2025606">
                  <a:moveTo>
                    <a:pt x="0" y="0"/>
                  </a:moveTo>
                  <a:lnTo>
                    <a:pt x="2025606" y="0"/>
                  </a:lnTo>
                  <a:lnTo>
                    <a:pt x="2025606" y="1097833"/>
                  </a:lnTo>
                  <a:lnTo>
                    <a:pt x="0" y="1097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855" r="0" b="-85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 rot="0">
              <a:off x="0" y="-19050"/>
              <a:ext cx="3429498" cy="263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b="true" sz="122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MER (Modelo entidad-Relacion)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19008" y="8140192"/>
            <a:ext cx="1591508" cy="1688450"/>
            <a:chOff x="0" y="0"/>
            <a:chExt cx="2122011" cy="2251267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28220" y="244930"/>
              <a:ext cx="2093791" cy="2006337"/>
              <a:chOff x="0" y="0"/>
              <a:chExt cx="3250378" cy="3114616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3250378" cy="3114616"/>
              </a:xfrm>
              <a:custGeom>
                <a:avLst/>
                <a:gdLst/>
                <a:ahLst/>
                <a:cxnLst/>
                <a:rect r="r" b="b" t="t" l="l"/>
                <a:pathLst>
                  <a:path h="3114616" w="3250378">
                    <a:moveTo>
                      <a:pt x="0" y="0"/>
                    </a:moveTo>
                    <a:lnTo>
                      <a:pt x="3250378" y="0"/>
                    </a:lnTo>
                    <a:lnTo>
                      <a:pt x="3250378" y="3114616"/>
                    </a:lnTo>
                    <a:lnTo>
                      <a:pt x="0" y="311461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6767">
                      <a:alpha val="100000"/>
                    </a:srgbClr>
                  </a:gs>
                  <a:gs pos="100000">
                    <a:srgbClr val="FFD1D1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3250378" cy="3152716"/>
              </a:xfrm>
              <a:prstGeom prst="rect">
                <a:avLst/>
              </a:prstGeom>
            </p:spPr>
            <p:txBody>
              <a:bodyPr anchor="ctr" rtlCol="false" tIns="9492" lIns="9492" bIns="9492" rIns="949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47" id="47"/>
            <p:cNvSpPr/>
            <p:nvPr/>
          </p:nvSpPr>
          <p:spPr>
            <a:xfrm flipH="false" flipV="false" rot="0">
              <a:off x="151836" y="378628"/>
              <a:ext cx="1846560" cy="1738941"/>
            </a:xfrm>
            <a:custGeom>
              <a:avLst/>
              <a:gdLst/>
              <a:ahLst/>
              <a:cxnLst/>
              <a:rect r="r" b="b" t="t" l="l"/>
              <a:pathLst>
                <a:path h="1738941" w="1846560">
                  <a:moveTo>
                    <a:pt x="0" y="0"/>
                  </a:moveTo>
                  <a:lnTo>
                    <a:pt x="1846559" y="0"/>
                  </a:lnTo>
                  <a:lnTo>
                    <a:pt x="1846559" y="1738941"/>
                  </a:lnTo>
                  <a:lnTo>
                    <a:pt x="0" y="1738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 rot="0">
              <a:off x="0" y="-19050"/>
              <a:ext cx="2093791" cy="263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b="true" sz="122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Modelo Relacional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99879">
            <a:off x="6440407" y="-1370488"/>
            <a:ext cx="16291319" cy="4335087"/>
            <a:chOff x="0" y="0"/>
            <a:chExt cx="4290718" cy="1141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90718" cy="1141751"/>
            </a:xfrm>
            <a:custGeom>
              <a:avLst/>
              <a:gdLst/>
              <a:ahLst/>
              <a:cxnLst/>
              <a:rect r="r" b="b" t="t" l="l"/>
              <a:pathLst>
                <a:path h="1141751" w="4290718">
                  <a:moveTo>
                    <a:pt x="2145359" y="0"/>
                  </a:moveTo>
                  <a:cubicBezTo>
                    <a:pt x="960510" y="0"/>
                    <a:pt x="0" y="255590"/>
                    <a:pt x="0" y="570876"/>
                  </a:cubicBezTo>
                  <a:cubicBezTo>
                    <a:pt x="0" y="886162"/>
                    <a:pt x="960510" y="1141751"/>
                    <a:pt x="2145359" y="1141751"/>
                  </a:cubicBezTo>
                  <a:cubicBezTo>
                    <a:pt x="3330208" y="1141751"/>
                    <a:pt x="4290718" y="886162"/>
                    <a:pt x="4290718" y="570876"/>
                  </a:cubicBezTo>
                  <a:cubicBezTo>
                    <a:pt x="4290718" y="255590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402255" y="49889"/>
              <a:ext cx="3486208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9672369">
            <a:off x="-4175820" y="-2157862"/>
            <a:ext cx="16291319" cy="5152537"/>
            <a:chOff x="0" y="0"/>
            <a:chExt cx="4290718" cy="13570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90718" cy="1357047"/>
            </a:xfrm>
            <a:custGeom>
              <a:avLst/>
              <a:gdLst/>
              <a:ahLst/>
              <a:cxnLst/>
              <a:rect r="r" b="b" t="t" l="l"/>
              <a:pathLst>
                <a:path h="1357047" w="4290718">
                  <a:moveTo>
                    <a:pt x="2145359" y="0"/>
                  </a:moveTo>
                  <a:cubicBezTo>
                    <a:pt x="960510" y="0"/>
                    <a:pt x="0" y="303785"/>
                    <a:pt x="0" y="678523"/>
                  </a:cubicBezTo>
                  <a:cubicBezTo>
                    <a:pt x="0" y="1053261"/>
                    <a:pt x="960510" y="1357047"/>
                    <a:pt x="2145359" y="1357047"/>
                  </a:cubicBezTo>
                  <a:cubicBezTo>
                    <a:pt x="3330208" y="1357047"/>
                    <a:pt x="4290718" y="1053261"/>
                    <a:pt x="4290718" y="678523"/>
                  </a:cubicBezTo>
                  <a:cubicBezTo>
                    <a:pt x="4290718" y="303785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402255" y="70073"/>
              <a:ext cx="3486208" cy="1159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942250" y="4908500"/>
            <a:ext cx="2275236" cy="1146113"/>
          </a:xfrm>
          <a:custGeom>
            <a:avLst/>
            <a:gdLst/>
            <a:ahLst/>
            <a:cxnLst/>
            <a:rect r="r" b="b" t="t" l="l"/>
            <a:pathLst>
              <a:path h="1146113" w="2275236">
                <a:moveTo>
                  <a:pt x="0" y="0"/>
                </a:moveTo>
                <a:lnTo>
                  <a:pt x="2275236" y="0"/>
                </a:lnTo>
                <a:lnTo>
                  <a:pt x="2275236" y="1146113"/>
                </a:lnTo>
                <a:lnTo>
                  <a:pt x="0" y="11461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44399" y="4702685"/>
            <a:ext cx="1750191" cy="881630"/>
          </a:xfrm>
          <a:custGeom>
            <a:avLst/>
            <a:gdLst/>
            <a:ahLst/>
            <a:cxnLst/>
            <a:rect r="r" b="b" t="t" l="l"/>
            <a:pathLst>
              <a:path h="881630" w="1750191">
                <a:moveTo>
                  <a:pt x="0" y="0"/>
                </a:moveTo>
                <a:lnTo>
                  <a:pt x="1750191" y="0"/>
                </a:lnTo>
                <a:lnTo>
                  <a:pt x="1750191" y="881630"/>
                </a:lnTo>
                <a:lnTo>
                  <a:pt x="0" y="881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625353" y="7422872"/>
            <a:ext cx="7287299" cy="3670856"/>
          </a:xfrm>
          <a:custGeom>
            <a:avLst/>
            <a:gdLst/>
            <a:ahLst/>
            <a:cxnLst/>
            <a:rect r="r" b="b" t="t" l="l"/>
            <a:pathLst>
              <a:path h="3670856" w="7287299">
                <a:moveTo>
                  <a:pt x="0" y="0"/>
                </a:moveTo>
                <a:lnTo>
                  <a:pt x="7287299" y="0"/>
                </a:lnTo>
                <a:lnTo>
                  <a:pt x="7287299" y="3670856"/>
                </a:lnTo>
                <a:lnTo>
                  <a:pt x="0" y="3670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382527" y="7301100"/>
            <a:ext cx="5346468" cy="2693195"/>
          </a:xfrm>
          <a:custGeom>
            <a:avLst/>
            <a:gdLst/>
            <a:ahLst/>
            <a:cxnLst/>
            <a:rect r="r" b="b" t="t" l="l"/>
            <a:pathLst>
              <a:path h="2693195" w="5346468">
                <a:moveTo>
                  <a:pt x="0" y="0"/>
                </a:moveTo>
                <a:lnTo>
                  <a:pt x="5346468" y="0"/>
                </a:lnTo>
                <a:lnTo>
                  <a:pt x="5346468" y="2693194"/>
                </a:lnTo>
                <a:lnTo>
                  <a:pt x="0" y="2693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991762" y="801873"/>
            <a:ext cx="4304475" cy="4196864"/>
          </a:xfrm>
          <a:custGeom>
            <a:avLst/>
            <a:gdLst/>
            <a:ahLst/>
            <a:cxnLst/>
            <a:rect r="r" b="b" t="t" l="l"/>
            <a:pathLst>
              <a:path h="4196864" w="4304475">
                <a:moveTo>
                  <a:pt x="0" y="0"/>
                </a:moveTo>
                <a:lnTo>
                  <a:pt x="4304476" y="0"/>
                </a:lnTo>
                <a:lnTo>
                  <a:pt x="4304476" y="4196864"/>
                </a:lnTo>
                <a:lnTo>
                  <a:pt x="0" y="4196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139193" y="5860505"/>
            <a:ext cx="12009615" cy="1440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29"/>
              </a:lnSpc>
              <a:spcBef>
                <a:spcPct val="0"/>
              </a:spcBef>
            </a:pPr>
            <a:r>
              <a:rPr lang="en-US" sz="108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Mockups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95077" y="2274891"/>
            <a:ext cx="10697846" cy="8745489"/>
          </a:xfrm>
          <a:custGeom>
            <a:avLst/>
            <a:gdLst/>
            <a:ahLst/>
            <a:cxnLst/>
            <a:rect r="r" b="b" t="t" l="l"/>
            <a:pathLst>
              <a:path h="8745489" w="10697846">
                <a:moveTo>
                  <a:pt x="0" y="0"/>
                </a:moveTo>
                <a:lnTo>
                  <a:pt x="10697846" y="0"/>
                </a:lnTo>
                <a:lnTo>
                  <a:pt x="10697846" y="8745489"/>
                </a:lnTo>
                <a:lnTo>
                  <a:pt x="0" y="87454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81733" y="2782468"/>
            <a:ext cx="6924534" cy="5581956"/>
          </a:xfrm>
          <a:custGeom>
            <a:avLst/>
            <a:gdLst/>
            <a:ahLst/>
            <a:cxnLst/>
            <a:rect r="r" b="b" t="t" l="l"/>
            <a:pathLst>
              <a:path h="5581956" w="6924534">
                <a:moveTo>
                  <a:pt x="0" y="0"/>
                </a:moveTo>
                <a:lnTo>
                  <a:pt x="6924534" y="0"/>
                </a:lnTo>
                <a:lnTo>
                  <a:pt x="6924534" y="5581956"/>
                </a:lnTo>
                <a:lnTo>
                  <a:pt x="0" y="55819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46" t="-3794" r="-3223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02648" y="264978"/>
            <a:ext cx="14619312" cy="17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1"/>
              </a:lnSpc>
            </a:pPr>
            <a:r>
              <a:rPr lang="en-US" b="true" sz="523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Vista del Recepcionista y Guardia de Acceso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95077" y="2274891"/>
            <a:ext cx="10697846" cy="8745489"/>
          </a:xfrm>
          <a:custGeom>
            <a:avLst/>
            <a:gdLst/>
            <a:ahLst/>
            <a:cxnLst/>
            <a:rect r="r" b="b" t="t" l="l"/>
            <a:pathLst>
              <a:path h="8745489" w="10697846">
                <a:moveTo>
                  <a:pt x="0" y="0"/>
                </a:moveTo>
                <a:lnTo>
                  <a:pt x="10697846" y="0"/>
                </a:lnTo>
                <a:lnTo>
                  <a:pt x="10697846" y="8745489"/>
                </a:lnTo>
                <a:lnTo>
                  <a:pt x="0" y="87454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761122" y="819632"/>
            <a:ext cx="6765757" cy="88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1"/>
              </a:lnSpc>
            </a:pPr>
            <a:r>
              <a:rPr lang="en-US" b="true" sz="523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Vista del Mecanico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870622" y="2839910"/>
            <a:ext cx="8546755" cy="5341722"/>
          </a:xfrm>
          <a:custGeom>
            <a:avLst/>
            <a:gdLst/>
            <a:ahLst/>
            <a:cxnLst/>
            <a:rect r="r" b="b" t="t" l="l"/>
            <a:pathLst>
              <a:path h="5341722" w="8546755">
                <a:moveTo>
                  <a:pt x="0" y="0"/>
                </a:moveTo>
                <a:lnTo>
                  <a:pt x="8546756" y="0"/>
                </a:lnTo>
                <a:lnTo>
                  <a:pt x="8546756" y="5341722"/>
                </a:lnTo>
                <a:lnTo>
                  <a:pt x="0" y="53417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95077" y="2274891"/>
            <a:ext cx="10697846" cy="8745489"/>
          </a:xfrm>
          <a:custGeom>
            <a:avLst/>
            <a:gdLst/>
            <a:ahLst/>
            <a:cxnLst/>
            <a:rect r="r" b="b" t="t" l="l"/>
            <a:pathLst>
              <a:path h="8745489" w="10697846">
                <a:moveTo>
                  <a:pt x="0" y="0"/>
                </a:moveTo>
                <a:lnTo>
                  <a:pt x="10697846" y="0"/>
                </a:lnTo>
                <a:lnTo>
                  <a:pt x="10697846" y="8745489"/>
                </a:lnTo>
                <a:lnTo>
                  <a:pt x="0" y="87454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15872" y="819632"/>
            <a:ext cx="7656256" cy="88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1"/>
              </a:lnSpc>
            </a:pPr>
            <a:r>
              <a:rPr lang="en-US" b="true" sz="523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Vista del Jefe de Taller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894364" y="2814644"/>
            <a:ext cx="8521394" cy="5339698"/>
          </a:xfrm>
          <a:custGeom>
            <a:avLst/>
            <a:gdLst/>
            <a:ahLst/>
            <a:cxnLst/>
            <a:rect r="r" b="b" t="t" l="l"/>
            <a:pathLst>
              <a:path h="5339698" w="8521394">
                <a:moveTo>
                  <a:pt x="0" y="0"/>
                </a:moveTo>
                <a:lnTo>
                  <a:pt x="8521394" y="0"/>
                </a:lnTo>
                <a:lnTo>
                  <a:pt x="8521394" y="5339698"/>
                </a:lnTo>
                <a:lnTo>
                  <a:pt x="0" y="53396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9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95077" y="2274891"/>
            <a:ext cx="10697846" cy="8745489"/>
          </a:xfrm>
          <a:custGeom>
            <a:avLst/>
            <a:gdLst/>
            <a:ahLst/>
            <a:cxnLst/>
            <a:rect r="r" b="b" t="t" l="l"/>
            <a:pathLst>
              <a:path h="8745489" w="10697846">
                <a:moveTo>
                  <a:pt x="0" y="0"/>
                </a:moveTo>
                <a:lnTo>
                  <a:pt x="10697846" y="0"/>
                </a:lnTo>
                <a:lnTo>
                  <a:pt x="10697846" y="8745489"/>
                </a:lnTo>
                <a:lnTo>
                  <a:pt x="0" y="87454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70554" y="819632"/>
            <a:ext cx="11146891" cy="88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1"/>
              </a:lnSpc>
            </a:pPr>
            <a:r>
              <a:rPr lang="en-US" b="true" sz="523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Vista del Asistente de Repuesto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875155" y="2784997"/>
            <a:ext cx="6537689" cy="5426282"/>
          </a:xfrm>
          <a:custGeom>
            <a:avLst/>
            <a:gdLst/>
            <a:ahLst/>
            <a:cxnLst/>
            <a:rect r="r" b="b" t="t" l="l"/>
            <a:pathLst>
              <a:path h="5426282" w="6537689">
                <a:moveTo>
                  <a:pt x="0" y="0"/>
                </a:moveTo>
                <a:lnTo>
                  <a:pt x="6537690" y="0"/>
                </a:lnTo>
                <a:lnTo>
                  <a:pt x="6537690" y="5426282"/>
                </a:lnTo>
                <a:lnTo>
                  <a:pt x="0" y="54262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95077" y="2274891"/>
            <a:ext cx="10697846" cy="8745489"/>
          </a:xfrm>
          <a:custGeom>
            <a:avLst/>
            <a:gdLst/>
            <a:ahLst/>
            <a:cxnLst/>
            <a:rect r="r" b="b" t="t" l="l"/>
            <a:pathLst>
              <a:path h="8745489" w="10697846">
                <a:moveTo>
                  <a:pt x="0" y="0"/>
                </a:moveTo>
                <a:lnTo>
                  <a:pt x="10697846" y="0"/>
                </a:lnTo>
                <a:lnTo>
                  <a:pt x="10697846" y="8745489"/>
                </a:lnTo>
                <a:lnTo>
                  <a:pt x="0" y="87454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70554" y="819632"/>
            <a:ext cx="11146891" cy="88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1"/>
              </a:lnSpc>
            </a:pPr>
            <a:r>
              <a:rPr lang="en-US" b="true" sz="523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Vista del Coordinador Zonal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592404" y="2861056"/>
            <a:ext cx="7103191" cy="5282999"/>
          </a:xfrm>
          <a:custGeom>
            <a:avLst/>
            <a:gdLst/>
            <a:ahLst/>
            <a:cxnLst/>
            <a:rect r="r" b="b" t="t" l="l"/>
            <a:pathLst>
              <a:path h="5282999" w="7103191">
                <a:moveTo>
                  <a:pt x="0" y="0"/>
                </a:moveTo>
                <a:lnTo>
                  <a:pt x="7103192" y="0"/>
                </a:lnTo>
                <a:lnTo>
                  <a:pt x="7103192" y="5282998"/>
                </a:lnTo>
                <a:lnTo>
                  <a:pt x="0" y="52829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95077" y="2274891"/>
            <a:ext cx="10697846" cy="8745489"/>
          </a:xfrm>
          <a:custGeom>
            <a:avLst/>
            <a:gdLst/>
            <a:ahLst/>
            <a:cxnLst/>
            <a:rect r="r" b="b" t="t" l="l"/>
            <a:pathLst>
              <a:path h="8745489" w="10697846">
                <a:moveTo>
                  <a:pt x="0" y="0"/>
                </a:moveTo>
                <a:lnTo>
                  <a:pt x="10697846" y="0"/>
                </a:lnTo>
                <a:lnTo>
                  <a:pt x="10697846" y="8745489"/>
                </a:lnTo>
                <a:lnTo>
                  <a:pt x="0" y="87454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70554" y="819632"/>
            <a:ext cx="11146891" cy="88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1"/>
              </a:lnSpc>
            </a:pPr>
            <a:r>
              <a:rPr lang="en-US" b="true" sz="523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Vista del Supervisor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117267" y="2676665"/>
            <a:ext cx="8053465" cy="5687760"/>
          </a:xfrm>
          <a:custGeom>
            <a:avLst/>
            <a:gdLst/>
            <a:ahLst/>
            <a:cxnLst/>
            <a:rect r="r" b="b" t="t" l="l"/>
            <a:pathLst>
              <a:path h="5687760" w="8053465">
                <a:moveTo>
                  <a:pt x="0" y="0"/>
                </a:moveTo>
                <a:lnTo>
                  <a:pt x="8053466" y="0"/>
                </a:lnTo>
                <a:lnTo>
                  <a:pt x="8053466" y="5687759"/>
                </a:lnTo>
                <a:lnTo>
                  <a:pt x="0" y="56877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95077" y="2274891"/>
            <a:ext cx="10697846" cy="8745489"/>
          </a:xfrm>
          <a:custGeom>
            <a:avLst/>
            <a:gdLst/>
            <a:ahLst/>
            <a:cxnLst/>
            <a:rect r="r" b="b" t="t" l="l"/>
            <a:pathLst>
              <a:path h="8745489" w="10697846">
                <a:moveTo>
                  <a:pt x="0" y="0"/>
                </a:moveTo>
                <a:lnTo>
                  <a:pt x="10697846" y="0"/>
                </a:lnTo>
                <a:lnTo>
                  <a:pt x="10697846" y="8745489"/>
                </a:lnTo>
                <a:lnTo>
                  <a:pt x="0" y="87454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70554" y="819632"/>
            <a:ext cx="11146891" cy="88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1"/>
              </a:lnSpc>
            </a:pPr>
            <a:r>
              <a:rPr lang="en-US" b="true" sz="523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Vista del Administrador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633457" y="2726245"/>
            <a:ext cx="9021086" cy="5638179"/>
          </a:xfrm>
          <a:custGeom>
            <a:avLst/>
            <a:gdLst/>
            <a:ahLst/>
            <a:cxnLst/>
            <a:rect r="r" b="b" t="t" l="l"/>
            <a:pathLst>
              <a:path h="5638179" w="9021086">
                <a:moveTo>
                  <a:pt x="0" y="0"/>
                </a:moveTo>
                <a:lnTo>
                  <a:pt x="9021086" y="0"/>
                </a:lnTo>
                <a:lnTo>
                  <a:pt x="9021086" y="5638179"/>
                </a:lnTo>
                <a:lnTo>
                  <a:pt x="0" y="56381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99879">
            <a:off x="6440407" y="-1370488"/>
            <a:ext cx="16291319" cy="4335087"/>
            <a:chOff x="0" y="0"/>
            <a:chExt cx="4290718" cy="1141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90718" cy="1141751"/>
            </a:xfrm>
            <a:custGeom>
              <a:avLst/>
              <a:gdLst/>
              <a:ahLst/>
              <a:cxnLst/>
              <a:rect r="r" b="b" t="t" l="l"/>
              <a:pathLst>
                <a:path h="1141751" w="4290718">
                  <a:moveTo>
                    <a:pt x="2145359" y="0"/>
                  </a:moveTo>
                  <a:cubicBezTo>
                    <a:pt x="960510" y="0"/>
                    <a:pt x="0" y="255590"/>
                    <a:pt x="0" y="570876"/>
                  </a:cubicBezTo>
                  <a:cubicBezTo>
                    <a:pt x="0" y="886162"/>
                    <a:pt x="960510" y="1141751"/>
                    <a:pt x="2145359" y="1141751"/>
                  </a:cubicBezTo>
                  <a:cubicBezTo>
                    <a:pt x="3330208" y="1141751"/>
                    <a:pt x="4290718" y="886162"/>
                    <a:pt x="4290718" y="570876"/>
                  </a:cubicBezTo>
                  <a:cubicBezTo>
                    <a:pt x="4290718" y="255590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402255" y="49889"/>
              <a:ext cx="3486208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9672369">
            <a:off x="-4118858" y="-1813665"/>
            <a:ext cx="16291319" cy="4798912"/>
            <a:chOff x="0" y="0"/>
            <a:chExt cx="4290718" cy="12639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90718" cy="1263911"/>
            </a:xfrm>
            <a:custGeom>
              <a:avLst/>
              <a:gdLst/>
              <a:ahLst/>
              <a:cxnLst/>
              <a:rect r="r" b="b" t="t" l="l"/>
              <a:pathLst>
                <a:path h="1263911" w="4290718">
                  <a:moveTo>
                    <a:pt x="2145359" y="0"/>
                  </a:moveTo>
                  <a:cubicBezTo>
                    <a:pt x="960510" y="0"/>
                    <a:pt x="0" y="282936"/>
                    <a:pt x="0" y="631956"/>
                  </a:cubicBezTo>
                  <a:cubicBezTo>
                    <a:pt x="0" y="980975"/>
                    <a:pt x="960510" y="1263911"/>
                    <a:pt x="2145359" y="1263911"/>
                  </a:cubicBezTo>
                  <a:cubicBezTo>
                    <a:pt x="3330208" y="1263911"/>
                    <a:pt x="4290718" y="980975"/>
                    <a:pt x="4290718" y="631956"/>
                  </a:cubicBezTo>
                  <a:cubicBezTo>
                    <a:pt x="4290718" y="282936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402255" y="61342"/>
              <a:ext cx="3486208" cy="1084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204149" y="585792"/>
            <a:ext cx="3879701" cy="3879701"/>
          </a:xfrm>
          <a:custGeom>
            <a:avLst/>
            <a:gdLst/>
            <a:ahLst/>
            <a:cxnLst/>
            <a:rect r="r" b="b" t="t" l="l"/>
            <a:pathLst>
              <a:path h="3879701" w="3879701">
                <a:moveTo>
                  <a:pt x="0" y="0"/>
                </a:moveTo>
                <a:lnTo>
                  <a:pt x="3879702" y="0"/>
                </a:lnTo>
                <a:lnTo>
                  <a:pt x="3879702" y="3879701"/>
                </a:lnTo>
                <a:lnTo>
                  <a:pt x="0" y="3879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08132" y="5540673"/>
            <a:ext cx="11871736" cy="2669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29"/>
              </a:lnSpc>
              <a:spcBef>
                <a:spcPct val="0"/>
              </a:spcBef>
            </a:pPr>
            <a:r>
              <a:rPr lang="en-US" sz="108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Fase 3 – Construcción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2386" y="1478154"/>
            <a:ext cx="11374703" cy="7330692"/>
            <a:chOff x="0" y="0"/>
            <a:chExt cx="15166271" cy="977425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309747" y="1438123"/>
              <a:ext cx="14546778" cy="8336132"/>
              <a:chOff x="0" y="0"/>
              <a:chExt cx="3459776" cy="198264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459776" cy="1982649"/>
              </a:xfrm>
              <a:custGeom>
                <a:avLst/>
                <a:gdLst/>
                <a:ahLst/>
                <a:cxnLst/>
                <a:rect r="r" b="b" t="t" l="l"/>
                <a:pathLst>
                  <a:path h="1982649" w="3459776">
                    <a:moveTo>
                      <a:pt x="0" y="0"/>
                    </a:moveTo>
                    <a:lnTo>
                      <a:pt x="3459776" y="0"/>
                    </a:lnTo>
                    <a:lnTo>
                      <a:pt x="3459776" y="1982649"/>
                    </a:lnTo>
                    <a:lnTo>
                      <a:pt x="0" y="198264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3459776" cy="2020749"/>
              </a:xfrm>
              <a:prstGeom prst="rect">
                <a:avLst/>
              </a:prstGeom>
            </p:spPr>
            <p:txBody>
              <a:bodyPr anchor="ctr" rtlCol="false" tIns="38075" lIns="38075" bIns="38075" rIns="38075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-114300"/>
              <a:ext cx="15166271" cy="1454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50"/>
                </a:lnSpc>
              </a:pPr>
              <a:r>
                <a:rPr lang="en-US" b="true" sz="681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Inicio Sesion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592275" y="1998562"/>
              <a:ext cx="13981722" cy="7215254"/>
            </a:xfrm>
            <a:custGeom>
              <a:avLst/>
              <a:gdLst/>
              <a:ahLst/>
              <a:cxnLst/>
              <a:rect r="r" b="b" t="t" l="l"/>
              <a:pathLst>
                <a:path h="7215254" w="13981722">
                  <a:moveTo>
                    <a:pt x="0" y="0"/>
                  </a:moveTo>
                  <a:lnTo>
                    <a:pt x="13981722" y="0"/>
                  </a:lnTo>
                  <a:lnTo>
                    <a:pt x="13981722" y="7215254"/>
                  </a:lnTo>
                  <a:lnTo>
                    <a:pt x="0" y="7215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179" t="0" r="-7179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647089" y="3475977"/>
            <a:ext cx="6147810" cy="3238577"/>
            <a:chOff x="0" y="0"/>
            <a:chExt cx="8197080" cy="4318103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8197080" cy="4318103"/>
              <a:chOff x="0" y="0"/>
              <a:chExt cx="1464739" cy="77160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464739" cy="771603"/>
              </a:xfrm>
              <a:custGeom>
                <a:avLst/>
                <a:gdLst/>
                <a:ahLst/>
                <a:cxnLst/>
                <a:rect r="r" b="b" t="t" l="l"/>
                <a:pathLst>
                  <a:path h="771603" w="1464739">
                    <a:moveTo>
                      <a:pt x="36520" y="0"/>
                    </a:moveTo>
                    <a:lnTo>
                      <a:pt x="1428219" y="0"/>
                    </a:lnTo>
                    <a:cubicBezTo>
                      <a:pt x="1448388" y="0"/>
                      <a:pt x="1464739" y="16350"/>
                      <a:pt x="1464739" y="36520"/>
                    </a:cubicBezTo>
                    <a:lnTo>
                      <a:pt x="1464739" y="735083"/>
                    </a:lnTo>
                    <a:cubicBezTo>
                      <a:pt x="1464739" y="755253"/>
                      <a:pt x="1448388" y="771603"/>
                      <a:pt x="1428219" y="771603"/>
                    </a:cubicBezTo>
                    <a:lnTo>
                      <a:pt x="36520" y="771603"/>
                    </a:lnTo>
                    <a:cubicBezTo>
                      <a:pt x="16350" y="771603"/>
                      <a:pt x="0" y="755253"/>
                      <a:pt x="0" y="735083"/>
                    </a:cubicBezTo>
                    <a:lnTo>
                      <a:pt x="0" y="36520"/>
                    </a:lnTo>
                    <a:cubicBezTo>
                      <a:pt x="0" y="16350"/>
                      <a:pt x="16350" y="0"/>
                      <a:pt x="36520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1464739" cy="828753"/>
              </a:xfrm>
              <a:prstGeom prst="rect">
                <a:avLst/>
              </a:prstGeom>
            </p:spPr>
            <p:txBody>
              <a:bodyPr anchor="ctr" rtlCol="false" tIns="56156" lIns="56156" bIns="56156" rIns="56156"/>
              <a:lstStyle/>
              <a:p>
                <a:pPr algn="ctr" marL="0" indent="0" lvl="0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97476" y="995435"/>
              <a:ext cx="7402128" cy="2929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Vista de acces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p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inc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ip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al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 si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</a:p>
            <a:p>
              <a:pPr algn="l" marL="388620" indent="-194310" lvl="1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rmi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 ingresar usuario y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con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tra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ña para au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icar</a:t>
              </a:r>
            </a:p>
            <a:p>
              <a:pPr algn="l" marL="388620" indent="-194310" lvl="1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Redirige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gú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 el 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ro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de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usu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ri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t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as inicia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 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ó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n.</a:t>
              </a:r>
            </a:p>
            <a:p>
              <a:pPr algn="l" marL="388620" indent="-194310" lvl="1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Asegu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ra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acc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 co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ntr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ad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 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y p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ote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 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la p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latafor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927558" y="362145"/>
              <a:ext cx="2341965" cy="568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69"/>
                </a:lnSpc>
                <a:spcBef>
                  <a:spcPct val="0"/>
                </a:spcBef>
              </a:pPr>
              <a:r>
                <a:rPr lang="en-US" sz="2653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Elementos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35513" y="2116765"/>
            <a:ext cx="10290988" cy="6053469"/>
            <a:chOff x="0" y="0"/>
            <a:chExt cx="13721317" cy="807129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80236" y="1199368"/>
              <a:ext cx="13160845" cy="6871925"/>
              <a:chOff x="0" y="0"/>
              <a:chExt cx="3977808" cy="207700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977808" cy="2077009"/>
              </a:xfrm>
              <a:custGeom>
                <a:avLst/>
                <a:gdLst/>
                <a:ahLst/>
                <a:cxnLst/>
                <a:rect r="r" b="b" t="t" l="l"/>
                <a:pathLst>
                  <a:path h="2077009" w="3977808">
                    <a:moveTo>
                      <a:pt x="0" y="0"/>
                    </a:moveTo>
                    <a:lnTo>
                      <a:pt x="3977808" y="0"/>
                    </a:lnTo>
                    <a:lnTo>
                      <a:pt x="3977808" y="2077009"/>
                    </a:lnTo>
                    <a:lnTo>
                      <a:pt x="0" y="2077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3977808" cy="2115109"/>
              </a:xfrm>
              <a:prstGeom prst="rect">
                <a:avLst/>
              </a:prstGeom>
            </p:spPr>
            <p:txBody>
              <a:bodyPr anchor="ctr" rtlCol="false" tIns="33200" lIns="33200" bIns="33200" rIns="332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-95250"/>
              <a:ext cx="13721317" cy="1149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06"/>
                </a:lnSpc>
              </a:pPr>
              <a:r>
                <a:rPr lang="en-US" b="true" sz="535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Vista General del Sistema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688166" y="1646232"/>
              <a:ext cx="12344985" cy="5978196"/>
            </a:xfrm>
            <a:custGeom>
              <a:avLst/>
              <a:gdLst/>
              <a:ahLst/>
              <a:cxnLst/>
              <a:rect r="r" b="b" t="t" l="l"/>
              <a:pathLst>
                <a:path h="5978196" w="12344985">
                  <a:moveTo>
                    <a:pt x="0" y="0"/>
                  </a:moveTo>
                  <a:lnTo>
                    <a:pt x="12344985" y="0"/>
                  </a:lnTo>
                  <a:lnTo>
                    <a:pt x="12344985" y="5978196"/>
                  </a:lnTo>
                  <a:lnTo>
                    <a:pt x="0" y="5978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643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060890" y="3720400"/>
            <a:ext cx="6764504" cy="2846200"/>
            <a:chOff x="0" y="0"/>
            <a:chExt cx="9019339" cy="3794933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019339" cy="3794933"/>
              <a:chOff x="0" y="0"/>
              <a:chExt cx="1779227" cy="74861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779227" cy="748619"/>
              </a:xfrm>
              <a:custGeom>
                <a:avLst/>
                <a:gdLst/>
                <a:ahLst/>
                <a:cxnLst/>
                <a:rect r="r" b="b" t="t" l="l"/>
                <a:pathLst>
                  <a:path h="748619" w="1779227">
                    <a:moveTo>
                      <a:pt x="33234" y="0"/>
                    </a:moveTo>
                    <a:lnTo>
                      <a:pt x="1745993" y="0"/>
                    </a:lnTo>
                    <a:cubicBezTo>
                      <a:pt x="1764348" y="0"/>
                      <a:pt x="1779227" y="14880"/>
                      <a:pt x="1779227" y="33234"/>
                    </a:cubicBezTo>
                    <a:lnTo>
                      <a:pt x="1779227" y="715385"/>
                    </a:lnTo>
                    <a:cubicBezTo>
                      <a:pt x="1779227" y="733740"/>
                      <a:pt x="1764348" y="748619"/>
                      <a:pt x="1745993" y="748619"/>
                    </a:cubicBezTo>
                    <a:lnTo>
                      <a:pt x="33234" y="748619"/>
                    </a:lnTo>
                    <a:cubicBezTo>
                      <a:pt x="14880" y="748619"/>
                      <a:pt x="0" y="733740"/>
                      <a:pt x="0" y="715385"/>
                    </a:cubicBezTo>
                    <a:lnTo>
                      <a:pt x="0" y="33234"/>
                    </a:lnTo>
                    <a:cubicBezTo>
                      <a:pt x="0" y="14880"/>
                      <a:pt x="14880" y="0"/>
                      <a:pt x="33234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1779227" cy="805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28765" y="809530"/>
              <a:ext cx="7961809" cy="25749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5900" indent="-172950" lvl="1">
                <a:lnSpc>
                  <a:spcPts val="224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Panel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principal que muestra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e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 estado ge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er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al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lle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 y accesos r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ápido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s.</a:t>
              </a:r>
            </a:p>
            <a:p>
              <a:pPr algn="l" marL="345900" indent="-172950" lvl="1">
                <a:lnSpc>
                  <a:spcPts val="224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Incluye 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icad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res del día 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y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ncione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cl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ave (ingr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os, 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OTs, d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as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hboard,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not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ica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cion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)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  <a:p>
              <a:pPr algn="l" marL="345900" indent="-172950" lvl="1">
                <a:lnSpc>
                  <a:spcPts val="224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Mue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ra 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últimas OTs y 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tividades re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ient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 para 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seguimie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nto rápido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  <a:p>
              <a:pPr algn="l" marL="345900" indent="-172950" lvl="1">
                <a:lnSpc>
                  <a:spcPts val="224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inf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ormación visible 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cambia s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egún e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ro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 del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usu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ri</a:t>
              </a:r>
              <a:r>
                <a:rPr lang="en-US" sz="160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200685" y="213296"/>
              <a:ext cx="2617970" cy="518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52"/>
                </a:lnSpc>
                <a:spcBef>
                  <a:spcPct val="0"/>
                </a:spcBef>
              </a:pPr>
              <a:r>
                <a:rPr lang="en-US" sz="2403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Elementos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01023" y="1677441"/>
            <a:ext cx="10320393" cy="6932118"/>
            <a:chOff x="0" y="0"/>
            <a:chExt cx="13760524" cy="924282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2267085"/>
              <a:ext cx="13760524" cy="6975739"/>
              <a:chOff x="0" y="0"/>
              <a:chExt cx="4251761" cy="215538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51761" cy="2155381"/>
              </a:xfrm>
              <a:custGeom>
                <a:avLst/>
                <a:gdLst/>
                <a:ahLst/>
                <a:cxnLst/>
                <a:rect r="r" b="b" t="t" l="l"/>
                <a:pathLst>
                  <a:path h="2155381" w="4251761">
                    <a:moveTo>
                      <a:pt x="0" y="0"/>
                    </a:moveTo>
                    <a:lnTo>
                      <a:pt x="4251761" y="0"/>
                    </a:lnTo>
                    <a:lnTo>
                      <a:pt x="4251761" y="2155381"/>
                    </a:lnTo>
                    <a:lnTo>
                      <a:pt x="0" y="215538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51761" cy="2193481"/>
              </a:xfrm>
              <a:prstGeom prst="rect">
                <a:avLst/>
              </a:prstGeom>
            </p:spPr>
            <p:txBody>
              <a:bodyPr anchor="ctr" rtlCol="false" tIns="30825" lIns="30825" bIns="30825" rIns="30825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-76200"/>
              <a:ext cx="13760524" cy="2201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58"/>
                </a:lnSpc>
              </a:pPr>
              <a:r>
                <a:rPr lang="en-US" b="true" sz="524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Pantalla de Gestión de Usuarios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413212" y="2836698"/>
              <a:ext cx="12934100" cy="5836513"/>
            </a:xfrm>
            <a:custGeom>
              <a:avLst/>
              <a:gdLst/>
              <a:ahLst/>
              <a:cxnLst/>
              <a:rect r="r" b="b" t="t" l="l"/>
              <a:pathLst>
                <a:path h="5836513" w="12934100">
                  <a:moveTo>
                    <a:pt x="0" y="0"/>
                  </a:moveTo>
                  <a:lnTo>
                    <a:pt x="12934100" y="0"/>
                  </a:lnTo>
                  <a:lnTo>
                    <a:pt x="12934100" y="5836513"/>
                  </a:lnTo>
                  <a:lnTo>
                    <a:pt x="0" y="5836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007854" y="3282939"/>
            <a:ext cx="6902793" cy="3721121"/>
            <a:chOff x="0" y="0"/>
            <a:chExt cx="9203724" cy="496149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203724" cy="4961495"/>
              <a:chOff x="0" y="0"/>
              <a:chExt cx="1441755" cy="77721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441755" cy="777213"/>
              </a:xfrm>
              <a:custGeom>
                <a:avLst/>
                <a:gdLst/>
                <a:ahLst/>
                <a:cxnLst/>
                <a:rect r="r" b="b" t="t" l="l"/>
                <a:pathLst>
                  <a:path h="777213" w="1441755">
                    <a:moveTo>
                      <a:pt x="41014" y="0"/>
                    </a:moveTo>
                    <a:lnTo>
                      <a:pt x="1400741" y="0"/>
                    </a:lnTo>
                    <a:cubicBezTo>
                      <a:pt x="1411618" y="0"/>
                      <a:pt x="1422050" y="4321"/>
                      <a:pt x="1429742" y="12013"/>
                    </a:cubicBezTo>
                    <a:cubicBezTo>
                      <a:pt x="1437434" y="19704"/>
                      <a:pt x="1441755" y="30136"/>
                      <a:pt x="1441755" y="41014"/>
                    </a:cubicBezTo>
                    <a:lnTo>
                      <a:pt x="1441755" y="736200"/>
                    </a:lnTo>
                    <a:cubicBezTo>
                      <a:pt x="1441755" y="758851"/>
                      <a:pt x="1423392" y="777213"/>
                      <a:pt x="1400741" y="777213"/>
                    </a:cubicBezTo>
                    <a:lnTo>
                      <a:pt x="41014" y="777213"/>
                    </a:lnTo>
                    <a:cubicBezTo>
                      <a:pt x="30136" y="777213"/>
                      <a:pt x="19704" y="772892"/>
                      <a:pt x="12013" y="765201"/>
                    </a:cubicBezTo>
                    <a:cubicBezTo>
                      <a:pt x="4321" y="757509"/>
                      <a:pt x="0" y="747077"/>
                      <a:pt x="0" y="736200"/>
                    </a:cubicBezTo>
                    <a:lnTo>
                      <a:pt x="0" y="41014"/>
                    </a:lnTo>
                    <a:cubicBezTo>
                      <a:pt x="0" y="18362"/>
                      <a:pt x="18362" y="0"/>
                      <a:pt x="41014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1441755" cy="8343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80041" y="1168182"/>
              <a:ext cx="8443641" cy="32397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5591" indent="-217796" lvl="1">
                <a:lnSpc>
                  <a:spcPts val="282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1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Módul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 p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ra administra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cuenta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 de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 sistema.</a:t>
              </a:r>
            </a:p>
            <a:p>
              <a:pPr algn="l" marL="435591" indent="-217796" lvl="1">
                <a:lnSpc>
                  <a:spcPts val="282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Permite 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rear usuario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s, editar roles, activar/desactivar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y resetear contraseña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s.</a:t>
              </a:r>
            </a:p>
            <a:p>
              <a:pPr algn="l" marL="435591" indent="-217796" lvl="1">
                <a:lnSpc>
                  <a:spcPts val="282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Muestra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bl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 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con d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atos esenc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 de cad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usuario.</a:t>
              </a:r>
            </a:p>
            <a:p>
              <a:pPr algn="l" marL="435591" indent="-217796" lvl="1">
                <a:lnSpc>
                  <a:spcPts val="282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Acceso 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ex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clusivo p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ra rol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 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dminis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tiv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</a:t>
              </a:r>
              <a:r>
                <a:rPr lang="en-US" sz="2017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266117" y="326050"/>
              <a:ext cx="2671490" cy="661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43"/>
                </a:lnSpc>
                <a:spcBef>
                  <a:spcPct val="0"/>
                </a:spcBef>
              </a:pPr>
              <a:r>
                <a:rPr lang="en-US" sz="302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Elementos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2215606"/>
            <a:ext cx="10298129" cy="5855788"/>
            <a:chOff x="0" y="0"/>
            <a:chExt cx="13730838" cy="780771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1097998"/>
              <a:ext cx="13730838" cy="6709720"/>
              <a:chOff x="0" y="0"/>
              <a:chExt cx="4533232" cy="221521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533232" cy="2215212"/>
              </a:xfrm>
              <a:custGeom>
                <a:avLst/>
                <a:gdLst/>
                <a:ahLst/>
                <a:cxnLst/>
                <a:rect r="r" b="b" t="t" l="l"/>
                <a:pathLst>
                  <a:path h="2215212" w="4533232">
                    <a:moveTo>
                      <a:pt x="0" y="0"/>
                    </a:moveTo>
                    <a:lnTo>
                      <a:pt x="4533232" y="0"/>
                    </a:lnTo>
                    <a:lnTo>
                      <a:pt x="4533232" y="2215212"/>
                    </a:lnTo>
                    <a:lnTo>
                      <a:pt x="0" y="221521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533232" cy="2253312"/>
              </a:xfrm>
              <a:prstGeom prst="rect">
                <a:avLst/>
              </a:prstGeom>
            </p:spPr>
            <p:txBody>
              <a:bodyPr anchor="ctr" rtlCol="false" tIns="30394" lIns="30394" bIns="30394" rIns="3039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-76200"/>
              <a:ext cx="13730838" cy="1041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31"/>
                </a:lnSpc>
              </a:pPr>
              <a:r>
                <a:rPr lang="en-US" b="true" sz="490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Configuración del Taller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473795" y="1579964"/>
              <a:ext cx="12733048" cy="5745788"/>
            </a:xfrm>
            <a:custGeom>
              <a:avLst/>
              <a:gdLst/>
              <a:ahLst/>
              <a:cxnLst/>
              <a:rect r="r" b="b" t="t" l="l"/>
              <a:pathLst>
                <a:path h="5745788" w="12733048">
                  <a:moveTo>
                    <a:pt x="0" y="0"/>
                  </a:moveTo>
                  <a:lnTo>
                    <a:pt x="12733048" y="0"/>
                  </a:lnTo>
                  <a:lnTo>
                    <a:pt x="12733048" y="5745788"/>
                  </a:lnTo>
                  <a:lnTo>
                    <a:pt x="0" y="5745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494400" y="3598417"/>
            <a:ext cx="6440618" cy="3090166"/>
            <a:chOff x="0" y="0"/>
            <a:chExt cx="8587490" cy="412022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8587490" cy="4120221"/>
              <a:chOff x="0" y="0"/>
              <a:chExt cx="1591173" cy="76343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591173" cy="763434"/>
              </a:xfrm>
              <a:custGeom>
                <a:avLst/>
                <a:gdLst/>
                <a:ahLst/>
                <a:cxnLst/>
                <a:rect r="r" b="b" t="t" l="l"/>
                <a:pathLst>
                  <a:path h="763434" w="1591173">
                    <a:moveTo>
                      <a:pt x="37162" y="0"/>
                    </a:moveTo>
                    <a:lnTo>
                      <a:pt x="1554011" y="0"/>
                    </a:lnTo>
                    <a:cubicBezTo>
                      <a:pt x="1563867" y="0"/>
                      <a:pt x="1573319" y="3915"/>
                      <a:pt x="1580289" y="10885"/>
                    </a:cubicBezTo>
                    <a:cubicBezTo>
                      <a:pt x="1587258" y="17854"/>
                      <a:pt x="1591173" y="27306"/>
                      <a:pt x="1591173" y="37162"/>
                    </a:cubicBezTo>
                    <a:lnTo>
                      <a:pt x="1591173" y="726272"/>
                    </a:lnTo>
                    <a:cubicBezTo>
                      <a:pt x="1591173" y="736128"/>
                      <a:pt x="1587258" y="745581"/>
                      <a:pt x="1580289" y="752550"/>
                    </a:cubicBezTo>
                    <a:cubicBezTo>
                      <a:pt x="1573319" y="759519"/>
                      <a:pt x="1563867" y="763434"/>
                      <a:pt x="1554011" y="763434"/>
                    </a:cubicBezTo>
                    <a:lnTo>
                      <a:pt x="37162" y="763434"/>
                    </a:lnTo>
                    <a:cubicBezTo>
                      <a:pt x="16638" y="763434"/>
                      <a:pt x="0" y="746796"/>
                      <a:pt x="0" y="726272"/>
                    </a:cubicBezTo>
                    <a:lnTo>
                      <a:pt x="0" y="37162"/>
                    </a:lnTo>
                    <a:cubicBezTo>
                      <a:pt x="0" y="27306"/>
                      <a:pt x="3915" y="17854"/>
                      <a:pt x="10885" y="10885"/>
                    </a:cubicBezTo>
                    <a:cubicBezTo>
                      <a:pt x="17854" y="3915"/>
                      <a:pt x="27306" y="0"/>
                      <a:pt x="37162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1591173" cy="8205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82158" y="915416"/>
              <a:ext cx="7623174" cy="2747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8261" indent="-184131" lvl="1">
                <a:lnSpc>
                  <a:spcPts val="23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Permite ajustar l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os parámetros generales del taller (nombre, horario, 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con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ta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cto y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SLA).</a:t>
              </a:r>
            </a:p>
            <a:p>
              <a:pPr algn="l" marL="368261" indent="-184131" lvl="1">
                <a:lnSpc>
                  <a:spcPts val="23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Inc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uy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 ac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ones p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ar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 guar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 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amb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os, 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er l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bitáco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y generar respaldos.</a:t>
              </a:r>
            </a:p>
            <a:p>
              <a:pPr algn="l" marL="368261" indent="-184131" lvl="1">
                <a:lnSpc>
                  <a:spcPts val="23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Af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ta dashb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ard, reportes y func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onamiento general del sistema.</a:t>
              </a:r>
            </a:p>
            <a:p>
              <a:pPr algn="l" marL="368261" indent="-184131" lvl="1">
                <a:lnSpc>
                  <a:spcPts val="23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Acceso exclusivo para roles administrativos.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047435" y="183041"/>
              <a:ext cx="2492621" cy="558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Elementos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77463" y="1912811"/>
            <a:ext cx="10757581" cy="6461377"/>
            <a:chOff x="0" y="0"/>
            <a:chExt cx="14343441" cy="861516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1334075"/>
              <a:ext cx="14343441" cy="7281095"/>
              <a:chOff x="0" y="0"/>
              <a:chExt cx="4251761" cy="215830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51761" cy="2158302"/>
              </a:xfrm>
              <a:custGeom>
                <a:avLst/>
                <a:gdLst/>
                <a:ahLst/>
                <a:cxnLst/>
                <a:rect r="r" b="b" t="t" l="l"/>
                <a:pathLst>
                  <a:path h="2158302" w="4251761">
                    <a:moveTo>
                      <a:pt x="0" y="0"/>
                    </a:moveTo>
                    <a:lnTo>
                      <a:pt x="4251761" y="0"/>
                    </a:lnTo>
                    <a:lnTo>
                      <a:pt x="4251761" y="2158302"/>
                    </a:lnTo>
                    <a:lnTo>
                      <a:pt x="0" y="215830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51761" cy="2196402"/>
              </a:xfrm>
              <a:prstGeom prst="rect">
                <a:avLst/>
              </a:prstGeom>
            </p:spPr>
            <p:txBody>
              <a:bodyPr anchor="ctr" rtlCol="false" tIns="32850" lIns="32850" bIns="32850" rIns="3285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-85725"/>
              <a:ext cx="14343441" cy="11611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40"/>
                </a:lnSpc>
              </a:pPr>
              <a:r>
                <a:rPr lang="en-US" b="true" sz="5464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Bitácora y Sesiones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454079" y="1918095"/>
              <a:ext cx="13435283" cy="6113054"/>
            </a:xfrm>
            <a:custGeom>
              <a:avLst/>
              <a:gdLst/>
              <a:ahLst/>
              <a:cxnLst/>
              <a:rect r="r" b="b" t="t" l="l"/>
              <a:pathLst>
                <a:path h="6113054" w="13435283">
                  <a:moveTo>
                    <a:pt x="0" y="0"/>
                  </a:moveTo>
                  <a:lnTo>
                    <a:pt x="13435283" y="0"/>
                  </a:lnTo>
                  <a:lnTo>
                    <a:pt x="13435283" y="6113054"/>
                  </a:lnTo>
                  <a:lnTo>
                    <a:pt x="0" y="6113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491355" y="3756372"/>
            <a:ext cx="6446709" cy="2774256"/>
            <a:chOff x="0" y="0"/>
            <a:chExt cx="8595611" cy="369900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8595611" cy="3699008"/>
              <a:chOff x="0" y="0"/>
              <a:chExt cx="1570557" cy="67586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570557" cy="675868"/>
              </a:xfrm>
              <a:custGeom>
                <a:avLst/>
                <a:gdLst/>
                <a:ahLst/>
                <a:cxnLst/>
                <a:rect r="r" b="b" t="t" l="l"/>
                <a:pathLst>
                  <a:path h="675868" w="1570557">
                    <a:moveTo>
                      <a:pt x="37650" y="0"/>
                    </a:moveTo>
                    <a:lnTo>
                      <a:pt x="1532907" y="0"/>
                    </a:lnTo>
                    <a:cubicBezTo>
                      <a:pt x="1553700" y="0"/>
                      <a:pt x="1570557" y="16857"/>
                      <a:pt x="1570557" y="37650"/>
                    </a:cubicBezTo>
                    <a:lnTo>
                      <a:pt x="1570557" y="638218"/>
                    </a:lnTo>
                    <a:cubicBezTo>
                      <a:pt x="1570557" y="648204"/>
                      <a:pt x="1566590" y="657780"/>
                      <a:pt x="1559530" y="664841"/>
                    </a:cubicBezTo>
                    <a:cubicBezTo>
                      <a:pt x="1552469" y="671902"/>
                      <a:pt x="1542892" y="675868"/>
                      <a:pt x="1532907" y="675868"/>
                    </a:cubicBezTo>
                    <a:lnTo>
                      <a:pt x="37650" y="675868"/>
                    </a:lnTo>
                    <a:cubicBezTo>
                      <a:pt x="16857" y="675868"/>
                      <a:pt x="0" y="659012"/>
                      <a:pt x="0" y="638218"/>
                    </a:cubicBezTo>
                    <a:lnTo>
                      <a:pt x="0" y="37650"/>
                    </a:lnTo>
                    <a:cubicBezTo>
                      <a:pt x="0" y="16857"/>
                      <a:pt x="16857" y="0"/>
                      <a:pt x="37650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1570557" cy="7330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08744" y="799340"/>
              <a:ext cx="7578124" cy="2378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73448" indent="-186724" lvl="1">
                <a:lnSpc>
                  <a:spcPts val="242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2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Registra y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permite auditar todas 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las acciones 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del sistema (logins, cambios, e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ven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to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s).</a:t>
              </a:r>
            </a:p>
            <a:p>
              <a:pPr algn="l" marL="373448" indent="-186724" lvl="1">
                <a:lnSpc>
                  <a:spcPts val="242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Inc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uy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 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fil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tr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ava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nzados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y opción de exportar CSV.</a:t>
              </a:r>
            </a:p>
            <a:p>
              <a:pPr algn="l" marL="373448" indent="-186724" lvl="1">
                <a:lnSpc>
                  <a:spcPts val="242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 clave para t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azabil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dad y seguridad.</a:t>
              </a:r>
            </a:p>
            <a:p>
              <a:pPr algn="l" marL="373448" indent="-186724" lvl="1">
                <a:lnSpc>
                  <a:spcPts val="242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2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Acceso para roles administrativos.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050317" y="299956"/>
              <a:ext cx="2494978" cy="5470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95"/>
                </a:lnSpc>
                <a:spcBef>
                  <a:spcPct val="0"/>
                </a:spcBef>
              </a:pPr>
              <a:r>
                <a:rPr lang="en-US" sz="259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Elementos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28242" y="1807917"/>
            <a:ext cx="11552772" cy="6671166"/>
            <a:chOff x="0" y="0"/>
            <a:chExt cx="15403696" cy="889488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1278680"/>
              <a:ext cx="15403696" cy="7616207"/>
              <a:chOff x="0" y="0"/>
              <a:chExt cx="4251761" cy="210224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51761" cy="2102242"/>
              </a:xfrm>
              <a:custGeom>
                <a:avLst/>
                <a:gdLst/>
                <a:ahLst/>
                <a:cxnLst/>
                <a:rect r="r" b="b" t="t" l="l"/>
                <a:pathLst>
                  <a:path h="2102242" w="4251761">
                    <a:moveTo>
                      <a:pt x="0" y="0"/>
                    </a:moveTo>
                    <a:lnTo>
                      <a:pt x="4251761" y="0"/>
                    </a:lnTo>
                    <a:lnTo>
                      <a:pt x="4251761" y="2102242"/>
                    </a:lnTo>
                    <a:lnTo>
                      <a:pt x="0" y="210224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51761" cy="2140342"/>
              </a:xfrm>
              <a:prstGeom prst="rect">
                <a:avLst/>
              </a:prstGeom>
            </p:spPr>
            <p:txBody>
              <a:bodyPr anchor="ctr" rtlCol="false" tIns="36354" lIns="36354" bIns="36354" rIns="3635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-95250"/>
              <a:ext cx="15403696" cy="1250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53"/>
                </a:lnSpc>
              </a:pPr>
              <a:r>
                <a:rPr lang="en-US" b="true" sz="586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Dashboard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610589" y="1860261"/>
              <a:ext cx="14182518" cy="6453046"/>
            </a:xfrm>
            <a:custGeom>
              <a:avLst/>
              <a:gdLst/>
              <a:ahLst/>
              <a:cxnLst/>
              <a:rect r="r" b="b" t="t" l="l"/>
              <a:pathLst>
                <a:path h="6453046" w="14182518">
                  <a:moveTo>
                    <a:pt x="0" y="0"/>
                  </a:moveTo>
                  <a:lnTo>
                    <a:pt x="14182518" y="0"/>
                  </a:lnTo>
                  <a:lnTo>
                    <a:pt x="14182518" y="6453046"/>
                  </a:lnTo>
                  <a:lnTo>
                    <a:pt x="0" y="6453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190893" y="3552479"/>
            <a:ext cx="5859884" cy="3182042"/>
            <a:chOff x="0" y="0"/>
            <a:chExt cx="7813179" cy="424272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7813179" cy="4242722"/>
              <a:chOff x="0" y="0"/>
              <a:chExt cx="1543344" cy="83806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543344" cy="838069"/>
              </a:xfrm>
              <a:custGeom>
                <a:avLst/>
                <a:gdLst/>
                <a:ahLst/>
                <a:cxnLst/>
                <a:rect r="r" b="b" t="t" l="l"/>
                <a:pathLst>
                  <a:path h="838069" w="1543344">
                    <a:moveTo>
                      <a:pt x="38314" y="0"/>
                    </a:moveTo>
                    <a:lnTo>
                      <a:pt x="1505030" y="0"/>
                    </a:lnTo>
                    <a:cubicBezTo>
                      <a:pt x="1526190" y="0"/>
                      <a:pt x="1543344" y="17154"/>
                      <a:pt x="1543344" y="38314"/>
                    </a:cubicBezTo>
                    <a:lnTo>
                      <a:pt x="1543344" y="799755"/>
                    </a:lnTo>
                    <a:cubicBezTo>
                      <a:pt x="1543344" y="820915"/>
                      <a:pt x="1526190" y="838069"/>
                      <a:pt x="1505030" y="838069"/>
                    </a:cubicBezTo>
                    <a:lnTo>
                      <a:pt x="38314" y="838069"/>
                    </a:lnTo>
                    <a:cubicBezTo>
                      <a:pt x="17154" y="838069"/>
                      <a:pt x="0" y="820915"/>
                      <a:pt x="0" y="799755"/>
                    </a:cubicBezTo>
                    <a:lnTo>
                      <a:pt x="0" y="38314"/>
                    </a:lnTo>
                    <a:cubicBezTo>
                      <a:pt x="0" y="17154"/>
                      <a:pt x="17154" y="0"/>
                      <a:pt x="38314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1543344" cy="8952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226467" y="890878"/>
              <a:ext cx="7320410" cy="29398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5439" indent="-172720" lvl="1">
                <a:lnSpc>
                  <a:spcPts val="22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Vista principal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para monitorear indicadores y KPIs del taller en tiempo real.</a:t>
              </a:r>
            </a:p>
            <a:p>
              <a:pPr algn="l" marL="345439" indent="-172720" lvl="1">
                <a:lnSpc>
                  <a:spcPts val="22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Muestra OTs activas, 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al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izada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s, 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en p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usa y 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ci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clo promedio de oper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ción.</a:t>
              </a:r>
            </a:p>
            <a:p>
              <a:pPr algn="l" marL="345439" indent="-172720" lvl="1">
                <a:lnSpc>
                  <a:spcPts val="22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Incluye g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áficos 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e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sta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do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y prioridad de OTs, y opción de generar reportes.</a:t>
              </a:r>
            </a:p>
            <a:p>
              <a:pPr algn="l" marL="345439" indent="-172720" lvl="1">
                <a:lnSpc>
                  <a:spcPts val="22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cili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ta dec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isi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on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 operati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as y planificación diaria para supervisores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y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administradores.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772656" y="265791"/>
              <a:ext cx="2267868" cy="517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48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Elementos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96078" y="2186245"/>
            <a:ext cx="10586522" cy="5914511"/>
            <a:chOff x="0" y="0"/>
            <a:chExt cx="14115363" cy="788601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332867" y="1175091"/>
              <a:ext cx="13467343" cy="6710924"/>
              <a:chOff x="0" y="0"/>
              <a:chExt cx="4154540" cy="207025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154540" cy="2070253"/>
              </a:xfrm>
              <a:custGeom>
                <a:avLst/>
                <a:gdLst/>
                <a:ahLst/>
                <a:cxnLst/>
                <a:rect r="r" b="b" t="t" l="l"/>
                <a:pathLst>
                  <a:path h="2070253" w="4154540">
                    <a:moveTo>
                      <a:pt x="0" y="0"/>
                    </a:moveTo>
                    <a:lnTo>
                      <a:pt x="4154540" y="0"/>
                    </a:lnTo>
                    <a:lnTo>
                      <a:pt x="4154540" y="2070253"/>
                    </a:lnTo>
                    <a:lnTo>
                      <a:pt x="0" y="207025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154540" cy="2108352"/>
              </a:xfrm>
              <a:prstGeom prst="rect">
                <a:avLst/>
              </a:prstGeom>
            </p:spPr>
            <p:txBody>
              <a:bodyPr anchor="ctr" rtlCol="false" tIns="32528" lIns="32528" bIns="32528" rIns="32528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-76200"/>
              <a:ext cx="14115363" cy="1109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68"/>
                </a:lnSpc>
              </a:pPr>
              <a:r>
                <a:rPr lang="en-US" b="true" sz="525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Reportes y Supervisión – Taller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854774" y="1715983"/>
              <a:ext cx="12405816" cy="5629139"/>
            </a:xfrm>
            <a:custGeom>
              <a:avLst/>
              <a:gdLst/>
              <a:ahLst/>
              <a:cxnLst/>
              <a:rect r="r" b="b" t="t" l="l"/>
              <a:pathLst>
                <a:path h="5629139" w="12405816">
                  <a:moveTo>
                    <a:pt x="0" y="0"/>
                  </a:moveTo>
                  <a:lnTo>
                    <a:pt x="12405815" y="0"/>
                  </a:lnTo>
                  <a:lnTo>
                    <a:pt x="12405815" y="5629139"/>
                  </a:lnTo>
                  <a:lnTo>
                    <a:pt x="0" y="5629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182600" y="3783116"/>
            <a:ext cx="6764107" cy="2720767"/>
            <a:chOff x="0" y="0"/>
            <a:chExt cx="9018809" cy="362769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018809" cy="3627690"/>
              <a:chOff x="0" y="0"/>
              <a:chExt cx="1550696" cy="62374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550696" cy="623746"/>
              </a:xfrm>
              <a:custGeom>
                <a:avLst/>
                <a:gdLst/>
                <a:ahLst/>
                <a:cxnLst/>
                <a:rect r="r" b="b" t="t" l="l"/>
                <a:pathLst>
                  <a:path h="623746" w="1550696">
                    <a:moveTo>
                      <a:pt x="38132" y="0"/>
                    </a:moveTo>
                    <a:lnTo>
                      <a:pt x="1512564" y="0"/>
                    </a:lnTo>
                    <a:cubicBezTo>
                      <a:pt x="1533624" y="0"/>
                      <a:pt x="1550696" y="17072"/>
                      <a:pt x="1550696" y="38132"/>
                    </a:cubicBezTo>
                    <a:lnTo>
                      <a:pt x="1550696" y="585614"/>
                    </a:lnTo>
                    <a:cubicBezTo>
                      <a:pt x="1550696" y="606674"/>
                      <a:pt x="1533624" y="623746"/>
                      <a:pt x="1512564" y="623746"/>
                    </a:cubicBezTo>
                    <a:lnTo>
                      <a:pt x="38132" y="623746"/>
                    </a:lnTo>
                    <a:cubicBezTo>
                      <a:pt x="17072" y="623746"/>
                      <a:pt x="0" y="606674"/>
                      <a:pt x="0" y="585614"/>
                    </a:cubicBezTo>
                    <a:lnTo>
                      <a:pt x="0" y="38132"/>
                    </a:lnTo>
                    <a:cubicBezTo>
                      <a:pt x="0" y="17072"/>
                      <a:pt x="17072" y="0"/>
                      <a:pt x="38132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1550696" cy="6808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744812" y="983650"/>
              <a:ext cx="7529185" cy="2100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96853" indent="-198426" lvl="1">
                <a:lnSpc>
                  <a:spcPts val="257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3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Analiza</a:t>
              </a:r>
              <a:r>
                <a:rPr lang="en-US" sz="183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rendimiento y productividad del taller con </a:t>
              </a:r>
              <a:r>
                <a:rPr lang="en-US" sz="183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KPI</a:t>
              </a:r>
              <a:r>
                <a:rPr lang="en-US" sz="183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 y reportes.</a:t>
              </a:r>
            </a:p>
            <a:p>
              <a:pPr algn="l" marL="396853" indent="-198426" lvl="1">
                <a:lnSpc>
                  <a:spcPts val="257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3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Con</a:t>
              </a:r>
              <a:r>
                <a:rPr lang="en-US" sz="183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tr</a:t>
              </a:r>
              <a:r>
                <a:rPr lang="en-US" sz="183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ol</a:t>
              </a:r>
              <a:r>
                <a:rPr lang="en-US" sz="183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 OTs, SLA, con</a:t>
              </a:r>
              <a:r>
                <a:rPr lang="en-US" sz="183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sumo</a:t>
              </a:r>
              <a:r>
                <a:rPr lang="en-US" sz="183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d</a:t>
              </a:r>
              <a:r>
                <a:rPr lang="en-US" sz="183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 repues</a:t>
              </a:r>
              <a:r>
                <a:rPr lang="en-US" sz="183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tos y desempeño de mecánicos.</a:t>
              </a:r>
            </a:p>
            <a:p>
              <a:pPr algn="l" marL="396853" indent="-198426" lvl="1">
                <a:lnSpc>
                  <a:spcPts val="257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3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</a:t>
              </a:r>
              <a:r>
                <a:rPr lang="en-US" sz="183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cilita decisiones operativas </a:t>
              </a:r>
              <a:r>
                <a:rPr lang="en-US" sz="183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y </a:t>
              </a:r>
              <a:r>
                <a:rPr lang="en-US" sz="183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auditor</a:t>
              </a:r>
              <a:r>
                <a:rPr lang="en-US" sz="183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í</a:t>
              </a:r>
              <a:r>
                <a:rPr lang="en-US" sz="183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as.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200497" y="291971"/>
              <a:ext cx="2617816" cy="6080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01"/>
                </a:lnSpc>
                <a:spcBef>
                  <a:spcPct val="0"/>
                </a:spcBef>
              </a:pPr>
              <a:r>
                <a:rPr lang="en-US" sz="275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Elementos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26194" y="2173949"/>
            <a:ext cx="10410069" cy="5939101"/>
            <a:chOff x="0" y="0"/>
            <a:chExt cx="13880092" cy="791880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1135545"/>
              <a:ext cx="13880092" cy="6783257"/>
              <a:chOff x="0" y="0"/>
              <a:chExt cx="4251761" cy="207785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51761" cy="2077853"/>
              </a:xfrm>
              <a:custGeom>
                <a:avLst/>
                <a:gdLst/>
                <a:ahLst/>
                <a:cxnLst/>
                <a:rect r="r" b="b" t="t" l="l"/>
                <a:pathLst>
                  <a:path h="2077853" w="4251761">
                    <a:moveTo>
                      <a:pt x="0" y="0"/>
                    </a:moveTo>
                    <a:lnTo>
                      <a:pt x="4251761" y="0"/>
                    </a:lnTo>
                    <a:lnTo>
                      <a:pt x="4251761" y="2077853"/>
                    </a:lnTo>
                    <a:lnTo>
                      <a:pt x="0" y="207785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51761" cy="2115953"/>
              </a:xfrm>
              <a:prstGeom prst="rect">
                <a:avLst/>
              </a:prstGeom>
            </p:spPr>
            <p:txBody>
              <a:bodyPr anchor="ctr" rtlCol="false" tIns="31657" lIns="31657" bIns="31657" rIns="31657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-85725"/>
              <a:ext cx="13880092" cy="11264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16"/>
                </a:lnSpc>
              </a:pPr>
              <a:r>
                <a:rPr lang="en-US" b="true" sz="528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Inventario – Repuestos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577974" y="1574723"/>
              <a:ext cx="12724144" cy="5741770"/>
            </a:xfrm>
            <a:custGeom>
              <a:avLst/>
              <a:gdLst/>
              <a:ahLst/>
              <a:cxnLst/>
              <a:rect r="r" b="b" t="t" l="l"/>
              <a:pathLst>
                <a:path h="5741770" w="12724144">
                  <a:moveTo>
                    <a:pt x="0" y="0"/>
                  </a:moveTo>
                  <a:lnTo>
                    <a:pt x="12724144" y="0"/>
                  </a:lnTo>
                  <a:lnTo>
                    <a:pt x="12724144" y="5741770"/>
                  </a:lnTo>
                  <a:lnTo>
                    <a:pt x="0" y="5741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039359" y="3589338"/>
            <a:ext cx="6930779" cy="3108324"/>
            <a:chOff x="0" y="0"/>
            <a:chExt cx="9241038" cy="414443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241038" cy="4144431"/>
              <a:chOff x="0" y="0"/>
              <a:chExt cx="1825390" cy="81865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825390" cy="818653"/>
              </a:xfrm>
              <a:custGeom>
                <a:avLst/>
                <a:gdLst/>
                <a:ahLst/>
                <a:cxnLst/>
                <a:rect r="r" b="b" t="t" l="l"/>
                <a:pathLst>
                  <a:path h="818653" w="1825390">
                    <a:moveTo>
                      <a:pt x="32394" y="0"/>
                    </a:moveTo>
                    <a:lnTo>
                      <a:pt x="1792996" y="0"/>
                    </a:lnTo>
                    <a:cubicBezTo>
                      <a:pt x="1801588" y="0"/>
                      <a:pt x="1809827" y="3413"/>
                      <a:pt x="1815902" y="9488"/>
                    </a:cubicBezTo>
                    <a:cubicBezTo>
                      <a:pt x="1821977" y="15563"/>
                      <a:pt x="1825390" y="23803"/>
                      <a:pt x="1825390" y="32394"/>
                    </a:cubicBezTo>
                    <a:lnTo>
                      <a:pt x="1825390" y="786259"/>
                    </a:lnTo>
                    <a:cubicBezTo>
                      <a:pt x="1825390" y="804150"/>
                      <a:pt x="1810887" y="818653"/>
                      <a:pt x="1792996" y="818653"/>
                    </a:cubicBezTo>
                    <a:lnTo>
                      <a:pt x="32394" y="818653"/>
                    </a:lnTo>
                    <a:cubicBezTo>
                      <a:pt x="23803" y="818653"/>
                      <a:pt x="15563" y="815240"/>
                      <a:pt x="9488" y="809165"/>
                    </a:cubicBezTo>
                    <a:cubicBezTo>
                      <a:pt x="3413" y="803090"/>
                      <a:pt x="0" y="794851"/>
                      <a:pt x="0" y="786259"/>
                    </a:cubicBezTo>
                    <a:lnTo>
                      <a:pt x="0" y="32394"/>
                    </a:lnTo>
                    <a:cubicBezTo>
                      <a:pt x="0" y="23803"/>
                      <a:pt x="3413" y="15563"/>
                      <a:pt x="9488" y="9488"/>
                    </a:cubicBezTo>
                    <a:cubicBezTo>
                      <a:pt x="15563" y="3413"/>
                      <a:pt x="23803" y="0"/>
                      <a:pt x="32394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1825390" cy="8758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81582" y="838472"/>
              <a:ext cx="8477874" cy="29398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5439" indent="-172720" lvl="1">
                <a:lnSpc>
                  <a:spcPts val="22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Pe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rmite administrar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y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controlar el stock de repuestos d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 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ta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lle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  <a:p>
              <a:pPr algn="l" marL="345439" indent="-172720" lvl="1">
                <a:lnSpc>
                  <a:spcPts val="22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Inc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uy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bú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queda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bla 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on can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ti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ades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, s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ock mín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mo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y edición de repuest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os.</a:t>
              </a:r>
            </a:p>
            <a:p>
              <a:pPr algn="l" marL="345439" indent="-172720" lvl="1">
                <a:lnSpc>
                  <a:spcPts val="22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acil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it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 reposic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ió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,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evi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 quiebres de stock y apoya la operación de las OTs.</a:t>
              </a:r>
            </a:p>
            <a:p>
              <a:pPr algn="l" marL="345439" indent="-172720" lvl="1">
                <a:lnSpc>
                  <a:spcPts val="22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Acceso para Asiste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ntes de Rep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uestos, Supervisores 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y A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dministradores.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279359" y="265791"/>
              <a:ext cx="2682321" cy="517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48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Elementos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46635" y="2307453"/>
            <a:ext cx="9899328" cy="5672095"/>
            <a:chOff x="0" y="0"/>
            <a:chExt cx="13199104" cy="7562793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1125351"/>
              <a:ext cx="13199104" cy="6437442"/>
              <a:chOff x="0" y="0"/>
              <a:chExt cx="4251761" cy="207366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51761" cy="2073661"/>
              </a:xfrm>
              <a:custGeom>
                <a:avLst/>
                <a:gdLst/>
                <a:ahLst/>
                <a:cxnLst/>
                <a:rect r="r" b="b" t="t" l="l"/>
                <a:pathLst>
                  <a:path h="2073661" w="4251761">
                    <a:moveTo>
                      <a:pt x="0" y="0"/>
                    </a:moveTo>
                    <a:lnTo>
                      <a:pt x="4251761" y="0"/>
                    </a:lnTo>
                    <a:lnTo>
                      <a:pt x="4251761" y="2073661"/>
                    </a:lnTo>
                    <a:lnTo>
                      <a:pt x="0" y="207366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51761" cy="2111761"/>
              </a:xfrm>
              <a:prstGeom prst="rect">
                <a:avLst/>
              </a:prstGeom>
            </p:spPr>
            <p:txBody>
              <a:bodyPr anchor="ctr" rtlCol="false" tIns="30000" lIns="30000" bIns="30000" rIns="300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-85725"/>
              <a:ext cx="13199104" cy="10753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86"/>
                </a:lnSpc>
              </a:pPr>
              <a:r>
                <a:rPr lang="en-US" b="true" sz="502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Movimientos de Stock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531274" y="1567835"/>
              <a:ext cx="12136556" cy="5552474"/>
            </a:xfrm>
            <a:custGeom>
              <a:avLst/>
              <a:gdLst/>
              <a:ahLst/>
              <a:cxnLst/>
              <a:rect r="r" b="b" t="t" l="l"/>
              <a:pathLst>
                <a:path h="5552474" w="12136556">
                  <a:moveTo>
                    <a:pt x="0" y="0"/>
                  </a:moveTo>
                  <a:lnTo>
                    <a:pt x="12136556" y="0"/>
                  </a:lnTo>
                  <a:lnTo>
                    <a:pt x="12136556" y="5552474"/>
                  </a:lnTo>
                  <a:lnTo>
                    <a:pt x="0" y="555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20042" y="3466949"/>
            <a:ext cx="6731334" cy="3353102"/>
            <a:chOff x="0" y="0"/>
            <a:chExt cx="8975112" cy="4470803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8975112" cy="4470803"/>
              <a:chOff x="0" y="0"/>
              <a:chExt cx="1660540" cy="82717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660540" cy="827170"/>
              </a:xfrm>
              <a:custGeom>
                <a:avLst/>
                <a:gdLst/>
                <a:ahLst/>
                <a:cxnLst/>
                <a:rect r="r" b="b" t="t" l="l"/>
                <a:pathLst>
                  <a:path h="827170" w="1660540">
                    <a:moveTo>
                      <a:pt x="35610" y="0"/>
                    </a:moveTo>
                    <a:lnTo>
                      <a:pt x="1624930" y="0"/>
                    </a:lnTo>
                    <a:cubicBezTo>
                      <a:pt x="1644597" y="0"/>
                      <a:pt x="1660540" y="15943"/>
                      <a:pt x="1660540" y="35610"/>
                    </a:cubicBezTo>
                    <a:lnTo>
                      <a:pt x="1660540" y="791560"/>
                    </a:lnTo>
                    <a:cubicBezTo>
                      <a:pt x="1660540" y="811227"/>
                      <a:pt x="1644597" y="827170"/>
                      <a:pt x="1624930" y="827170"/>
                    </a:cubicBezTo>
                    <a:lnTo>
                      <a:pt x="35610" y="827170"/>
                    </a:lnTo>
                    <a:cubicBezTo>
                      <a:pt x="26166" y="827170"/>
                      <a:pt x="17108" y="823419"/>
                      <a:pt x="10430" y="816740"/>
                    </a:cubicBezTo>
                    <a:cubicBezTo>
                      <a:pt x="3752" y="810062"/>
                      <a:pt x="0" y="801005"/>
                      <a:pt x="0" y="791560"/>
                    </a:cubicBezTo>
                    <a:lnTo>
                      <a:pt x="0" y="35610"/>
                    </a:lnTo>
                    <a:cubicBezTo>
                      <a:pt x="0" y="15943"/>
                      <a:pt x="15943" y="0"/>
                      <a:pt x="35610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1660540" cy="8843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69846" y="954396"/>
              <a:ext cx="8235420" cy="3144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8806" indent="-184403" lvl="1">
                <a:lnSpc>
                  <a:spcPts val="239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Registra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y a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udit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 todos los movimientos de inventar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io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(entrad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as,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salidas y ajustes).</a:t>
              </a:r>
            </a:p>
            <a:p>
              <a:pPr algn="l" marL="368806" indent="-184403" lvl="1">
                <a:lnSpc>
                  <a:spcPts val="239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Mu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estra fecha, repuesto, tipo 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movim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en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to, 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tida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d, OT, mo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tiv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y usuario.</a:t>
              </a:r>
            </a:p>
            <a:p>
              <a:pPr algn="l" marL="368806" indent="-184403" lvl="1">
                <a:lnSpc>
                  <a:spcPts val="239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rmi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cont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ro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lar con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sum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os, devoluci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on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es, mantener trazabilida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 y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apoyar auditorías.</a:t>
              </a:r>
            </a:p>
            <a:p>
              <a:pPr algn="l" marL="368806" indent="-184403" lvl="1">
                <a:lnSpc>
                  <a:spcPts val="239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Acceso para Asiste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ntes de Rep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uestos, Jefes de Ta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lle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r, Supervisores 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y A</a:t>
              </a:r>
              <a:r>
                <a:rPr lang="en-US" sz="170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dministradores.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330946" y="323124"/>
              <a:ext cx="2313220" cy="559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54"/>
                </a:lnSpc>
                <a:spcBef>
                  <a:spcPct val="0"/>
                </a:spcBef>
              </a:pPr>
              <a:r>
                <a:rPr lang="en-US" sz="256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Elementos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58938" y="2237114"/>
            <a:ext cx="10332981" cy="5812772"/>
            <a:chOff x="0" y="0"/>
            <a:chExt cx="13777308" cy="7750363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1085604"/>
              <a:ext cx="13777308" cy="6664759"/>
              <a:chOff x="0" y="0"/>
              <a:chExt cx="4251761" cy="205678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51761" cy="2056785"/>
              </a:xfrm>
              <a:custGeom>
                <a:avLst/>
                <a:gdLst/>
                <a:ahLst/>
                <a:cxnLst/>
                <a:rect r="r" b="b" t="t" l="l"/>
                <a:pathLst>
                  <a:path h="2056785" w="4251761">
                    <a:moveTo>
                      <a:pt x="0" y="0"/>
                    </a:moveTo>
                    <a:lnTo>
                      <a:pt x="4251761" y="0"/>
                    </a:lnTo>
                    <a:lnTo>
                      <a:pt x="4251761" y="2056785"/>
                    </a:lnTo>
                    <a:lnTo>
                      <a:pt x="0" y="205678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51761" cy="2094885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-76200"/>
              <a:ext cx="13777308" cy="11091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66"/>
                </a:lnSpc>
              </a:pPr>
              <a:r>
                <a:rPr lang="en-US" b="true" sz="524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Mis OTs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567053" y="1541655"/>
              <a:ext cx="12643202" cy="5752657"/>
            </a:xfrm>
            <a:custGeom>
              <a:avLst/>
              <a:gdLst/>
              <a:ahLst/>
              <a:cxnLst/>
              <a:rect r="r" b="b" t="t" l="l"/>
              <a:pathLst>
                <a:path h="5752657" w="12643202">
                  <a:moveTo>
                    <a:pt x="0" y="0"/>
                  </a:moveTo>
                  <a:lnTo>
                    <a:pt x="12643202" y="0"/>
                  </a:lnTo>
                  <a:lnTo>
                    <a:pt x="12643202" y="5752657"/>
                  </a:lnTo>
                  <a:lnTo>
                    <a:pt x="0" y="575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72293" y="3577052"/>
            <a:ext cx="7059025" cy="3132896"/>
            <a:chOff x="0" y="0"/>
            <a:chExt cx="9412034" cy="417719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412034" cy="4177194"/>
              <a:chOff x="0" y="0"/>
              <a:chExt cx="1785047" cy="79222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785047" cy="792229"/>
              </a:xfrm>
              <a:custGeom>
                <a:avLst/>
                <a:gdLst/>
                <a:ahLst/>
                <a:cxnLst/>
                <a:rect r="r" b="b" t="t" l="l"/>
                <a:pathLst>
                  <a:path h="792229" w="1785047">
                    <a:moveTo>
                      <a:pt x="31805" y="0"/>
                    </a:moveTo>
                    <a:lnTo>
                      <a:pt x="1753241" y="0"/>
                    </a:lnTo>
                    <a:cubicBezTo>
                      <a:pt x="1761677" y="0"/>
                      <a:pt x="1769767" y="3351"/>
                      <a:pt x="1775731" y="9316"/>
                    </a:cubicBezTo>
                    <a:cubicBezTo>
                      <a:pt x="1781696" y="15280"/>
                      <a:pt x="1785047" y="23370"/>
                      <a:pt x="1785047" y="31805"/>
                    </a:cubicBezTo>
                    <a:lnTo>
                      <a:pt x="1785047" y="760424"/>
                    </a:lnTo>
                    <a:cubicBezTo>
                      <a:pt x="1785047" y="777989"/>
                      <a:pt x="1770807" y="792229"/>
                      <a:pt x="1753241" y="792229"/>
                    </a:cubicBezTo>
                    <a:lnTo>
                      <a:pt x="31805" y="792229"/>
                    </a:lnTo>
                    <a:cubicBezTo>
                      <a:pt x="14240" y="792229"/>
                      <a:pt x="0" y="777989"/>
                      <a:pt x="0" y="760424"/>
                    </a:cubicBezTo>
                    <a:lnTo>
                      <a:pt x="0" y="31805"/>
                    </a:lnTo>
                    <a:cubicBezTo>
                      <a:pt x="0" y="14240"/>
                      <a:pt x="14240" y="0"/>
                      <a:pt x="31805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1785047" cy="849379"/>
              </a:xfrm>
              <a:prstGeom prst="rect">
                <a:avLst/>
              </a:prstGeom>
            </p:spPr>
            <p:txBody>
              <a:bodyPr anchor="ctr" rtlCol="false" tIns="52909" lIns="52909" bIns="52909" rIns="52909"/>
              <a:lstStyle/>
              <a:p>
                <a:pPr algn="ctr" marL="0" indent="0" lvl="0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32207" y="1085805"/>
              <a:ext cx="8604301" cy="267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59783" indent="-179892" lvl="1">
                <a:lnSpc>
                  <a:spcPts val="233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6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Muestra t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odas la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 Ó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rdenes de Trabajo asignadas 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 usuario.</a:t>
              </a:r>
            </a:p>
            <a:p>
              <a:pPr algn="l" marL="359783" indent="-179892" lvl="1">
                <a:lnSpc>
                  <a:spcPts val="233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Permite filtrar por e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ta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o, 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ri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y situación, y acceder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detall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co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mpleto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 ca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 OT.</a:t>
              </a:r>
            </a:p>
            <a:p>
              <a:pPr algn="l" marL="359783" indent="-179892" lvl="1">
                <a:lnSpc>
                  <a:spcPts val="233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Facilita seguimiento del ava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nce,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organización del ta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lle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 y control de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tiempo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  <a:p>
              <a:pPr algn="l" marL="359783" indent="-179892" lvl="1">
                <a:lnSpc>
                  <a:spcPts val="233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Útil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ara m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ecá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ni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, supe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ores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y jefes de taller</a:t>
              </a:r>
              <a:r>
                <a:rPr lang="en-US" sz="166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21050" y="278883"/>
              <a:ext cx="2369933" cy="5375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7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Elementos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04802" y="2334076"/>
            <a:ext cx="9640249" cy="5618849"/>
            <a:chOff x="0" y="0"/>
            <a:chExt cx="12853665" cy="749179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1095899"/>
              <a:ext cx="12853665" cy="6395899"/>
              <a:chOff x="0" y="0"/>
              <a:chExt cx="4251761" cy="211564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51761" cy="2115648"/>
              </a:xfrm>
              <a:custGeom>
                <a:avLst/>
                <a:gdLst/>
                <a:ahLst/>
                <a:cxnLst/>
                <a:rect r="r" b="b" t="t" l="l"/>
                <a:pathLst>
                  <a:path h="2115648" w="4251761">
                    <a:moveTo>
                      <a:pt x="0" y="0"/>
                    </a:moveTo>
                    <a:lnTo>
                      <a:pt x="4251761" y="0"/>
                    </a:lnTo>
                    <a:lnTo>
                      <a:pt x="4251761" y="2115648"/>
                    </a:lnTo>
                    <a:lnTo>
                      <a:pt x="0" y="2115648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51761" cy="2153748"/>
              </a:xfrm>
              <a:prstGeom prst="rect">
                <a:avLst/>
              </a:prstGeom>
            </p:spPr>
            <p:txBody>
              <a:bodyPr anchor="ctr" rtlCol="false" tIns="28744" lIns="28744" bIns="28744" rIns="2874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-76200"/>
              <a:ext cx="12853665" cy="10399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19"/>
                </a:lnSpc>
              </a:pPr>
              <a:r>
                <a:rPr lang="en-US" b="true" sz="4897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Registrar Ingreso de Vehículo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454803" y="1591505"/>
              <a:ext cx="11944059" cy="5404687"/>
            </a:xfrm>
            <a:custGeom>
              <a:avLst/>
              <a:gdLst/>
              <a:ahLst/>
              <a:cxnLst/>
              <a:rect r="r" b="b" t="t" l="l"/>
              <a:pathLst>
                <a:path h="5404687" w="11944059">
                  <a:moveTo>
                    <a:pt x="0" y="0"/>
                  </a:moveTo>
                  <a:lnTo>
                    <a:pt x="11944059" y="0"/>
                  </a:lnTo>
                  <a:lnTo>
                    <a:pt x="11944059" y="5404687"/>
                  </a:lnTo>
                  <a:lnTo>
                    <a:pt x="0" y="5404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544512" y="3600369"/>
            <a:ext cx="7301523" cy="3086263"/>
            <a:chOff x="0" y="0"/>
            <a:chExt cx="9735364" cy="4115017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735364" cy="4115017"/>
              <a:chOff x="0" y="0"/>
              <a:chExt cx="1824406" cy="77115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824406" cy="771154"/>
              </a:xfrm>
              <a:custGeom>
                <a:avLst/>
                <a:gdLst/>
                <a:ahLst/>
                <a:cxnLst/>
                <a:rect r="r" b="b" t="t" l="l"/>
                <a:pathLst>
                  <a:path h="771154" w="1824406">
                    <a:moveTo>
                      <a:pt x="32411" y="0"/>
                    </a:moveTo>
                    <a:lnTo>
                      <a:pt x="1791994" y="0"/>
                    </a:lnTo>
                    <a:cubicBezTo>
                      <a:pt x="1809895" y="0"/>
                      <a:pt x="1824406" y="14511"/>
                      <a:pt x="1824406" y="32411"/>
                    </a:cubicBezTo>
                    <a:lnTo>
                      <a:pt x="1824406" y="738742"/>
                    </a:lnTo>
                    <a:cubicBezTo>
                      <a:pt x="1824406" y="756642"/>
                      <a:pt x="1809895" y="771154"/>
                      <a:pt x="1791994" y="771154"/>
                    </a:cubicBezTo>
                    <a:lnTo>
                      <a:pt x="32411" y="771154"/>
                    </a:lnTo>
                    <a:cubicBezTo>
                      <a:pt x="14511" y="771154"/>
                      <a:pt x="0" y="756642"/>
                      <a:pt x="0" y="738742"/>
                    </a:cubicBezTo>
                    <a:lnTo>
                      <a:pt x="0" y="32411"/>
                    </a:lnTo>
                    <a:cubicBezTo>
                      <a:pt x="0" y="14511"/>
                      <a:pt x="14511" y="0"/>
                      <a:pt x="32411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1824406" cy="8283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38505" y="892353"/>
              <a:ext cx="9058355" cy="27175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4114" indent="-182057" lvl="1">
                <a:lnSpc>
                  <a:spcPts val="236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8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Permite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crear una nueva OT registrando los datos del vehículo, taller y chofer.</a:t>
              </a:r>
            </a:p>
            <a:p>
              <a:pPr algn="l" marL="364114" indent="-182057" lvl="1">
                <a:lnSpc>
                  <a:spcPts val="236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Posibilita adjuntar fotos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o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docum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tos c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omo e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nci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ini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cia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l.</a:t>
              </a:r>
            </a:p>
            <a:p>
              <a:pPr algn="l" marL="364114" indent="-182057" lvl="1">
                <a:lnSpc>
                  <a:spcPts val="236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egistra fecha y hora au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tomáticam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 pa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ra t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raz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ab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dad.</a:t>
              </a:r>
            </a:p>
            <a:p>
              <a:pPr algn="l" marL="364114" indent="-182057" lvl="1">
                <a:lnSpc>
                  <a:spcPts val="236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Inicia el flujo de traba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j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 del ta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lle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 y facilita auditor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í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 y cont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686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ol.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677928" y="275921"/>
              <a:ext cx="2379508" cy="553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12"/>
                </a:lnSpc>
                <a:spcBef>
                  <a:spcPct val="0"/>
                </a:spcBef>
              </a:pPr>
              <a:r>
                <a:rPr lang="en-US" sz="252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Elementos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1171" y="2301916"/>
            <a:ext cx="9706944" cy="5683168"/>
            <a:chOff x="0" y="0"/>
            <a:chExt cx="12942592" cy="757755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1103481"/>
              <a:ext cx="12942592" cy="6474077"/>
              <a:chOff x="0" y="0"/>
              <a:chExt cx="4251761" cy="212679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51761" cy="2126794"/>
              </a:xfrm>
              <a:custGeom>
                <a:avLst/>
                <a:gdLst/>
                <a:ahLst/>
                <a:cxnLst/>
                <a:rect r="r" b="b" t="t" l="l"/>
                <a:pathLst>
                  <a:path h="2126794" w="4251761">
                    <a:moveTo>
                      <a:pt x="0" y="0"/>
                    </a:moveTo>
                    <a:lnTo>
                      <a:pt x="4251761" y="0"/>
                    </a:lnTo>
                    <a:lnTo>
                      <a:pt x="4251761" y="2126794"/>
                    </a:lnTo>
                    <a:lnTo>
                      <a:pt x="0" y="212679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51761" cy="2164894"/>
              </a:xfrm>
              <a:prstGeom prst="rect">
                <a:avLst/>
              </a:prstGeom>
            </p:spPr>
            <p:txBody>
              <a:bodyPr anchor="ctr" rtlCol="false" tIns="29131" lIns="29131" bIns="29131" rIns="29131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-76200"/>
              <a:ext cx="12942592" cy="1046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62"/>
                </a:lnSpc>
              </a:pPr>
              <a:r>
                <a:rPr lang="en-US" b="true" sz="493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Agenda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355310" y="1542456"/>
              <a:ext cx="12231971" cy="5596127"/>
            </a:xfrm>
            <a:custGeom>
              <a:avLst/>
              <a:gdLst/>
              <a:ahLst/>
              <a:cxnLst/>
              <a:rect r="r" b="b" t="t" l="l"/>
              <a:pathLst>
                <a:path h="5596127" w="12231971">
                  <a:moveTo>
                    <a:pt x="0" y="0"/>
                  </a:moveTo>
                  <a:lnTo>
                    <a:pt x="12231972" y="0"/>
                  </a:lnTo>
                  <a:lnTo>
                    <a:pt x="12231972" y="5596127"/>
                  </a:lnTo>
                  <a:lnTo>
                    <a:pt x="0" y="5596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354473" y="3692686"/>
            <a:ext cx="7637559" cy="2901628"/>
            <a:chOff x="0" y="0"/>
            <a:chExt cx="10183412" cy="386883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183412" cy="3868838"/>
              <a:chOff x="0" y="0"/>
              <a:chExt cx="2011538" cy="76421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11538" cy="764215"/>
              </a:xfrm>
              <a:custGeom>
                <a:avLst/>
                <a:gdLst/>
                <a:ahLst/>
                <a:cxnLst/>
                <a:rect r="r" b="b" t="t" l="l"/>
                <a:pathLst>
                  <a:path h="764215" w="2011538">
                    <a:moveTo>
                      <a:pt x="29396" y="0"/>
                    </a:moveTo>
                    <a:lnTo>
                      <a:pt x="1982142" y="0"/>
                    </a:lnTo>
                    <a:cubicBezTo>
                      <a:pt x="1998377" y="0"/>
                      <a:pt x="2011538" y="13161"/>
                      <a:pt x="2011538" y="29396"/>
                    </a:cubicBezTo>
                    <a:lnTo>
                      <a:pt x="2011538" y="734819"/>
                    </a:lnTo>
                    <a:cubicBezTo>
                      <a:pt x="2011538" y="751054"/>
                      <a:pt x="1998377" y="764215"/>
                      <a:pt x="1982142" y="764215"/>
                    </a:cubicBezTo>
                    <a:lnTo>
                      <a:pt x="29396" y="764215"/>
                    </a:lnTo>
                    <a:cubicBezTo>
                      <a:pt x="13161" y="764215"/>
                      <a:pt x="0" y="751054"/>
                      <a:pt x="0" y="734819"/>
                    </a:cubicBezTo>
                    <a:lnTo>
                      <a:pt x="0" y="29396"/>
                    </a:lnTo>
                    <a:cubicBezTo>
                      <a:pt x="0" y="13161"/>
                      <a:pt x="13161" y="0"/>
                      <a:pt x="29396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2011538" cy="8213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68990" y="879594"/>
              <a:ext cx="9245432" cy="2571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5439" indent="-172720" lvl="1">
                <a:lnSpc>
                  <a:spcPts val="22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Muest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ra un calendario interactivo con ingr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esos,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entregas y tareas del taller.</a:t>
              </a:r>
            </a:p>
            <a:p>
              <a:pPr algn="l" marL="345439" indent="-172720" lvl="1">
                <a:lnSpc>
                  <a:spcPts val="22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Permite crear eventos 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manu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ales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y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c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onsul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tar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deta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ll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 de OTs vinculadas.</a:t>
              </a:r>
            </a:p>
            <a:p>
              <a:pPr algn="l" marL="345439" indent="-172720" lvl="1">
                <a:lnSpc>
                  <a:spcPts val="22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cili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ta planificación, o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rganizació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 d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 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tiempos y trazabil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dad.</a:t>
              </a:r>
            </a:p>
            <a:p>
              <a:pPr algn="l" marL="345439" indent="-172720" lvl="1">
                <a:lnSpc>
                  <a:spcPts val="22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Acceso según rol: 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dministradores y Jefes de Taller complet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os, mecán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cos 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ión limitada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859361" y="265791"/>
              <a:ext cx="2464690" cy="517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48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Elementos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5793369"/>
            <a:ext cx="8734520" cy="2923481"/>
            <a:chOff x="0" y="0"/>
            <a:chExt cx="11646027" cy="389797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1646027" cy="3897974"/>
              <a:chOff x="0" y="0"/>
              <a:chExt cx="2226820" cy="74532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226820" cy="745326"/>
              </a:xfrm>
              <a:custGeom>
                <a:avLst/>
                <a:gdLst/>
                <a:ahLst/>
                <a:cxnLst/>
                <a:rect r="r" b="b" t="t" l="l"/>
                <a:pathLst>
                  <a:path h="745326" w="2226820">
                    <a:moveTo>
                      <a:pt x="26554" y="0"/>
                    </a:moveTo>
                    <a:lnTo>
                      <a:pt x="2200266" y="0"/>
                    </a:lnTo>
                    <a:cubicBezTo>
                      <a:pt x="2214931" y="0"/>
                      <a:pt x="2226820" y="11889"/>
                      <a:pt x="2226820" y="26554"/>
                    </a:cubicBezTo>
                    <a:lnTo>
                      <a:pt x="2226820" y="718772"/>
                    </a:lnTo>
                    <a:cubicBezTo>
                      <a:pt x="2226820" y="725814"/>
                      <a:pt x="2224022" y="732569"/>
                      <a:pt x="2219042" y="737548"/>
                    </a:cubicBezTo>
                    <a:cubicBezTo>
                      <a:pt x="2214063" y="742528"/>
                      <a:pt x="2207308" y="745326"/>
                      <a:pt x="2200266" y="745326"/>
                    </a:cubicBezTo>
                    <a:lnTo>
                      <a:pt x="26554" y="745326"/>
                    </a:lnTo>
                    <a:cubicBezTo>
                      <a:pt x="11889" y="745326"/>
                      <a:pt x="0" y="733437"/>
                      <a:pt x="0" y="718772"/>
                    </a:cubicBezTo>
                    <a:lnTo>
                      <a:pt x="0" y="26554"/>
                    </a:lnTo>
                    <a:cubicBezTo>
                      <a:pt x="0" y="19512"/>
                      <a:pt x="2798" y="12757"/>
                      <a:pt x="7778" y="7778"/>
                    </a:cubicBezTo>
                    <a:cubicBezTo>
                      <a:pt x="12757" y="2798"/>
                      <a:pt x="19512" y="0"/>
                      <a:pt x="26554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2226820" cy="8024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598478" y="867560"/>
              <a:ext cx="10449070" cy="26549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56861" indent="-178431" lvl="1">
                <a:lnSpc>
                  <a:spcPts val="231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5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Permite consultar y gesti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onar toda la información de una OT: vehículo, chofer, estado, 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priorida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, m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cánico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asignado y consumos.</a:t>
              </a:r>
            </a:p>
            <a:p>
              <a:pPr algn="l" marL="356861" indent="-178431" lvl="1">
                <a:lnSpc>
                  <a:spcPts val="231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Incluy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 funciones de edic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ión según 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rol: cambiar estado, i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nici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ar 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pausa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s, a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gn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ar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m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ec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án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y registrar repuestos.</a:t>
              </a:r>
            </a:p>
            <a:p>
              <a:pPr algn="l" marL="356861" indent="-178431" lvl="1">
                <a:lnSpc>
                  <a:spcPts val="231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Roles s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rio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(Admin, Jefe d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 T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aller, Supervisor, Mecánico) ti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en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en edición completa; Guardia de Acceso solo consulta.</a:t>
              </a:r>
            </a:p>
            <a:p>
              <a:pPr algn="l" marL="356861" indent="-178431" lvl="1">
                <a:lnSpc>
                  <a:spcPts val="231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cilit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 e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 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egui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mi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to y con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tr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ol del flujo oper</a:t>
              </a:r>
              <a:r>
                <a:rPr lang="en-US" sz="165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ativo del taller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364031" y="212476"/>
              <a:ext cx="2917966" cy="533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48"/>
                </a:lnSpc>
                <a:spcBef>
                  <a:spcPct val="0"/>
                </a:spcBef>
              </a:pPr>
              <a:r>
                <a:rPr lang="en-US" sz="247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Elementos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905357"/>
            <a:ext cx="7509822" cy="4112861"/>
            <a:chOff x="0" y="0"/>
            <a:chExt cx="10013096" cy="548381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204501" y="832729"/>
              <a:ext cx="9604094" cy="4651086"/>
              <a:chOff x="0" y="0"/>
              <a:chExt cx="4574222" cy="221521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574222" cy="2215212"/>
              </a:xfrm>
              <a:custGeom>
                <a:avLst/>
                <a:gdLst/>
                <a:ahLst/>
                <a:cxnLst/>
                <a:rect r="r" b="b" t="t" l="l"/>
                <a:pathLst>
                  <a:path h="2215212" w="4574222">
                    <a:moveTo>
                      <a:pt x="0" y="0"/>
                    </a:moveTo>
                    <a:lnTo>
                      <a:pt x="4574222" y="0"/>
                    </a:lnTo>
                    <a:lnTo>
                      <a:pt x="4574222" y="2215212"/>
                    </a:lnTo>
                    <a:lnTo>
                      <a:pt x="0" y="221521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4574222" cy="2253312"/>
              </a:xfrm>
              <a:prstGeom prst="rect">
                <a:avLst/>
              </a:prstGeom>
            </p:spPr>
            <p:txBody>
              <a:bodyPr anchor="ctr" rtlCol="false" tIns="13638" lIns="13638" bIns="13638" rIns="13638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-66675"/>
              <a:ext cx="10013096" cy="735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19"/>
                </a:lnSpc>
              </a:pPr>
              <a:r>
                <a:rPr lang="en-US" b="true" sz="340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Vista de Órdenes de Trabajo (OT) 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556015" y="1138770"/>
              <a:ext cx="8901066" cy="4061112"/>
            </a:xfrm>
            <a:custGeom>
              <a:avLst/>
              <a:gdLst/>
              <a:ahLst/>
              <a:cxnLst/>
              <a:rect r="r" b="b" t="t" l="l"/>
              <a:pathLst>
                <a:path h="4061112" w="8901066">
                  <a:moveTo>
                    <a:pt x="0" y="0"/>
                  </a:moveTo>
                  <a:lnTo>
                    <a:pt x="8901066" y="0"/>
                  </a:lnTo>
                  <a:lnTo>
                    <a:pt x="8901066" y="4061112"/>
                  </a:lnTo>
                  <a:lnTo>
                    <a:pt x="0" y="4061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53706" y="5236186"/>
            <a:ext cx="7184816" cy="4511076"/>
            <a:chOff x="0" y="0"/>
            <a:chExt cx="9579755" cy="6014768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1375468"/>
              <a:ext cx="9579755" cy="4639299"/>
              <a:chOff x="0" y="0"/>
              <a:chExt cx="4574222" cy="221521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574222" cy="2215212"/>
              </a:xfrm>
              <a:custGeom>
                <a:avLst/>
                <a:gdLst/>
                <a:ahLst/>
                <a:cxnLst/>
                <a:rect r="r" b="b" t="t" l="l"/>
                <a:pathLst>
                  <a:path h="2215212" w="4574222">
                    <a:moveTo>
                      <a:pt x="0" y="0"/>
                    </a:moveTo>
                    <a:lnTo>
                      <a:pt x="4574222" y="0"/>
                    </a:lnTo>
                    <a:lnTo>
                      <a:pt x="4574222" y="2215212"/>
                    </a:lnTo>
                    <a:lnTo>
                      <a:pt x="0" y="221521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4574222" cy="2253312"/>
              </a:xfrm>
              <a:prstGeom prst="rect">
                <a:avLst/>
              </a:prstGeom>
            </p:spPr>
            <p:txBody>
              <a:bodyPr anchor="ctr" rtlCol="false" tIns="14682" lIns="14682" bIns="14682" rIns="1468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0" y="-66675"/>
              <a:ext cx="9579755" cy="14421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08"/>
                </a:lnSpc>
              </a:pPr>
              <a:r>
                <a:rPr lang="en-US" sz="3392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Vista de Opciones de OT </a:t>
              </a:r>
            </a:p>
            <a:p>
              <a:pPr algn="ctr">
                <a:lnSpc>
                  <a:spcPts val="4308"/>
                </a:lnSpc>
              </a:pPr>
              <a:r>
                <a:rPr lang="en-US" b="true" sz="339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(con permisos)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433026" y="1683815"/>
              <a:ext cx="8713702" cy="3953842"/>
            </a:xfrm>
            <a:custGeom>
              <a:avLst/>
              <a:gdLst/>
              <a:ahLst/>
              <a:cxnLst/>
              <a:rect r="r" b="b" t="t" l="l"/>
              <a:pathLst>
                <a:path h="3953842" w="8713702">
                  <a:moveTo>
                    <a:pt x="0" y="0"/>
                  </a:moveTo>
                  <a:lnTo>
                    <a:pt x="8713703" y="0"/>
                  </a:lnTo>
                  <a:lnTo>
                    <a:pt x="8713703" y="3953842"/>
                  </a:lnTo>
                  <a:lnTo>
                    <a:pt x="0" y="3953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165005" y="806972"/>
            <a:ext cx="7094295" cy="4309632"/>
            <a:chOff x="0" y="0"/>
            <a:chExt cx="9459060" cy="5746176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193186" y="1352440"/>
              <a:ext cx="9072688" cy="4393736"/>
              <a:chOff x="0" y="0"/>
              <a:chExt cx="4574222" cy="221521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574222" cy="2215212"/>
              </a:xfrm>
              <a:custGeom>
                <a:avLst/>
                <a:gdLst/>
                <a:ahLst/>
                <a:cxnLst/>
                <a:rect r="r" b="b" t="t" l="l"/>
                <a:pathLst>
                  <a:path h="2215212" w="4574222">
                    <a:moveTo>
                      <a:pt x="0" y="0"/>
                    </a:moveTo>
                    <a:lnTo>
                      <a:pt x="4574222" y="0"/>
                    </a:lnTo>
                    <a:lnTo>
                      <a:pt x="4574222" y="2215212"/>
                    </a:lnTo>
                    <a:lnTo>
                      <a:pt x="0" y="221521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4574222" cy="2253312"/>
              </a:xfrm>
              <a:prstGeom prst="rect">
                <a:avLst/>
              </a:prstGeom>
            </p:spPr>
            <p:txBody>
              <a:bodyPr anchor="ctr" rtlCol="false" tIns="13782" lIns="13782" bIns="13782" rIns="13782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-47625"/>
              <a:ext cx="9459060" cy="1350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213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Vista de Opciones de OT </a:t>
              </a:r>
            </a:p>
            <a:p>
              <a:pPr algn="ctr">
                <a:lnSpc>
                  <a:spcPts val="4080"/>
                </a:lnSpc>
              </a:pPr>
              <a:r>
                <a:rPr lang="en-US" b="true" sz="3213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(sin permisos)</a:t>
              </a:r>
            </a:p>
          </p:txBody>
        </p:sp>
        <p:sp>
          <p:nvSpPr>
            <p:cNvPr name="Freeform 30" id="30"/>
            <p:cNvSpPr/>
            <p:nvPr/>
          </p:nvSpPr>
          <p:spPr>
            <a:xfrm flipH="false" flipV="false" rot="0">
              <a:off x="548795" y="1585201"/>
              <a:ext cx="8361471" cy="3825373"/>
            </a:xfrm>
            <a:custGeom>
              <a:avLst/>
              <a:gdLst/>
              <a:ahLst/>
              <a:cxnLst/>
              <a:rect r="r" b="b" t="t" l="l"/>
              <a:pathLst>
                <a:path h="3825373" w="8361471">
                  <a:moveTo>
                    <a:pt x="0" y="0"/>
                  </a:moveTo>
                  <a:lnTo>
                    <a:pt x="8361470" y="0"/>
                  </a:lnTo>
                  <a:lnTo>
                    <a:pt x="8361470" y="3825372"/>
                  </a:lnTo>
                  <a:lnTo>
                    <a:pt x="0" y="3825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13111" y="2221864"/>
            <a:ext cx="10294842" cy="5843271"/>
            <a:chOff x="0" y="0"/>
            <a:chExt cx="13726455" cy="779102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1129525"/>
              <a:ext cx="13726455" cy="6661504"/>
              <a:chOff x="0" y="0"/>
              <a:chExt cx="4251761" cy="206339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51761" cy="2063397"/>
              </a:xfrm>
              <a:custGeom>
                <a:avLst/>
                <a:gdLst/>
                <a:ahLst/>
                <a:cxnLst/>
                <a:rect r="r" b="b" t="t" l="l"/>
                <a:pathLst>
                  <a:path h="2063397" w="4251761">
                    <a:moveTo>
                      <a:pt x="0" y="0"/>
                    </a:moveTo>
                    <a:lnTo>
                      <a:pt x="4251761" y="0"/>
                    </a:lnTo>
                    <a:lnTo>
                      <a:pt x="4251761" y="2063397"/>
                    </a:lnTo>
                    <a:lnTo>
                      <a:pt x="0" y="2063397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51761" cy="2101497"/>
              </a:xfrm>
              <a:prstGeom prst="rect">
                <a:avLst/>
              </a:prstGeom>
            </p:spPr>
            <p:txBody>
              <a:bodyPr anchor="ctr" rtlCol="false" tIns="32396" lIns="32396" bIns="32396" rIns="3239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-85725"/>
              <a:ext cx="13726455" cy="1114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41"/>
                </a:lnSpc>
              </a:pPr>
              <a:r>
                <a:rPr lang="en-US" b="true" sz="522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Vista de Notificaciones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537718" y="1574263"/>
              <a:ext cx="12651019" cy="5772027"/>
            </a:xfrm>
            <a:custGeom>
              <a:avLst/>
              <a:gdLst/>
              <a:ahLst/>
              <a:cxnLst/>
              <a:rect r="r" b="b" t="t" l="l"/>
              <a:pathLst>
                <a:path h="5772027" w="12651019">
                  <a:moveTo>
                    <a:pt x="0" y="0"/>
                  </a:moveTo>
                  <a:lnTo>
                    <a:pt x="12651019" y="0"/>
                  </a:lnTo>
                  <a:lnTo>
                    <a:pt x="12651019" y="5772027"/>
                  </a:lnTo>
                  <a:lnTo>
                    <a:pt x="0" y="5772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77225" y="3449714"/>
            <a:ext cx="6992195" cy="3387573"/>
            <a:chOff x="0" y="0"/>
            <a:chExt cx="9322927" cy="451676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322927" cy="4516764"/>
              <a:chOff x="0" y="0"/>
              <a:chExt cx="1721028" cy="83380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721028" cy="833802"/>
              </a:xfrm>
              <a:custGeom>
                <a:avLst/>
                <a:gdLst/>
                <a:ahLst/>
                <a:cxnLst/>
                <a:rect r="r" b="b" t="t" l="l"/>
                <a:pathLst>
                  <a:path h="833802" w="1721028">
                    <a:moveTo>
                      <a:pt x="32109" y="0"/>
                    </a:moveTo>
                    <a:lnTo>
                      <a:pt x="1688918" y="0"/>
                    </a:lnTo>
                    <a:cubicBezTo>
                      <a:pt x="1706652" y="0"/>
                      <a:pt x="1721028" y="14376"/>
                      <a:pt x="1721028" y="32109"/>
                    </a:cubicBezTo>
                    <a:lnTo>
                      <a:pt x="1721028" y="801693"/>
                    </a:lnTo>
                    <a:cubicBezTo>
                      <a:pt x="1721028" y="819426"/>
                      <a:pt x="1706652" y="833802"/>
                      <a:pt x="1688918" y="833802"/>
                    </a:cubicBezTo>
                    <a:lnTo>
                      <a:pt x="32109" y="833802"/>
                    </a:lnTo>
                    <a:cubicBezTo>
                      <a:pt x="14376" y="833802"/>
                      <a:pt x="0" y="819426"/>
                      <a:pt x="0" y="801693"/>
                    </a:cubicBezTo>
                    <a:lnTo>
                      <a:pt x="0" y="32109"/>
                    </a:lnTo>
                    <a:cubicBezTo>
                      <a:pt x="0" y="14376"/>
                      <a:pt x="14376" y="0"/>
                      <a:pt x="32109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1721028" cy="890952"/>
              </a:xfrm>
              <a:prstGeom prst="rect">
                <a:avLst/>
              </a:prstGeom>
            </p:spPr>
            <p:txBody>
              <a:bodyPr anchor="ctr" rtlCol="false" tIns="54358" lIns="54358" bIns="54358" rIns="54358"/>
              <a:lstStyle/>
              <a:p>
                <a:pPr algn="ctr" marL="0" indent="0" lvl="0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46805" y="963994"/>
              <a:ext cx="8629318" cy="3151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9634" indent="-184817" lvl="1">
                <a:lnSpc>
                  <a:spcPts val="239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1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Centraliza todos l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os eventos relevantes del taller (cambios en OTs, pausas, 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avanc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s).</a:t>
              </a:r>
            </a:p>
            <a:p>
              <a:pPr algn="l" marL="369634" indent="-184817" lvl="1">
                <a:lnSpc>
                  <a:spcPts val="239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Mues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tr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estad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de 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le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ctura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, ti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po 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evento, OT 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so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ci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ad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 y fecha/hora.</a:t>
              </a:r>
            </a:p>
            <a:p>
              <a:pPr algn="l" marL="369634" indent="-184817" lvl="1">
                <a:lnSpc>
                  <a:spcPts val="239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Bo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ón pa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ra ab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rir 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la OT direc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tame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 y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arcar todas como leídas.</a:t>
              </a:r>
            </a:p>
            <a:p>
              <a:pPr algn="l" marL="369634" indent="-184817" lvl="1">
                <a:lnSpc>
                  <a:spcPts val="2396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Acceso para todos los roles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;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solo v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is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ualiz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aci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ón, n</a:t>
              </a:r>
              <a:r>
                <a:rPr lang="en-US" sz="1712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 edición.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442537" y="263291"/>
              <a:ext cx="2437852" cy="560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61"/>
                </a:lnSpc>
                <a:spcBef>
                  <a:spcPct val="0"/>
                </a:spcBef>
              </a:pPr>
              <a:r>
                <a:rPr lang="en-US" sz="256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Elementos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349620" y="3742279"/>
            <a:ext cx="6601211" cy="2802442"/>
            <a:chOff x="0" y="0"/>
            <a:chExt cx="8801615" cy="373658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801615" cy="3736589"/>
              <a:chOff x="0" y="0"/>
              <a:chExt cx="1738591" cy="73809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38591" cy="738092"/>
              </a:xfrm>
              <a:custGeom>
                <a:avLst/>
                <a:gdLst/>
                <a:ahLst/>
                <a:cxnLst/>
                <a:rect r="r" b="b" t="t" l="l"/>
                <a:pathLst>
                  <a:path h="738092" w="1738591">
                    <a:moveTo>
                      <a:pt x="34011" y="0"/>
                    </a:moveTo>
                    <a:lnTo>
                      <a:pt x="1704579" y="0"/>
                    </a:lnTo>
                    <a:cubicBezTo>
                      <a:pt x="1713600" y="0"/>
                      <a:pt x="1722251" y="3583"/>
                      <a:pt x="1728629" y="9962"/>
                    </a:cubicBezTo>
                    <a:cubicBezTo>
                      <a:pt x="1735007" y="16340"/>
                      <a:pt x="1738591" y="24991"/>
                      <a:pt x="1738591" y="34011"/>
                    </a:cubicBezTo>
                    <a:lnTo>
                      <a:pt x="1738591" y="704080"/>
                    </a:lnTo>
                    <a:cubicBezTo>
                      <a:pt x="1738591" y="713101"/>
                      <a:pt x="1735007" y="721752"/>
                      <a:pt x="1728629" y="728130"/>
                    </a:cubicBezTo>
                    <a:cubicBezTo>
                      <a:pt x="1722251" y="734508"/>
                      <a:pt x="1713600" y="738092"/>
                      <a:pt x="1704579" y="738092"/>
                    </a:cubicBezTo>
                    <a:lnTo>
                      <a:pt x="34011" y="738092"/>
                    </a:lnTo>
                    <a:cubicBezTo>
                      <a:pt x="24991" y="738092"/>
                      <a:pt x="16340" y="734508"/>
                      <a:pt x="9962" y="728130"/>
                    </a:cubicBezTo>
                    <a:cubicBezTo>
                      <a:pt x="3583" y="721752"/>
                      <a:pt x="0" y="713101"/>
                      <a:pt x="0" y="704080"/>
                    </a:cubicBezTo>
                    <a:lnTo>
                      <a:pt x="0" y="34011"/>
                    </a:lnTo>
                    <a:cubicBezTo>
                      <a:pt x="0" y="24991"/>
                      <a:pt x="3583" y="16340"/>
                      <a:pt x="9962" y="9962"/>
                    </a:cubicBezTo>
                    <a:cubicBezTo>
                      <a:pt x="16340" y="3583"/>
                      <a:pt x="24991" y="0"/>
                      <a:pt x="34011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1738591" cy="7952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55582" y="840319"/>
              <a:ext cx="7890452" cy="2571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5439" indent="-172720" lvl="1">
                <a:lnSpc>
                  <a:spcPts val="22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Ubicad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 en la esquina superior derecha, acces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ible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de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sde cua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lquier sección.</a:t>
              </a:r>
            </a:p>
            <a:p>
              <a:pPr algn="l" marL="345439" indent="-172720" lvl="1">
                <a:lnSpc>
                  <a:spcPts val="22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Mu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estra nombre y rol del usuario, d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eterm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nd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 ac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os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y permisos.</a:t>
              </a:r>
            </a:p>
            <a:p>
              <a:pPr algn="l" marL="345439" indent="-172720" lvl="1">
                <a:lnSpc>
                  <a:spcPts val="22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Permite cambiar contraseña y ce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ra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sesi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ón.</a:t>
              </a:r>
            </a:p>
            <a:p>
              <a:pPr algn="l" marL="345439" indent="-172720" lvl="1">
                <a:lnSpc>
                  <a:spcPts val="22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arra superior incluye notificaciones (conta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do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 de 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pen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di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ntes) y hora en ti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emp</a:t>
              </a:r>
              <a:r>
                <a:rPr lang="en-US" sz="1599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 real.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341514" y="265791"/>
              <a:ext cx="2118587" cy="517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48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Elementos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32084" y="3097436"/>
            <a:ext cx="11117536" cy="4092128"/>
            <a:chOff x="0" y="0"/>
            <a:chExt cx="14823381" cy="545617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302744" y="2166325"/>
              <a:ext cx="14217893" cy="3289845"/>
              <a:chOff x="0" y="0"/>
              <a:chExt cx="4646005" cy="107502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646005" cy="1075028"/>
              </a:xfrm>
              <a:custGeom>
                <a:avLst/>
                <a:gdLst/>
                <a:ahLst/>
                <a:cxnLst/>
                <a:rect r="r" b="b" t="t" l="l"/>
                <a:pathLst>
                  <a:path h="1075028" w="4646005">
                    <a:moveTo>
                      <a:pt x="0" y="0"/>
                    </a:moveTo>
                    <a:lnTo>
                      <a:pt x="4646005" y="0"/>
                    </a:lnTo>
                    <a:lnTo>
                      <a:pt x="4646005" y="1075028"/>
                    </a:lnTo>
                    <a:lnTo>
                      <a:pt x="0" y="1075028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4646005" cy="1113128"/>
              </a:xfrm>
              <a:prstGeom prst="rect">
                <a:avLst/>
              </a:prstGeom>
            </p:spPr>
            <p:txBody>
              <a:bodyPr anchor="ctr" rtlCol="false" tIns="30708" lIns="30708" bIns="30708" rIns="30708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-66675"/>
              <a:ext cx="14823381" cy="2076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95"/>
                </a:lnSpc>
              </a:pPr>
              <a:r>
                <a:rPr lang="en-US" sz="4957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Menú de Usuario </a:t>
              </a:r>
            </a:p>
            <a:p>
              <a:pPr algn="ctr">
                <a:lnSpc>
                  <a:spcPts val="6295"/>
                </a:lnSpc>
              </a:pPr>
              <a:r>
                <a:rPr lang="en-US" b="true" sz="4957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(Header Superior Derecho)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835142" y="2709676"/>
              <a:ext cx="13153098" cy="2203144"/>
            </a:xfrm>
            <a:custGeom>
              <a:avLst/>
              <a:gdLst/>
              <a:ahLst/>
              <a:cxnLst/>
              <a:rect r="r" b="b" t="t" l="l"/>
              <a:pathLst>
                <a:path h="2203144" w="13153098">
                  <a:moveTo>
                    <a:pt x="0" y="0"/>
                  </a:moveTo>
                  <a:lnTo>
                    <a:pt x="13153097" y="0"/>
                  </a:lnTo>
                  <a:lnTo>
                    <a:pt x="13153097" y="2203144"/>
                  </a:lnTo>
                  <a:lnTo>
                    <a:pt x="0" y="2203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472939" y="3881226"/>
            <a:ext cx="7447470" cy="2524548"/>
            <a:chOff x="0" y="0"/>
            <a:chExt cx="9929959" cy="336606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9929959" cy="3366064"/>
              <a:chOff x="0" y="0"/>
              <a:chExt cx="1777378" cy="60249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77378" cy="602497"/>
              </a:xfrm>
              <a:custGeom>
                <a:avLst/>
                <a:gdLst/>
                <a:ahLst/>
                <a:cxnLst/>
                <a:rect r="r" b="b" t="t" l="l"/>
                <a:pathLst>
                  <a:path h="602497" w="1777378">
                    <a:moveTo>
                      <a:pt x="30147" y="0"/>
                    </a:moveTo>
                    <a:lnTo>
                      <a:pt x="1747231" y="0"/>
                    </a:lnTo>
                    <a:cubicBezTo>
                      <a:pt x="1763881" y="0"/>
                      <a:pt x="1777378" y="13497"/>
                      <a:pt x="1777378" y="30147"/>
                    </a:cubicBezTo>
                    <a:lnTo>
                      <a:pt x="1777378" y="572350"/>
                    </a:lnTo>
                    <a:cubicBezTo>
                      <a:pt x="1777378" y="588999"/>
                      <a:pt x="1763881" y="602497"/>
                      <a:pt x="1747231" y="602497"/>
                    </a:cubicBezTo>
                    <a:lnTo>
                      <a:pt x="30147" y="602497"/>
                    </a:lnTo>
                    <a:cubicBezTo>
                      <a:pt x="13497" y="602497"/>
                      <a:pt x="0" y="588999"/>
                      <a:pt x="0" y="572350"/>
                    </a:cubicBezTo>
                    <a:lnTo>
                      <a:pt x="0" y="30147"/>
                    </a:lnTo>
                    <a:cubicBezTo>
                      <a:pt x="0" y="13497"/>
                      <a:pt x="13497" y="0"/>
                      <a:pt x="30147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1777378" cy="659647"/>
              </a:xfrm>
              <a:prstGeom prst="rect">
                <a:avLst/>
              </a:prstGeom>
            </p:spPr>
            <p:txBody>
              <a:bodyPr anchor="ctr" rtlCol="false" tIns="56062" lIns="56062" bIns="56062" rIns="56062"/>
              <a:lstStyle/>
              <a:p>
                <a:pPr algn="ctr" marL="0" indent="0" lvl="0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48851" y="929089"/>
              <a:ext cx="9032257" cy="20200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1219" indent="-190610" lvl="1">
                <a:lnSpc>
                  <a:spcPts val="247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6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a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 desde la campana del header.</a:t>
              </a:r>
            </a:p>
            <a:p>
              <a:pPr algn="l" marL="381219" indent="-190610" lvl="1">
                <a:lnSpc>
                  <a:spcPts val="247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Mu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estra alertas 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en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tes de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OT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 y stock con fecha, hora y estado (“Nueva”).</a:t>
              </a:r>
            </a:p>
            <a:p>
              <a:pPr algn="l" marL="381219" indent="-190610" lvl="1">
                <a:lnSpc>
                  <a:spcPts val="247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Bo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ón “Ve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 todas” accede al historial completo.</a:t>
              </a:r>
            </a:p>
            <a:p>
              <a:pPr algn="l" marL="381219" indent="-190610" lvl="1">
                <a:lnSpc>
                  <a:spcPts val="247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onte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ido adapta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do 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al rol de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 u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</a:t>
              </a:r>
              <a:r>
                <a:rPr lang="en-US" sz="1765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ario.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795968" y="277034"/>
              <a:ext cx="2338024" cy="5673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63"/>
                </a:lnSpc>
                <a:spcBef>
                  <a:spcPct val="0"/>
                </a:spcBef>
              </a:pPr>
              <a:r>
                <a:rPr lang="en-US" sz="264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Elementos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87790" y="2639509"/>
            <a:ext cx="9670882" cy="5007983"/>
            <a:chOff x="0" y="0"/>
            <a:chExt cx="12894510" cy="667731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1841735"/>
              <a:ext cx="12894510" cy="4835575"/>
              <a:chOff x="0" y="0"/>
              <a:chExt cx="4904327" cy="183917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904327" cy="1839174"/>
              </a:xfrm>
              <a:custGeom>
                <a:avLst/>
                <a:gdLst/>
                <a:ahLst/>
                <a:cxnLst/>
                <a:rect r="r" b="b" t="t" l="l"/>
                <a:pathLst>
                  <a:path h="1839174" w="4904327">
                    <a:moveTo>
                      <a:pt x="0" y="0"/>
                    </a:moveTo>
                    <a:lnTo>
                      <a:pt x="4904327" y="0"/>
                    </a:lnTo>
                    <a:lnTo>
                      <a:pt x="4904327" y="1839174"/>
                    </a:lnTo>
                    <a:lnTo>
                      <a:pt x="0" y="183917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4904327" cy="1877274"/>
              </a:xfrm>
              <a:prstGeom prst="rect">
                <a:avLst/>
              </a:prstGeom>
            </p:spPr>
            <p:txBody>
              <a:bodyPr anchor="ctr" rtlCol="false" tIns="26383" lIns="26383" bIns="26383" rIns="26383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-76200"/>
              <a:ext cx="12894510" cy="1802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09"/>
                </a:lnSpc>
              </a:pPr>
              <a:r>
                <a:rPr lang="en-US" b="true" sz="425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Panel Desplegable de Notificaciones (Header)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617559" y="2153545"/>
              <a:ext cx="11659391" cy="4211955"/>
            </a:xfrm>
            <a:custGeom>
              <a:avLst/>
              <a:gdLst/>
              <a:ahLst/>
              <a:cxnLst/>
              <a:rect r="r" b="b" t="t" l="l"/>
              <a:pathLst>
                <a:path h="4211955" w="11659391">
                  <a:moveTo>
                    <a:pt x="0" y="0"/>
                  </a:moveTo>
                  <a:lnTo>
                    <a:pt x="11659391" y="0"/>
                  </a:lnTo>
                  <a:lnTo>
                    <a:pt x="11659391" y="4211955"/>
                  </a:lnTo>
                  <a:lnTo>
                    <a:pt x="0" y="4211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9962" y="905357"/>
            <a:ext cx="4297324" cy="2164706"/>
          </a:xfrm>
          <a:custGeom>
            <a:avLst/>
            <a:gdLst/>
            <a:ahLst/>
            <a:cxnLst/>
            <a:rect r="r" b="b" t="t" l="l"/>
            <a:pathLst>
              <a:path h="2164706" w="4297324">
                <a:moveTo>
                  <a:pt x="0" y="0"/>
                </a:moveTo>
                <a:lnTo>
                  <a:pt x="4297324" y="0"/>
                </a:lnTo>
                <a:lnTo>
                  <a:pt x="4297324" y="2164706"/>
                </a:lnTo>
                <a:lnTo>
                  <a:pt x="0" y="216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750" y="8716849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8736" y="444806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38480" y="8364424"/>
            <a:ext cx="3341128" cy="1683038"/>
          </a:xfrm>
          <a:custGeom>
            <a:avLst/>
            <a:gdLst/>
            <a:ahLst/>
            <a:cxnLst/>
            <a:rect r="r" b="b" t="t" l="l"/>
            <a:pathLst>
              <a:path h="1683038" w="3341128">
                <a:moveTo>
                  <a:pt x="0" y="0"/>
                </a:moveTo>
                <a:lnTo>
                  <a:pt x="3341128" y="0"/>
                </a:lnTo>
                <a:lnTo>
                  <a:pt x="3341128" y="1683038"/>
                </a:lnTo>
                <a:lnTo>
                  <a:pt x="0" y="168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14709" y="2127844"/>
            <a:ext cx="1748054" cy="880553"/>
          </a:xfrm>
          <a:custGeom>
            <a:avLst/>
            <a:gdLst/>
            <a:ahLst/>
            <a:cxnLst/>
            <a:rect r="r" b="b" t="t" l="l"/>
            <a:pathLst>
              <a:path h="880553" w="1748054">
                <a:moveTo>
                  <a:pt x="0" y="0"/>
                </a:moveTo>
                <a:lnTo>
                  <a:pt x="1748054" y="0"/>
                </a:lnTo>
                <a:lnTo>
                  <a:pt x="1748054" y="880553"/>
                </a:lnTo>
                <a:lnTo>
                  <a:pt x="0" y="8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1576" t="0" r="-45714" b="-41536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32084" y="2301947"/>
            <a:ext cx="9955187" cy="5683107"/>
            <a:chOff x="0" y="0"/>
            <a:chExt cx="13273583" cy="757747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1131701"/>
              <a:ext cx="13273583" cy="6445775"/>
              <a:chOff x="0" y="0"/>
              <a:chExt cx="4251761" cy="206469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51761" cy="2064695"/>
              </a:xfrm>
              <a:custGeom>
                <a:avLst/>
                <a:gdLst/>
                <a:ahLst/>
                <a:cxnLst/>
                <a:rect r="r" b="b" t="t" l="l"/>
                <a:pathLst>
                  <a:path h="2064695" w="4251761">
                    <a:moveTo>
                      <a:pt x="0" y="0"/>
                    </a:moveTo>
                    <a:lnTo>
                      <a:pt x="4251761" y="0"/>
                    </a:lnTo>
                    <a:lnTo>
                      <a:pt x="4251761" y="2064695"/>
                    </a:lnTo>
                    <a:lnTo>
                      <a:pt x="0" y="206469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093FF">
                      <a:alpha val="100000"/>
                    </a:srgbClr>
                  </a:gs>
                  <a:gs pos="100000">
                    <a:srgbClr val="FDF1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51761" cy="2102795"/>
              </a:xfrm>
              <a:prstGeom prst="rect">
                <a:avLst/>
              </a:prstGeom>
            </p:spPr>
            <p:txBody>
              <a:bodyPr anchor="ctr" rtlCol="false" tIns="31327" lIns="31327" bIns="31327" rIns="31327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-85725"/>
              <a:ext cx="13273583" cy="1080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2"/>
                </a:lnSpc>
              </a:pPr>
              <a:r>
                <a:rPr lang="en-US" b="true" sz="5057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Vista: Cambiar Contraseña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546536" y="1508739"/>
              <a:ext cx="12180511" cy="5466004"/>
            </a:xfrm>
            <a:custGeom>
              <a:avLst/>
              <a:gdLst/>
              <a:ahLst/>
              <a:cxnLst/>
              <a:rect r="r" b="b" t="t" l="l"/>
              <a:pathLst>
                <a:path h="5466004" w="12180511">
                  <a:moveTo>
                    <a:pt x="0" y="0"/>
                  </a:moveTo>
                  <a:lnTo>
                    <a:pt x="12180511" y="0"/>
                  </a:lnTo>
                  <a:lnTo>
                    <a:pt x="12180511" y="5466004"/>
                  </a:lnTo>
                  <a:lnTo>
                    <a:pt x="0" y="5466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459810" y="3794760"/>
            <a:ext cx="7562200" cy="2697479"/>
            <a:chOff x="0" y="0"/>
            <a:chExt cx="10082934" cy="3596639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082934" cy="3596639"/>
              <a:chOff x="0" y="0"/>
              <a:chExt cx="1894751" cy="67586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894751" cy="675868"/>
              </a:xfrm>
              <a:custGeom>
                <a:avLst/>
                <a:gdLst/>
                <a:ahLst/>
                <a:cxnLst/>
                <a:rect r="r" b="b" t="t" l="l"/>
                <a:pathLst>
                  <a:path h="675868" w="1894751">
                    <a:moveTo>
                      <a:pt x="31208" y="0"/>
                    </a:moveTo>
                    <a:lnTo>
                      <a:pt x="1863543" y="0"/>
                    </a:lnTo>
                    <a:cubicBezTo>
                      <a:pt x="1871820" y="0"/>
                      <a:pt x="1879758" y="3288"/>
                      <a:pt x="1885611" y="9141"/>
                    </a:cubicBezTo>
                    <a:cubicBezTo>
                      <a:pt x="1891463" y="14993"/>
                      <a:pt x="1894751" y="22931"/>
                      <a:pt x="1894751" y="31208"/>
                    </a:cubicBezTo>
                    <a:lnTo>
                      <a:pt x="1894751" y="644660"/>
                    </a:lnTo>
                    <a:cubicBezTo>
                      <a:pt x="1894751" y="652937"/>
                      <a:pt x="1891463" y="660875"/>
                      <a:pt x="1885611" y="666728"/>
                    </a:cubicBezTo>
                    <a:cubicBezTo>
                      <a:pt x="1879758" y="672580"/>
                      <a:pt x="1871820" y="675868"/>
                      <a:pt x="1863543" y="675868"/>
                    </a:cubicBezTo>
                    <a:lnTo>
                      <a:pt x="31208" y="675868"/>
                    </a:lnTo>
                    <a:cubicBezTo>
                      <a:pt x="22931" y="675868"/>
                      <a:pt x="14993" y="672580"/>
                      <a:pt x="9141" y="666728"/>
                    </a:cubicBezTo>
                    <a:cubicBezTo>
                      <a:pt x="3288" y="660875"/>
                      <a:pt x="0" y="652937"/>
                      <a:pt x="0" y="644660"/>
                    </a:cubicBezTo>
                    <a:lnTo>
                      <a:pt x="0" y="31208"/>
                    </a:lnTo>
                    <a:cubicBezTo>
                      <a:pt x="0" y="22931"/>
                      <a:pt x="3288" y="14993"/>
                      <a:pt x="9141" y="9141"/>
                    </a:cubicBezTo>
                    <a:cubicBezTo>
                      <a:pt x="14993" y="3288"/>
                      <a:pt x="22931" y="0"/>
                      <a:pt x="31208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1894751" cy="7330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54117" y="892266"/>
              <a:ext cx="9174700" cy="2323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3113" indent="-181556" lvl="1">
                <a:lnSpc>
                  <a:spcPts val="235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8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Permite a cualquier</a:t>
              </a:r>
              <a:r>
                <a:rPr lang="en-US" sz="168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usuario actualizar su propia contras</a:t>
              </a:r>
              <a:r>
                <a:rPr lang="en-US" sz="168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eña</a:t>
              </a:r>
              <a:r>
                <a:rPr lang="en-US" sz="168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de</a:t>
              </a:r>
              <a:r>
                <a:rPr lang="en-US" sz="168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forma</a:t>
              </a:r>
              <a:r>
                <a:rPr lang="en-US" sz="168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segura.</a:t>
              </a:r>
            </a:p>
            <a:p>
              <a:pPr algn="l" marL="363113" indent="-181556" lvl="1">
                <a:lnSpc>
                  <a:spcPts val="235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8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Accesible desde el menú de usuario, esquina superior de</a:t>
              </a:r>
              <a:r>
                <a:rPr lang="en-US" sz="168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</a:t>
              </a:r>
              <a:r>
                <a:rPr lang="en-US" sz="168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cha.</a:t>
              </a:r>
            </a:p>
            <a:p>
              <a:pPr algn="l" marL="363113" indent="-181556" lvl="1">
                <a:lnSpc>
                  <a:spcPts val="235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8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Garantiza seguridad, claridad y autoges</a:t>
              </a:r>
              <a:r>
                <a:rPr lang="en-US" sz="168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tión</a:t>
              </a:r>
              <a:r>
                <a:rPr lang="en-US" sz="168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8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68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</a:t>
              </a:r>
              <a:r>
                <a:rPr lang="en-US" sz="168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afec</a:t>
              </a:r>
              <a:r>
                <a:rPr lang="en-US" sz="168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tar</a:t>
              </a:r>
              <a:r>
                <a:rPr lang="en-US" sz="168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8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 ot</a:t>
              </a:r>
              <a:r>
                <a:rPr lang="en-US" sz="168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ros usuar</a:t>
              </a:r>
              <a:r>
                <a:rPr lang="en-US" sz="168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ios.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858741" y="238721"/>
              <a:ext cx="2365453" cy="5517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03"/>
                </a:lnSpc>
                <a:spcBef>
                  <a:spcPct val="0"/>
                </a:spcBef>
              </a:pPr>
              <a:r>
                <a:rPr lang="en-US" sz="252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Elementos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99879">
            <a:off x="6440407" y="-1370488"/>
            <a:ext cx="16291319" cy="4335087"/>
            <a:chOff x="0" y="0"/>
            <a:chExt cx="4290718" cy="1141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90718" cy="1141751"/>
            </a:xfrm>
            <a:custGeom>
              <a:avLst/>
              <a:gdLst/>
              <a:ahLst/>
              <a:cxnLst/>
              <a:rect r="r" b="b" t="t" l="l"/>
              <a:pathLst>
                <a:path h="1141751" w="4290718">
                  <a:moveTo>
                    <a:pt x="2145359" y="0"/>
                  </a:moveTo>
                  <a:cubicBezTo>
                    <a:pt x="960510" y="0"/>
                    <a:pt x="0" y="255590"/>
                    <a:pt x="0" y="570876"/>
                  </a:cubicBezTo>
                  <a:cubicBezTo>
                    <a:pt x="0" y="886162"/>
                    <a:pt x="960510" y="1141751"/>
                    <a:pt x="2145359" y="1141751"/>
                  </a:cubicBezTo>
                  <a:cubicBezTo>
                    <a:pt x="3330208" y="1141751"/>
                    <a:pt x="4290718" y="886162"/>
                    <a:pt x="4290718" y="570876"/>
                  </a:cubicBezTo>
                  <a:cubicBezTo>
                    <a:pt x="4290718" y="255590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402255" y="49889"/>
              <a:ext cx="3486208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9672369">
            <a:off x="-4118858" y="-1813665"/>
            <a:ext cx="16291319" cy="4798912"/>
            <a:chOff x="0" y="0"/>
            <a:chExt cx="4290718" cy="12639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90718" cy="1263911"/>
            </a:xfrm>
            <a:custGeom>
              <a:avLst/>
              <a:gdLst/>
              <a:ahLst/>
              <a:cxnLst/>
              <a:rect r="r" b="b" t="t" l="l"/>
              <a:pathLst>
                <a:path h="1263911" w="4290718">
                  <a:moveTo>
                    <a:pt x="2145359" y="0"/>
                  </a:moveTo>
                  <a:cubicBezTo>
                    <a:pt x="960510" y="0"/>
                    <a:pt x="0" y="282936"/>
                    <a:pt x="0" y="631956"/>
                  </a:cubicBezTo>
                  <a:cubicBezTo>
                    <a:pt x="0" y="980975"/>
                    <a:pt x="960510" y="1263911"/>
                    <a:pt x="2145359" y="1263911"/>
                  </a:cubicBezTo>
                  <a:cubicBezTo>
                    <a:pt x="3330208" y="1263911"/>
                    <a:pt x="4290718" y="980975"/>
                    <a:pt x="4290718" y="631956"/>
                  </a:cubicBezTo>
                  <a:cubicBezTo>
                    <a:pt x="4290718" y="282936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402255" y="61342"/>
              <a:ext cx="3486208" cy="1084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110935" y="797055"/>
            <a:ext cx="4066131" cy="3883155"/>
          </a:xfrm>
          <a:custGeom>
            <a:avLst/>
            <a:gdLst/>
            <a:ahLst/>
            <a:cxnLst/>
            <a:rect r="r" b="b" t="t" l="l"/>
            <a:pathLst>
              <a:path h="3883155" w="4066131">
                <a:moveTo>
                  <a:pt x="0" y="0"/>
                </a:moveTo>
                <a:lnTo>
                  <a:pt x="4066130" y="0"/>
                </a:lnTo>
                <a:lnTo>
                  <a:pt x="4066130" y="3883155"/>
                </a:lnTo>
                <a:lnTo>
                  <a:pt x="0" y="3883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69883" y="5540673"/>
            <a:ext cx="14748233" cy="2669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29"/>
              </a:lnSpc>
              <a:spcBef>
                <a:spcPct val="0"/>
              </a:spcBef>
            </a:pPr>
            <a:r>
              <a:rPr lang="en-US" sz="108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Fase 4 – Integración y Pruebas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99879">
            <a:off x="6440407" y="-1370488"/>
            <a:ext cx="16291319" cy="4335087"/>
            <a:chOff x="0" y="0"/>
            <a:chExt cx="4290718" cy="1141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90718" cy="1141751"/>
            </a:xfrm>
            <a:custGeom>
              <a:avLst/>
              <a:gdLst/>
              <a:ahLst/>
              <a:cxnLst/>
              <a:rect r="r" b="b" t="t" l="l"/>
              <a:pathLst>
                <a:path h="1141751" w="4290718">
                  <a:moveTo>
                    <a:pt x="2145359" y="0"/>
                  </a:moveTo>
                  <a:cubicBezTo>
                    <a:pt x="960510" y="0"/>
                    <a:pt x="0" y="255590"/>
                    <a:pt x="0" y="570876"/>
                  </a:cubicBezTo>
                  <a:cubicBezTo>
                    <a:pt x="0" y="886162"/>
                    <a:pt x="960510" y="1141751"/>
                    <a:pt x="2145359" y="1141751"/>
                  </a:cubicBezTo>
                  <a:cubicBezTo>
                    <a:pt x="3330208" y="1141751"/>
                    <a:pt x="4290718" y="886162"/>
                    <a:pt x="4290718" y="570876"/>
                  </a:cubicBezTo>
                  <a:cubicBezTo>
                    <a:pt x="4290718" y="255590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402255" y="49889"/>
              <a:ext cx="3486208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9672369">
            <a:off x="-4118858" y="-1813665"/>
            <a:ext cx="16291319" cy="4798912"/>
            <a:chOff x="0" y="0"/>
            <a:chExt cx="4290718" cy="12639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90718" cy="1263911"/>
            </a:xfrm>
            <a:custGeom>
              <a:avLst/>
              <a:gdLst/>
              <a:ahLst/>
              <a:cxnLst/>
              <a:rect r="r" b="b" t="t" l="l"/>
              <a:pathLst>
                <a:path h="1263911" w="4290718">
                  <a:moveTo>
                    <a:pt x="2145359" y="0"/>
                  </a:moveTo>
                  <a:cubicBezTo>
                    <a:pt x="960510" y="0"/>
                    <a:pt x="0" y="282936"/>
                    <a:pt x="0" y="631956"/>
                  </a:cubicBezTo>
                  <a:cubicBezTo>
                    <a:pt x="0" y="980975"/>
                    <a:pt x="960510" y="1263911"/>
                    <a:pt x="2145359" y="1263911"/>
                  </a:cubicBezTo>
                  <a:cubicBezTo>
                    <a:pt x="3330208" y="1263911"/>
                    <a:pt x="4290718" y="980975"/>
                    <a:pt x="4290718" y="631956"/>
                  </a:cubicBezTo>
                  <a:cubicBezTo>
                    <a:pt x="4290718" y="282936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402255" y="61342"/>
              <a:ext cx="3486208" cy="1084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054835" y="797055"/>
            <a:ext cx="4178330" cy="4754857"/>
          </a:xfrm>
          <a:custGeom>
            <a:avLst/>
            <a:gdLst/>
            <a:ahLst/>
            <a:cxnLst/>
            <a:rect r="r" b="b" t="t" l="l"/>
            <a:pathLst>
              <a:path h="4754857" w="4178330">
                <a:moveTo>
                  <a:pt x="0" y="0"/>
                </a:moveTo>
                <a:lnTo>
                  <a:pt x="4178330" y="0"/>
                </a:lnTo>
                <a:lnTo>
                  <a:pt x="4178330" y="4754857"/>
                </a:lnTo>
                <a:lnTo>
                  <a:pt x="0" y="4754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13401" y="6074838"/>
            <a:ext cx="14261198" cy="1440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29"/>
              </a:lnSpc>
              <a:spcBef>
                <a:spcPct val="0"/>
              </a:spcBef>
            </a:pPr>
            <a:r>
              <a:rPr lang="en-US" sz="108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Pruebas Funcionales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30511" y="2220272"/>
            <a:ext cx="9207147" cy="3286429"/>
            <a:chOff x="0" y="0"/>
            <a:chExt cx="12276196" cy="438190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276196" cy="4381905"/>
              <a:chOff x="0" y="0"/>
              <a:chExt cx="2745035" cy="97982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45035" cy="979822"/>
              </a:xfrm>
              <a:custGeom>
                <a:avLst/>
                <a:gdLst/>
                <a:ahLst/>
                <a:cxnLst/>
                <a:rect r="r" b="b" t="t" l="l"/>
                <a:pathLst>
                  <a:path h="979822" w="2745035">
                    <a:moveTo>
                      <a:pt x="26251" y="0"/>
                    </a:moveTo>
                    <a:lnTo>
                      <a:pt x="2718784" y="0"/>
                    </a:lnTo>
                    <a:cubicBezTo>
                      <a:pt x="2725746" y="0"/>
                      <a:pt x="2732423" y="2766"/>
                      <a:pt x="2737346" y="7689"/>
                    </a:cubicBezTo>
                    <a:cubicBezTo>
                      <a:pt x="2742269" y="12612"/>
                      <a:pt x="2745035" y="19289"/>
                      <a:pt x="2745035" y="26251"/>
                    </a:cubicBezTo>
                    <a:lnTo>
                      <a:pt x="2745035" y="953570"/>
                    </a:lnTo>
                    <a:cubicBezTo>
                      <a:pt x="2745035" y="960533"/>
                      <a:pt x="2742269" y="967210"/>
                      <a:pt x="2737346" y="972133"/>
                    </a:cubicBezTo>
                    <a:cubicBezTo>
                      <a:pt x="2732423" y="977056"/>
                      <a:pt x="2725746" y="979822"/>
                      <a:pt x="2718784" y="979822"/>
                    </a:cubicBezTo>
                    <a:lnTo>
                      <a:pt x="26251" y="979822"/>
                    </a:lnTo>
                    <a:cubicBezTo>
                      <a:pt x="19289" y="979822"/>
                      <a:pt x="12612" y="977056"/>
                      <a:pt x="7689" y="972133"/>
                    </a:cubicBezTo>
                    <a:cubicBezTo>
                      <a:pt x="2766" y="967210"/>
                      <a:pt x="0" y="960533"/>
                      <a:pt x="0" y="953570"/>
                    </a:cubicBezTo>
                    <a:lnTo>
                      <a:pt x="0" y="26251"/>
                    </a:lnTo>
                    <a:cubicBezTo>
                      <a:pt x="0" y="19289"/>
                      <a:pt x="2766" y="12612"/>
                      <a:pt x="7689" y="7689"/>
                    </a:cubicBezTo>
                    <a:cubicBezTo>
                      <a:pt x="12612" y="2766"/>
                      <a:pt x="19289" y="0"/>
                      <a:pt x="26251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2745035" cy="1036972"/>
              </a:xfrm>
              <a:prstGeom prst="rect">
                <a:avLst/>
              </a:prstGeom>
            </p:spPr>
            <p:txBody>
              <a:bodyPr anchor="ctr" rtlCol="false" tIns="41685" lIns="41685" bIns="41685" rIns="41685"/>
              <a:lstStyle/>
              <a:p>
                <a:pPr algn="ctr" marL="0" indent="0" lvl="0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32006" y="361905"/>
              <a:ext cx="11412184" cy="3600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2"/>
                </a:lnSpc>
              </a:pPr>
              <a:r>
                <a:rPr lang="en-US" sz="1937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Descripción</a:t>
              </a:r>
            </a:p>
            <a:p>
              <a:pPr algn="l">
                <a:lnSpc>
                  <a:spcPts val="2712"/>
                </a:lnSpc>
              </a:pPr>
              <a:r>
                <a:rPr lang="en-US" sz="1937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Aspectos probados:</a:t>
              </a:r>
              <a:r>
                <a:rPr lang="en-US" sz="193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Duración de OT, OT atrasadas según SLA (Service Level Agreement / Acuerdo de Nivel de Servicio), actualización de stock y permisos por rol.</a:t>
              </a:r>
            </a:p>
            <a:p>
              <a:pPr algn="l">
                <a:lnSpc>
                  <a:spcPts val="2712"/>
                </a:lnSpc>
              </a:pPr>
              <a:r>
                <a:rPr lang="en-US" sz="1937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Herramienta:</a:t>
              </a:r>
              <a:r>
                <a:rPr lang="en-US" sz="193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Django Test Framework (python manage.py test)</a:t>
              </a:r>
            </a:p>
            <a:p>
              <a:pPr algn="l">
                <a:lnSpc>
                  <a:spcPts val="2712"/>
                </a:lnSpc>
              </a:pPr>
              <a:r>
                <a:rPr lang="en-US" sz="1937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Importancia: </a:t>
              </a:r>
              <a:r>
                <a:rPr lang="en-US" sz="193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Valida la lógica del sistema, reglas de negocio, inventario y seguridad.</a:t>
              </a:r>
            </a:p>
            <a:p>
              <a:pPr algn="l">
                <a:lnSpc>
                  <a:spcPts val="2712"/>
                </a:lnSpc>
              </a:pPr>
              <a:r>
                <a:rPr lang="en-US" b="true" sz="1937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Resultado:</a:t>
              </a:r>
              <a:r>
                <a:rPr lang="en-US" sz="193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Todas las pruebas exitosas, sin errores ni fallos.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-2829832">
            <a:off x="12321567" y="8433725"/>
            <a:ext cx="9875467" cy="4335087"/>
            <a:chOff x="0" y="0"/>
            <a:chExt cx="2600946" cy="11417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00946" cy="1141751"/>
            </a:xfrm>
            <a:custGeom>
              <a:avLst/>
              <a:gdLst/>
              <a:ahLst/>
              <a:cxnLst/>
              <a:rect r="r" b="b" t="t" l="l"/>
              <a:pathLst>
                <a:path h="1141751" w="2600946">
                  <a:moveTo>
                    <a:pt x="1300473" y="0"/>
                  </a:moveTo>
                  <a:cubicBezTo>
                    <a:pt x="582242" y="0"/>
                    <a:pt x="0" y="255590"/>
                    <a:pt x="0" y="570876"/>
                  </a:cubicBezTo>
                  <a:cubicBezTo>
                    <a:pt x="0" y="886162"/>
                    <a:pt x="582242" y="1141751"/>
                    <a:pt x="1300473" y="1141751"/>
                  </a:cubicBezTo>
                  <a:cubicBezTo>
                    <a:pt x="2018704" y="1141751"/>
                    <a:pt x="2600946" y="886162"/>
                    <a:pt x="2600946" y="570876"/>
                  </a:cubicBezTo>
                  <a:cubicBezTo>
                    <a:pt x="2600946" y="255590"/>
                    <a:pt x="2018704" y="0"/>
                    <a:pt x="1300473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243839" y="49889"/>
              <a:ext cx="2113269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4607" y="1970094"/>
            <a:ext cx="7378545" cy="5492996"/>
            <a:chOff x="0" y="0"/>
            <a:chExt cx="9838060" cy="732399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149710" y="1672293"/>
              <a:ext cx="9440863" cy="5651703"/>
              <a:chOff x="0" y="0"/>
              <a:chExt cx="4253859" cy="254654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253859" cy="2546541"/>
              </a:xfrm>
              <a:custGeom>
                <a:avLst/>
                <a:gdLst/>
                <a:ahLst/>
                <a:cxnLst/>
                <a:rect r="r" b="b" t="t" l="l"/>
                <a:pathLst>
                  <a:path h="2546541" w="4253859">
                    <a:moveTo>
                      <a:pt x="0" y="0"/>
                    </a:moveTo>
                    <a:lnTo>
                      <a:pt x="4253859" y="0"/>
                    </a:lnTo>
                    <a:lnTo>
                      <a:pt x="4253859" y="2546541"/>
                    </a:lnTo>
                    <a:lnTo>
                      <a:pt x="0" y="254654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4253859" cy="2584641"/>
              </a:xfrm>
              <a:prstGeom prst="rect">
                <a:avLst/>
              </a:prstGeom>
            </p:spPr>
            <p:txBody>
              <a:bodyPr anchor="ctr" rtlCol="false" tIns="21965" lIns="21965" bIns="21965" rIns="21965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555782" y="1899534"/>
              <a:ext cx="8628718" cy="5197220"/>
            </a:xfrm>
            <a:custGeom>
              <a:avLst/>
              <a:gdLst/>
              <a:ahLst/>
              <a:cxnLst/>
              <a:rect r="r" b="b" t="t" l="l"/>
              <a:pathLst>
                <a:path h="5197220" w="8628718">
                  <a:moveTo>
                    <a:pt x="0" y="0"/>
                  </a:moveTo>
                  <a:lnTo>
                    <a:pt x="8628718" y="0"/>
                  </a:lnTo>
                  <a:lnTo>
                    <a:pt x="8628718" y="5197220"/>
                  </a:lnTo>
                  <a:lnTo>
                    <a:pt x="0" y="5197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-57150"/>
              <a:ext cx="9838060" cy="15147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65"/>
                </a:lnSpc>
              </a:pPr>
              <a:r>
                <a:rPr lang="en-US" sz="3595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Tests por Aplicación  </a:t>
              </a:r>
            </a:p>
            <a:p>
              <a:pPr algn="ctr">
                <a:lnSpc>
                  <a:spcPts val="4565"/>
                </a:lnSpc>
              </a:pPr>
              <a:r>
                <a:rPr lang="en-US" b="true" sz="35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(ot, inventario, core)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153916" y="676275"/>
            <a:ext cx="798016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Pruebas Unitarias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173152" y="5927103"/>
            <a:ext cx="9086148" cy="4096193"/>
            <a:chOff x="0" y="0"/>
            <a:chExt cx="12114864" cy="546159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680583"/>
              <a:ext cx="12114864" cy="4781008"/>
              <a:chOff x="0" y="0"/>
              <a:chExt cx="6452824" cy="254654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452824" cy="2546541"/>
              </a:xfrm>
              <a:custGeom>
                <a:avLst/>
                <a:gdLst/>
                <a:ahLst/>
                <a:cxnLst/>
                <a:rect r="r" b="b" t="t" l="l"/>
                <a:pathLst>
                  <a:path h="2546541" w="6452824">
                    <a:moveTo>
                      <a:pt x="0" y="0"/>
                    </a:moveTo>
                    <a:lnTo>
                      <a:pt x="6452824" y="0"/>
                    </a:lnTo>
                    <a:lnTo>
                      <a:pt x="6452824" y="2546541"/>
                    </a:lnTo>
                    <a:lnTo>
                      <a:pt x="0" y="254654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452824" cy="2584641"/>
              </a:xfrm>
              <a:prstGeom prst="rect">
                <a:avLst/>
              </a:prstGeom>
            </p:spPr>
            <p:txBody>
              <a:bodyPr anchor="ctr" rtlCol="false" tIns="18839" lIns="18839" bIns="18839" rIns="1883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547496" y="1094838"/>
              <a:ext cx="11134477" cy="3952498"/>
            </a:xfrm>
            <a:custGeom>
              <a:avLst/>
              <a:gdLst/>
              <a:ahLst/>
              <a:cxnLst/>
              <a:rect r="r" b="b" t="t" l="l"/>
              <a:pathLst>
                <a:path h="3952498" w="11134477">
                  <a:moveTo>
                    <a:pt x="0" y="0"/>
                  </a:moveTo>
                  <a:lnTo>
                    <a:pt x="11134477" y="0"/>
                  </a:lnTo>
                  <a:lnTo>
                    <a:pt x="11134477" y="3952498"/>
                  </a:lnTo>
                  <a:lnTo>
                    <a:pt x="0" y="3952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953524" y="-57150"/>
              <a:ext cx="8322420" cy="655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62"/>
                </a:lnSpc>
              </a:pPr>
              <a:r>
                <a:rPr lang="en-US" b="true" sz="304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Tests Globales ( Test)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-2829832">
            <a:off x="-4143127" y="-2118611"/>
            <a:ext cx="9875467" cy="4335087"/>
            <a:chOff x="0" y="0"/>
            <a:chExt cx="2600946" cy="11417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00946" cy="1141751"/>
            </a:xfrm>
            <a:custGeom>
              <a:avLst/>
              <a:gdLst/>
              <a:ahLst/>
              <a:cxnLst/>
              <a:rect r="r" b="b" t="t" l="l"/>
              <a:pathLst>
                <a:path h="1141751" w="2600946">
                  <a:moveTo>
                    <a:pt x="1300473" y="0"/>
                  </a:moveTo>
                  <a:cubicBezTo>
                    <a:pt x="582242" y="0"/>
                    <a:pt x="0" y="255590"/>
                    <a:pt x="0" y="570876"/>
                  </a:cubicBezTo>
                  <a:cubicBezTo>
                    <a:pt x="0" y="886162"/>
                    <a:pt x="582242" y="1141751"/>
                    <a:pt x="1300473" y="1141751"/>
                  </a:cubicBezTo>
                  <a:cubicBezTo>
                    <a:pt x="2018704" y="1141751"/>
                    <a:pt x="2600946" y="886162"/>
                    <a:pt x="2600946" y="570876"/>
                  </a:cubicBezTo>
                  <a:cubicBezTo>
                    <a:pt x="2600946" y="255590"/>
                    <a:pt x="2018704" y="0"/>
                    <a:pt x="1300473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243839" y="49889"/>
              <a:ext cx="2113269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121504">
            <a:off x="-4231754" y="-3645983"/>
            <a:ext cx="10520908" cy="5229784"/>
            <a:chOff x="0" y="0"/>
            <a:chExt cx="2296894" cy="1141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6894" cy="1141751"/>
            </a:xfrm>
            <a:custGeom>
              <a:avLst/>
              <a:gdLst/>
              <a:ahLst/>
              <a:cxnLst/>
              <a:rect r="r" b="b" t="t" l="l"/>
              <a:pathLst>
                <a:path h="1141751" w="2296894">
                  <a:moveTo>
                    <a:pt x="1148447" y="0"/>
                  </a:moveTo>
                  <a:cubicBezTo>
                    <a:pt x="514177" y="0"/>
                    <a:pt x="0" y="255590"/>
                    <a:pt x="0" y="570876"/>
                  </a:cubicBezTo>
                  <a:cubicBezTo>
                    <a:pt x="0" y="886162"/>
                    <a:pt x="514177" y="1141751"/>
                    <a:pt x="1148447" y="1141751"/>
                  </a:cubicBezTo>
                  <a:cubicBezTo>
                    <a:pt x="1782717" y="1141751"/>
                    <a:pt x="2296894" y="886162"/>
                    <a:pt x="2296894" y="570876"/>
                  </a:cubicBezTo>
                  <a:cubicBezTo>
                    <a:pt x="2296894" y="255590"/>
                    <a:pt x="1782717" y="0"/>
                    <a:pt x="1148447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15334" y="49889"/>
              <a:ext cx="1866226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829832">
            <a:off x="12321567" y="8433725"/>
            <a:ext cx="9875467" cy="4335087"/>
            <a:chOff x="0" y="0"/>
            <a:chExt cx="2600946" cy="11417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00946" cy="1141751"/>
            </a:xfrm>
            <a:custGeom>
              <a:avLst/>
              <a:gdLst/>
              <a:ahLst/>
              <a:cxnLst/>
              <a:rect r="r" b="b" t="t" l="l"/>
              <a:pathLst>
                <a:path h="1141751" w="2600946">
                  <a:moveTo>
                    <a:pt x="1300473" y="0"/>
                  </a:moveTo>
                  <a:cubicBezTo>
                    <a:pt x="582242" y="0"/>
                    <a:pt x="0" y="255590"/>
                    <a:pt x="0" y="570876"/>
                  </a:cubicBezTo>
                  <a:cubicBezTo>
                    <a:pt x="0" y="886162"/>
                    <a:pt x="582242" y="1141751"/>
                    <a:pt x="1300473" y="1141751"/>
                  </a:cubicBezTo>
                  <a:cubicBezTo>
                    <a:pt x="2018704" y="1141751"/>
                    <a:pt x="2600946" y="886162"/>
                    <a:pt x="2600946" y="570876"/>
                  </a:cubicBezTo>
                  <a:cubicBezTo>
                    <a:pt x="2600946" y="255590"/>
                    <a:pt x="2018704" y="0"/>
                    <a:pt x="1300473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43839" y="49889"/>
              <a:ext cx="2113269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78415" y="6797139"/>
            <a:ext cx="8180885" cy="2509803"/>
            <a:chOff x="0" y="0"/>
            <a:chExt cx="10907847" cy="334640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907847" cy="3346405"/>
              <a:chOff x="0" y="0"/>
              <a:chExt cx="3171975" cy="97312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171975" cy="973126"/>
              </a:xfrm>
              <a:custGeom>
                <a:avLst/>
                <a:gdLst/>
                <a:ahLst/>
                <a:cxnLst/>
                <a:rect r="r" b="b" t="t" l="l"/>
                <a:pathLst>
                  <a:path h="973126" w="3171975">
                    <a:moveTo>
                      <a:pt x="27302" y="0"/>
                    </a:moveTo>
                    <a:lnTo>
                      <a:pt x="3144673" y="0"/>
                    </a:lnTo>
                    <a:cubicBezTo>
                      <a:pt x="3151914" y="0"/>
                      <a:pt x="3158859" y="2876"/>
                      <a:pt x="3163979" y="7997"/>
                    </a:cubicBezTo>
                    <a:cubicBezTo>
                      <a:pt x="3169099" y="13117"/>
                      <a:pt x="3171975" y="20061"/>
                      <a:pt x="3171975" y="27302"/>
                    </a:cubicBezTo>
                    <a:lnTo>
                      <a:pt x="3171975" y="945824"/>
                    </a:lnTo>
                    <a:cubicBezTo>
                      <a:pt x="3171975" y="953065"/>
                      <a:pt x="3169099" y="960010"/>
                      <a:pt x="3163979" y="965130"/>
                    </a:cubicBezTo>
                    <a:cubicBezTo>
                      <a:pt x="3158859" y="970250"/>
                      <a:pt x="3151914" y="973126"/>
                      <a:pt x="3144673" y="973126"/>
                    </a:cubicBezTo>
                    <a:lnTo>
                      <a:pt x="27302" y="973126"/>
                    </a:lnTo>
                    <a:cubicBezTo>
                      <a:pt x="20061" y="973126"/>
                      <a:pt x="13117" y="970250"/>
                      <a:pt x="7997" y="965130"/>
                    </a:cubicBezTo>
                    <a:cubicBezTo>
                      <a:pt x="2876" y="960010"/>
                      <a:pt x="0" y="953065"/>
                      <a:pt x="0" y="945824"/>
                    </a:cubicBezTo>
                    <a:lnTo>
                      <a:pt x="0" y="27302"/>
                    </a:lnTo>
                    <a:cubicBezTo>
                      <a:pt x="0" y="20061"/>
                      <a:pt x="2876" y="13117"/>
                      <a:pt x="7997" y="7997"/>
                    </a:cubicBezTo>
                    <a:cubicBezTo>
                      <a:pt x="13117" y="2876"/>
                      <a:pt x="20061" y="0"/>
                      <a:pt x="27302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3171975" cy="1030276"/>
              </a:xfrm>
              <a:prstGeom prst="rect">
                <a:avLst/>
              </a:prstGeom>
            </p:spPr>
            <p:txBody>
              <a:bodyPr anchor="ctr" rtlCol="false" tIns="34687" lIns="34687" bIns="34687" rIns="34687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486506" y="235810"/>
              <a:ext cx="9934834" cy="2817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1"/>
                </a:lnSpc>
              </a:pPr>
              <a:r>
                <a:rPr lang="en-US" sz="2015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Flujo de Autenticación</a:t>
              </a:r>
            </a:p>
            <a:p>
              <a:pPr algn="l" marL="435086" indent="-217543" lvl="1">
                <a:lnSpc>
                  <a:spcPts val="2821"/>
                </a:lnSpc>
                <a:buFont typeface="Arial"/>
                <a:buChar char="•"/>
              </a:pPr>
              <a:r>
                <a:rPr lang="en-US" sz="201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</a:t>
              </a:r>
              <a:r>
                <a:rPr lang="en-US" sz="201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erificar login para usuarios válidos e inválidos.</a:t>
              </a:r>
            </a:p>
            <a:p>
              <a:pPr algn="l" marL="435086" indent="-217543" lvl="1">
                <a:lnSpc>
                  <a:spcPts val="2821"/>
                </a:lnSpc>
                <a:buFont typeface="Arial"/>
                <a:buChar char="•"/>
              </a:pPr>
              <a:r>
                <a:rPr lang="en-US" sz="201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Usuario admin accede y visualiza menú completo.</a:t>
              </a:r>
            </a:p>
            <a:p>
              <a:pPr algn="l" marL="435086" indent="-217543" lvl="1">
                <a:lnSpc>
                  <a:spcPts val="2821"/>
                </a:lnSpc>
                <a:buFont typeface="Arial"/>
                <a:buChar char="•"/>
              </a:pPr>
              <a:r>
                <a:rPr lang="en-US" sz="201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Usuario inválido recibe mensaje de error y no accede.</a:t>
              </a:r>
            </a:p>
            <a:p>
              <a:pPr algn="l" marL="435086" indent="-217543" lvl="1">
                <a:lnSpc>
                  <a:spcPts val="2821"/>
                </a:lnSpc>
                <a:buFont typeface="Arial"/>
                <a:buChar char="•"/>
              </a:pPr>
              <a:r>
                <a:rPr lang="en-US" sz="201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Evidencias: login vacío, inicio con mensaje “Bienvenido, admin”, mensaje de error.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361430" y="3554064"/>
            <a:ext cx="267694" cy="201105"/>
          </a:xfrm>
          <a:custGeom>
            <a:avLst/>
            <a:gdLst/>
            <a:ahLst/>
            <a:cxnLst/>
            <a:rect r="r" b="b" t="t" l="l"/>
            <a:pathLst>
              <a:path h="201105" w="267694">
                <a:moveTo>
                  <a:pt x="0" y="0"/>
                </a:moveTo>
                <a:lnTo>
                  <a:pt x="267694" y="0"/>
                </a:lnTo>
                <a:lnTo>
                  <a:pt x="267694" y="201105"/>
                </a:lnTo>
                <a:lnTo>
                  <a:pt x="0" y="20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873264" y="1975924"/>
            <a:ext cx="6670087" cy="3890290"/>
            <a:chOff x="0" y="0"/>
            <a:chExt cx="8893450" cy="5187053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769709"/>
              <a:ext cx="8893450" cy="4417344"/>
              <a:chOff x="0" y="0"/>
              <a:chExt cx="4251761" cy="211183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51761" cy="2111834"/>
              </a:xfrm>
              <a:custGeom>
                <a:avLst/>
                <a:gdLst/>
                <a:ahLst/>
                <a:cxnLst/>
                <a:rect r="r" b="b" t="t" l="l"/>
                <a:pathLst>
                  <a:path h="2111834" w="4251761">
                    <a:moveTo>
                      <a:pt x="0" y="0"/>
                    </a:moveTo>
                    <a:lnTo>
                      <a:pt x="4251761" y="0"/>
                    </a:lnTo>
                    <a:lnTo>
                      <a:pt x="4251761" y="2111834"/>
                    </a:lnTo>
                    <a:lnTo>
                      <a:pt x="0" y="211183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4251761" cy="2149934"/>
              </a:xfrm>
              <a:prstGeom prst="rect">
                <a:avLst/>
              </a:prstGeom>
            </p:spPr>
            <p:txBody>
              <a:bodyPr anchor="ctr" rtlCol="false" tIns="20989" lIns="20989" bIns="20989" rIns="20989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332002" y="1119040"/>
              <a:ext cx="8229446" cy="3718681"/>
            </a:xfrm>
            <a:custGeom>
              <a:avLst/>
              <a:gdLst/>
              <a:ahLst/>
              <a:cxnLst/>
              <a:rect r="r" b="b" t="t" l="l"/>
              <a:pathLst>
                <a:path h="3718681" w="8229446">
                  <a:moveTo>
                    <a:pt x="0" y="0"/>
                  </a:moveTo>
                  <a:lnTo>
                    <a:pt x="8229446" y="0"/>
                  </a:lnTo>
                  <a:lnTo>
                    <a:pt x="8229446" y="3718681"/>
                  </a:lnTo>
                  <a:lnTo>
                    <a:pt x="0" y="3718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7190" y="-57150"/>
              <a:ext cx="8876259" cy="7387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62"/>
                </a:lnSpc>
              </a:pPr>
              <a:r>
                <a:rPr lang="en-US" b="true" sz="335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 pantalla de Login.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84795" y="2106465"/>
            <a:ext cx="7968124" cy="4123467"/>
            <a:chOff x="0" y="0"/>
            <a:chExt cx="10624165" cy="549795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644166" y="633890"/>
              <a:ext cx="9335833" cy="4864066"/>
              <a:chOff x="0" y="0"/>
              <a:chExt cx="4251761" cy="221521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251761" cy="2215212"/>
              </a:xfrm>
              <a:custGeom>
                <a:avLst/>
                <a:gdLst/>
                <a:ahLst/>
                <a:cxnLst/>
                <a:rect r="r" b="b" t="t" l="l"/>
                <a:pathLst>
                  <a:path h="2215212" w="4251761">
                    <a:moveTo>
                      <a:pt x="0" y="0"/>
                    </a:moveTo>
                    <a:lnTo>
                      <a:pt x="4251761" y="0"/>
                    </a:lnTo>
                    <a:lnTo>
                      <a:pt x="4251761" y="2215212"/>
                    </a:lnTo>
                    <a:lnTo>
                      <a:pt x="0" y="221521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4251761" cy="2253312"/>
              </a:xfrm>
              <a:prstGeom prst="rect">
                <a:avLst/>
              </a:prstGeom>
            </p:spPr>
            <p:txBody>
              <a:bodyPr anchor="ctr" rtlCol="false" tIns="16258" lIns="16258" bIns="16258" rIns="16258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-47625"/>
              <a:ext cx="10624165" cy="681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01"/>
                </a:lnSpc>
              </a:pPr>
              <a:r>
                <a:rPr lang="en-US" b="true" sz="315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Login mostrando el mensaje de error.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914374" y="1010617"/>
              <a:ext cx="8795417" cy="3963435"/>
            </a:xfrm>
            <a:custGeom>
              <a:avLst/>
              <a:gdLst/>
              <a:ahLst/>
              <a:cxnLst/>
              <a:rect r="r" b="b" t="t" l="l"/>
              <a:pathLst>
                <a:path h="3963435" w="8795417">
                  <a:moveTo>
                    <a:pt x="0" y="0"/>
                  </a:moveTo>
                  <a:lnTo>
                    <a:pt x="8795417" y="0"/>
                  </a:lnTo>
                  <a:lnTo>
                    <a:pt x="8795417" y="3963435"/>
                  </a:lnTo>
                  <a:lnTo>
                    <a:pt x="0" y="3963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4028432" y="333375"/>
            <a:ext cx="10231137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Pruebas de Integración</a:t>
            </a:r>
          </a:p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(Smoke Testing)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873264" y="6099391"/>
            <a:ext cx="6657194" cy="3948814"/>
            <a:chOff x="0" y="0"/>
            <a:chExt cx="8876259" cy="5265085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640461"/>
              <a:ext cx="8876259" cy="4624623"/>
              <a:chOff x="0" y="0"/>
              <a:chExt cx="4251761" cy="2215212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251761" cy="2215212"/>
              </a:xfrm>
              <a:custGeom>
                <a:avLst/>
                <a:gdLst/>
                <a:ahLst/>
                <a:cxnLst/>
                <a:rect r="r" b="b" t="t" l="l"/>
                <a:pathLst>
                  <a:path h="2215212" w="4251761">
                    <a:moveTo>
                      <a:pt x="0" y="0"/>
                    </a:moveTo>
                    <a:lnTo>
                      <a:pt x="4251761" y="0"/>
                    </a:lnTo>
                    <a:lnTo>
                      <a:pt x="4251761" y="2215212"/>
                    </a:lnTo>
                    <a:lnTo>
                      <a:pt x="0" y="221521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4251761" cy="2253312"/>
              </a:xfrm>
              <a:prstGeom prst="rect">
                <a:avLst/>
              </a:prstGeom>
            </p:spPr>
            <p:txBody>
              <a:bodyPr anchor="ctr" rtlCol="false" tIns="32429" lIns="32429" bIns="32429" rIns="3242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162237" y="1004570"/>
              <a:ext cx="8551786" cy="3896407"/>
            </a:xfrm>
            <a:custGeom>
              <a:avLst/>
              <a:gdLst/>
              <a:ahLst/>
              <a:cxnLst/>
              <a:rect r="r" b="b" t="t" l="l"/>
              <a:pathLst>
                <a:path h="3896407" w="8551786">
                  <a:moveTo>
                    <a:pt x="0" y="0"/>
                  </a:moveTo>
                  <a:lnTo>
                    <a:pt x="8551785" y="0"/>
                  </a:lnTo>
                  <a:lnTo>
                    <a:pt x="8551785" y="3896407"/>
                  </a:lnTo>
                  <a:lnTo>
                    <a:pt x="0" y="3896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16528" y="-47625"/>
              <a:ext cx="8859731" cy="7175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89"/>
                </a:lnSpc>
              </a:pPr>
              <a:r>
                <a:rPr lang="en-US" b="true" sz="32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Pantalla de inicio del menú.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99879">
            <a:off x="6440407" y="-1370488"/>
            <a:ext cx="16291319" cy="4335087"/>
            <a:chOff x="0" y="0"/>
            <a:chExt cx="4290718" cy="1141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90718" cy="1141751"/>
            </a:xfrm>
            <a:custGeom>
              <a:avLst/>
              <a:gdLst/>
              <a:ahLst/>
              <a:cxnLst/>
              <a:rect r="r" b="b" t="t" l="l"/>
              <a:pathLst>
                <a:path h="1141751" w="4290718">
                  <a:moveTo>
                    <a:pt x="2145359" y="0"/>
                  </a:moveTo>
                  <a:cubicBezTo>
                    <a:pt x="960510" y="0"/>
                    <a:pt x="0" y="255590"/>
                    <a:pt x="0" y="570876"/>
                  </a:cubicBezTo>
                  <a:cubicBezTo>
                    <a:pt x="0" y="886162"/>
                    <a:pt x="960510" y="1141751"/>
                    <a:pt x="2145359" y="1141751"/>
                  </a:cubicBezTo>
                  <a:cubicBezTo>
                    <a:pt x="3330208" y="1141751"/>
                    <a:pt x="4290718" y="886162"/>
                    <a:pt x="4290718" y="570876"/>
                  </a:cubicBezTo>
                  <a:cubicBezTo>
                    <a:pt x="4290718" y="255590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402255" y="49889"/>
              <a:ext cx="3486208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9672369">
            <a:off x="-4118858" y="-1813665"/>
            <a:ext cx="16291319" cy="4798912"/>
            <a:chOff x="0" y="0"/>
            <a:chExt cx="4290718" cy="12639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90718" cy="1263911"/>
            </a:xfrm>
            <a:custGeom>
              <a:avLst/>
              <a:gdLst/>
              <a:ahLst/>
              <a:cxnLst/>
              <a:rect r="r" b="b" t="t" l="l"/>
              <a:pathLst>
                <a:path h="1263911" w="4290718">
                  <a:moveTo>
                    <a:pt x="2145359" y="0"/>
                  </a:moveTo>
                  <a:cubicBezTo>
                    <a:pt x="960510" y="0"/>
                    <a:pt x="0" y="282936"/>
                    <a:pt x="0" y="631956"/>
                  </a:cubicBezTo>
                  <a:cubicBezTo>
                    <a:pt x="0" y="980975"/>
                    <a:pt x="960510" y="1263911"/>
                    <a:pt x="2145359" y="1263911"/>
                  </a:cubicBezTo>
                  <a:cubicBezTo>
                    <a:pt x="3330208" y="1263911"/>
                    <a:pt x="4290718" y="980975"/>
                    <a:pt x="4290718" y="631956"/>
                  </a:cubicBezTo>
                  <a:cubicBezTo>
                    <a:pt x="4290718" y="282936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402255" y="61342"/>
              <a:ext cx="3486208" cy="1084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356882" y="1028700"/>
            <a:ext cx="5574236" cy="4114800"/>
          </a:xfrm>
          <a:custGeom>
            <a:avLst/>
            <a:gdLst/>
            <a:ahLst/>
            <a:cxnLst/>
            <a:rect r="r" b="b" t="t" l="l"/>
            <a:pathLst>
              <a:path h="4114800" w="5574236">
                <a:moveTo>
                  <a:pt x="0" y="0"/>
                </a:moveTo>
                <a:lnTo>
                  <a:pt x="5574236" y="0"/>
                </a:lnTo>
                <a:lnTo>
                  <a:pt x="55742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51888" y="5681582"/>
            <a:ext cx="16984225" cy="1440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29"/>
              </a:lnSpc>
              <a:spcBef>
                <a:spcPct val="0"/>
              </a:spcBef>
            </a:pPr>
            <a:r>
              <a:rPr lang="en-US" sz="108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Pruebas No Funcionales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121504">
            <a:off x="-4231754" y="-3645983"/>
            <a:ext cx="10520908" cy="5229784"/>
            <a:chOff x="0" y="0"/>
            <a:chExt cx="2296894" cy="1141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6894" cy="1141751"/>
            </a:xfrm>
            <a:custGeom>
              <a:avLst/>
              <a:gdLst/>
              <a:ahLst/>
              <a:cxnLst/>
              <a:rect r="r" b="b" t="t" l="l"/>
              <a:pathLst>
                <a:path h="1141751" w="2296894">
                  <a:moveTo>
                    <a:pt x="1148447" y="0"/>
                  </a:moveTo>
                  <a:cubicBezTo>
                    <a:pt x="514177" y="0"/>
                    <a:pt x="0" y="255590"/>
                    <a:pt x="0" y="570876"/>
                  </a:cubicBezTo>
                  <a:cubicBezTo>
                    <a:pt x="0" y="886162"/>
                    <a:pt x="514177" y="1141751"/>
                    <a:pt x="1148447" y="1141751"/>
                  </a:cubicBezTo>
                  <a:cubicBezTo>
                    <a:pt x="1782717" y="1141751"/>
                    <a:pt x="2296894" y="886162"/>
                    <a:pt x="2296894" y="570876"/>
                  </a:cubicBezTo>
                  <a:cubicBezTo>
                    <a:pt x="2296894" y="255590"/>
                    <a:pt x="1782717" y="0"/>
                    <a:pt x="1148447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15334" y="49889"/>
              <a:ext cx="1866226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829832">
            <a:off x="12321567" y="8433725"/>
            <a:ext cx="9875467" cy="4335087"/>
            <a:chOff x="0" y="0"/>
            <a:chExt cx="2600946" cy="11417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00946" cy="1141751"/>
            </a:xfrm>
            <a:custGeom>
              <a:avLst/>
              <a:gdLst/>
              <a:ahLst/>
              <a:cxnLst/>
              <a:rect r="r" b="b" t="t" l="l"/>
              <a:pathLst>
                <a:path h="1141751" w="2600946">
                  <a:moveTo>
                    <a:pt x="1300473" y="0"/>
                  </a:moveTo>
                  <a:cubicBezTo>
                    <a:pt x="582242" y="0"/>
                    <a:pt x="0" y="255590"/>
                    <a:pt x="0" y="570876"/>
                  </a:cubicBezTo>
                  <a:cubicBezTo>
                    <a:pt x="0" y="886162"/>
                    <a:pt x="582242" y="1141751"/>
                    <a:pt x="1300473" y="1141751"/>
                  </a:cubicBezTo>
                  <a:cubicBezTo>
                    <a:pt x="2018704" y="1141751"/>
                    <a:pt x="2600946" y="886162"/>
                    <a:pt x="2600946" y="570876"/>
                  </a:cubicBezTo>
                  <a:cubicBezTo>
                    <a:pt x="2600946" y="255590"/>
                    <a:pt x="2018704" y="0"/>
                    <a:pt x="1300473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43839" y="49889"/>
              <a:ext cx="2113269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00624" y="2802658"/>
            <a:ext cx="10049184" cy="5326675"/>
            <a:chOff x="0" y="0"/>
            <a:chExt cx="13398912" cy="710223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3398912" cy="7102233"/>
              <a:chOff x="0" y="0"/>
              <a:chExt cx="2810307" cy="148963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810307" cy="1489632"/>
              </a:xfrm>
              <a:custGeom>
                <a:avLst/>
                <a:gdLst/>
                <a:ahLst/>
                <a:cxnLst/>
                <a:rect r="r" b="b" t="t" l="l"/>
                <a:pathLst>
                  <a:path h="1489632" w="2810307">
                    <a:moveTo>
                      <a:pt x="32863" y="0"/>
                    </a:moveTo>
                    <a:lnTo>
                      <a:pt x="2777443" y="0"/>
                    </a:lnTo>
                    <a:cubicBezTo>
                      <a:pt x="2795593" y="0"/>
                      <a:pt x="2810307" y="14713"/>
                      <a:pt x="2810307" y="32863"/>
                    </a:cubicBezTo>
                    <a:lnTo>
                      <a:pt x="2810307" y="1456769"/>
                    </a:lnTo>
                    <a:cubicBezTo>
                      <a:pt x="2810307" y="1474919"/>
                      <a:pt x="2795593" y="1489632"/>
                      <a:pt x="2777443" y="1489632"/>
                    </a:cubicBezTo>
                    <a:lnTo>
                      <a:pt x="32863" y="1489632"/>
                    </a:lnTo>
                    <a:cubicBezTo>
                      <a:pt x="14713" y="1489632"/>
                      <a:pt x="0" y="1474919"/>
                      <a:pt x="0" y="1456769"/>
                    </a:cubicBezTo>
                    <a:lnTo>
                      <a:pt x="0" y="32863"/>
                    </a:lnTo>
                    <a:cubicBezTo>
                      <a:pt x="0" y="14713"/>
                      <a:pt x="14713" y="0"/>
                      <a:pt x="32863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2810307" cy="1546782"/>
              </a:xfrm>
              <a:prstGeom prst="rect">
                <a:avLst/>
              </a:prstGeom>
            </p:spPr>
            <p:txBody>
              <a:bodyPr anchor="ctr" rtlCol="false" tIns="32525" lIns="32525" bIns="32525" rIns="32525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90707" y="591295"/>
              <a:ext cx="12317062" cy="5743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64"/>
                </a:lnSpc>
              </a:pPr>
              <a:r>
                <a:rPr lang="en-US" sz="226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Objetivo:</a:t>
              </a:r>
              <a:r>
                <a:rPr lang="en-US" sz="226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l">
                <a:lnSpc>
                  <a:spcPts val="3164"/>
                </a:lnSpc>
              </a:pPr>
              <a:r>
                <a:rPr lang="en-US" sz="226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Validar que las vistas críticas respondan rápido y sin errores bajo carga ligera.</a:t>
              </a:r>
            </a:p>
            <a:p>
              <a:pPr algn="l">
                <a:lnSpc>
                  <a:spcPts val="3164"/>
                </a:lnSpc>
              </a:pPr>
              <a:r>
                <a:rPr lang="en-US" sz="226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Procedimiento:</a:t>
              </a:r>
            </a:p>
            <a:p>
              <a:pPr algn="l">
                <a:lnSpc>
                  <a:spcPts val="3164"/>
                </a:lnSpc>
              </a:pPr>
              <a:r>
                <a:rPr lang="en-US" sz="226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  <a:r>
                <a:rPr lang="en-US" sz="226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Simulación con k6 de 10 usuarios concurrentes durante 1 minuto sobre las URLs /login/, /, /ots/ y /reportes/.</a:t>
              </a:r>
            </a:p>
            <a:p>
              <a:pPr algn="l">
                <a:lnSpc>
                  <a:spcPts val="3164"/>
                </a:lnSpc>
              </a:pPr>
              <a:r>
                <a:rPr lang="en-US" sz="226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Resultado:</a:t>
              </a:r>
            </a:p>
            <a:p>
              <a:pPr algn="l" marL="487994" indent="-243997" lvl="1">
                <a:lnSpc>
                  <a:spcPts val="3164"/>
                </a:lnSpc>
                <a:buFont typeface="Arial"/>
                <a:buChar char="•"/>
              </a:pPr>
              <a:r>
                <a:rPr lang="en-US" sz="226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4.025 solicitudes HTTP, 0,00% de errores.</a:t>
              </a:r>
            </a:p>
            <a:p>
              <a:pPr algn="l" marL="487994" indent="-243997" lvl="1">
                <a:lnSpc>
                  <a:spcPts val="3164"/>
                </a:lnSpc>
                <a:buFont typeface="Arial"/>
                <a:buChar char="•"/>
              </a:pPr>
              <a:r>
                <a:rPr lang="en-US" sz="226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Tiempo de respuesta promedio: 6,57 ms, p95: 22,35 ms (&lt; 2.000 ms).</a:t>
              </a:r>
            </a:p>
            <a:p>
              <a:pPr algn="l" marL="487994" indent="-243997" lvl="1">
                <a:lnSpc>
                  <a:spcPts val="3164"/>
                </a:lnSpc>
                <a:buFont typeface="Arial"/>
                <a:buChar char="•"/>
              </a:pPr>
              <a:r>
                <a:rPr lang="en-US" sz="226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Todas las vistas respondieron con códigos 200/302.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600624" y="1615375"/>
            <a:ext cx="933323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Pruebas de Rendimiento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90230" y="1778971"/>
            <a:ext cx="6730931" cy="7988129"/>
            <a:chOff x="0" y="0"/>
            <a:chExt cx="8974575" cy="106508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7719260" y="1616290"/>
              <a:ext cx="455295" cy="342041"/>
            </a:xfrm>
            <a:custGeom>
              <a:avLst/>
              <a:gdLst/>
              <a:ahLst/>
              <a:cxnLst/>
              <a:rect r="r" b="b" t="t" l="l"/>
              <a:pathLst>
                <a:path h="342041" w="455295">
                  <a:moveTo>
                    <a:pt x="0" y="0"/>
                  </a:moveTo>
                  <a:lnTo>
                    <a:pt x="455295" y="0"/>
                  </a:lnTo>
                  <a:lnTo>
                    <a:pt x="455295" y="342041"/>
                  </a:lnTo>
                  <a:lnTo>
                    <a:pt x="0" y="342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7719260" y="3313250"/>
              <a:ext cx="455295" cy="342041"/>
            </a:xfrm>
            <a:custGeom>
              <a:avLst/>
              <a:gdLst/>
              <a:ahLst/>
              <a:cxnLst/>
              <a:rect r="r" b="b" t="t" l="l"/>
              <a:pathLst>
                <a:path h="342041" w="455295">
                  <a:moveTo>
                    <a:pt x="0" y="0"/>
                  </a:moveTo>
                  <a:lnTo>
                    <a:pt x="455295" y="0"/>
                  </a:lnTo>
                  <a:lnTo>
                    <a:pt x="455295" y="342040"/>
                  </a:lnTo>
                  <a:lnTo>
                    <a:pt x="0" y="342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7" id="17"/>
            <p:cNvGrpSpPr/>
            <p:nvPr/>
          </p:nvGrpSpPr>
          <p:grpSpPr>
            <a:xfrm rot="0">
              <a:off x="0" y="1357401"/>
              <a:ext cx="8974575" cy="4846242"/>
              <a:chOff x="0" y="0"/>
              <a:chExt cx="4342295" cy="234482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342295" cy="2344825"/>
              </a:xfrm>
              <a:custGeom>
                <a:avLst/>
                <a:gdLst/>
                <a:ahLst/>
                <a:cxnLst/>
                <a:rect r="r" b="b" t="t" l="l"/>
                <a:pathLst>
                  <a:path h="2344825" w="4342295">
                    <a:moveTo>
                      <a:pt x="0" y="0"/>
                    </a:moveTo>
                    <a:lnTo>
                      <a:pt x="4342295" y="0"/>
                    </a:lnTo>
                    <a:lnTo>
                      <a:pt x="4342295" y="2344825"/>
                    </a:lnTo>
                    <a:lnTo>
                      <a:pt x="0" y="234482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4342295" cy="2382926"/>
              </a:xfrm>
              <a:prstGeom prst="rect">
                <a:avLst/>
              </a:prstGeom>
            </p:spPr>
            <p:txBody>
              <a:bodyPr anchor="ctr" rtlCol="false" tIns="17586" lIns="17586" bIns="17586" rIns="1758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795162" y="1560632"/>
              <a:ext cx="7384250" cy="4439780"/>
            </a:xfrm>
            <a:custGeom>
              <a:avLst/>
              <a:gdLst/>
              <a:ahLst/>
              <a:cxnLst/>
              <a:rect r="r" b="b" t="t" l="l"/>
              <a:pathLst>
                <a:path h="4439780" w="7384250">
                  <a:moveTo>
                    <a:pt x="0" y="0"/>
                  </a:moveTo>
                  <a:lnTo>
                    <a:pt x="7384251" y="0"/>
                  </a:lnTo>
                  <a:lnTo>
                    <a:pt x="7384251" y="4439780"/>
                  </a:lnTo>
                  <a:lnTo>
                    <a:pt x="0" y="4439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0" y="-57150"/>
              <a:ext cx="8974575" cy="14145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2"/>
                </a:lnSpc>
              </a:pPr>
              <a:r>
                <a:rPr lang="en-US" b="true" sz="334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Carga ligera sobre páginas principales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7720462" y="6462284"/>
              <a:ext cx="454859" cy="341713"/>
            </a:xfrm>
            <a:custGeom>
              <a:avLst/>
              <a:gdLst/>
              <a:ahLst/>
              <a:cxnLst/>
              <a:rect r="r" b="b" t="t" l="l"/>
              <a:pathLst>
                <a:path h="341713" w="454859">
                  <a:moveTo>
                    <a:pt x="0" y="0"/>
                  </a:moveTo>
                  <a:lnTo>
                    <a:pt x="454859" y="0"/>
                  </a:lnTo>
                  <a:lnTo>
                    <a:pt x="454859" y="341713"/>
                  </a:lnTo>
                  <a:lnTo>
                    <a:pt x="0" y="341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7720462" y="8077115"/>
              <a:ext cx="454859" cy="341713"/>
            </a:xfrm>
            <a:custGeom>
              <a:avLst/>
              <a:gdLst/>
              <a:ahLst/>
              <a:cxnLst/>
              <a:rect r="r" b="b" t="t" l="l"/>
              <a:pathLst>
                <a:path h="341713" w="454859">
                  <a:moveTo>
                    <a:pt x="0" y="0"/>
                  </a:moveTo>
                  <a:lnTo>
                    <a:pt x="454859" y="0"/>
                  </a:lnTo>
                  <a:lnTo>
                    <a:pt x="454859" y="341713"/>
                  </a:lnTo>
                  <a:lnTo>
                    <a:pt x="0" y="341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4" id="24"/>
            <p:cNvGrpSpPr/>
            <p:nvPr/>
          </p:nvGrpSpPr>
          <p:grpSpPr>
            <a:xfrm rot="0">
              <a:off x="8596" y="6123139"/>
              <a:ext cx="8965979" cy="4527700"/>
              <a:chOff x="0" y="0"/>
              <a:chExt cx="4342295" cy="219280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342295" cy="2192801"/>
              </a:xfrm>
              <a:custGeom>
                <a:avLst/>
                <a:gdLst/>
                <a:ahLst/>
                <a:cxnLst/>
                <a:rect r="r" b="b" t="t" l="l"/>
                <a:pathLst>
                  <a:path h="2192801" w="4342295">
                    <a:moveTo>
                      <a:pt x="0" y="0"/>
                    </a:moveTo>
                    <a:lnTo>
                      <a:pt x="4342295" y="0"/>
                    </a:lnTo>
                    <a:lnTo>
                      <a:pt x="4342295" y="2192801"/>
                    </a:lnTo>
                    <a:lnTo>
                      <a:pt x="0" y="219280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4342295" cy="2230901"/>
              </a:xfrm>
              <a:prstGeom prst="rect">
                <a:avLst/>
              </a:prstGeom>
            </p:spPr>
            <p:txBody>
              <a:bodyPr anchor="ctr" rtlCol="false" tIns="17569" lIns="17569" bIns="17569" rIns="1756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7" id="27"/>
            <p:cNvSpPr/>
            <p:nvPr/>
          </p:nvSpPr>
          <p:spPr>
            <a:xfrm flipH="false" flipV="false" rot="0">
              <a:off x="251905" y="6631593"/>
              <a:ext cx="8479361" cy="3232756"/>
            </a:xfrm>
            <a:custGeom>
              <a:avLst/>
              <a:gdLst/>
              <a:ahLst/>
              <a:cxnLst/>
              <a:rect r="r" b="b" t="t" l="l"/>
              <a:pathLst>
                <a:path h="3232756" w="8479361">
                  <a:moveTo>
                    <a:pt x="0" y="0"/>
                  </a:moveTo>
                  <a:lnTo>
                    <a:pt x="8479361" y="0"/>
                  </a:lnTo>
                  <a:lnTo>
                    <a:pt x="8479361" y="3232756"/>
                  </a:lnTo>
                  <a:lnTo>
                    <a:pt x="0" y="3232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121504">
            <a:off x="-4231754" y="-3645983"/>
            <a:ext cx="10520908" cy="5229784"/>
            <a:chOff x="0" y="0"/>
            <a:chExt cx="2296894" cy="1141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6894" cy="1141751"/>
            </a:xfrm>
            <a:custGeom>
              <a:avLst/>
              <a:gdLst/>
              <a:ahLst/>
              <a:cxnLst/>
              <a:rect r="r" b="b" t="t" l="l"/>
              <a:pathLst>
                <a:path h="1141751" w="2296894">
                  <a:moveTo>
                    <a:pt x="1148447" y="0"/>
                  </a:moveTo>
                  <a:cubicBezTo>
                    <a:pt x="514177" y="0"/>
                    <a:pt x="0" y="255590"/>
                    <a:pt x="0" y="570876"/>
                  </a:cubicBezTo>
                  <a:cubicBezTo>
                    <a:pt x="0" y="886162"/>
                    <a:pt x="514177" y="1141751"/>
                    <a:pt x="1148447" y="1141751"/>
                  </a:cubicBezTo>
                  <a:cubicBezTo>
                    <a:pt x="1782717" y="1141751"/>
                    <a:pt x="2296894" y="886162"/>
                    <a:pt x="2296894" y="570876"/>
                  </a:cubicBezTo>
                  <a:cubicBezTo>
                    <a:pt x="2296894" y="255590"/>
                    <a:pt x="1782717" y="0"/>
                    <a:pt x="1148447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15334" y="49889"/>
              <a:ext cx="1866226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829832">
            <a:off x="12321567" y="8433725"/>
            <a:ext cx="9875467" cy="4335087"/>
            <a:chOff x="0" y="0"/>
            <a:chExt cx="2600946" cy="11417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00946" cy="1141751"/>
            </a:xfrm>
            <a:custGeom>
              <a:avLst/>
              <a:gdLst/>
              <a:ahLst/>
              <a:cxnLst/>
              <a:rect r="r" b="b" t="t" l="l"/>
              <a:pathLst>
                <a:path h="1141751" w="2600946">
                  <a:moveTo>
                    <a:pt x="1300473" y="0"/>
                  </a:moveTo>
                  <a:cubicBezTo>
                    <a:pt x="582242" y="0"/>
                    <a:pt x="0" y="255590"/>
                    <a:pt x="0" y="570876"/>
                  </a:cubicBezTo>
                  <a:cubicBezTo>
                    <a:pt x="0" y="886162"/>
                    <a:pt x="582242" y="1141751"/>
                    <a:pt x="1300473" y="1141751"/>
                  </a:cubicBezTo>
                  <a:cubicBezTo>
                    <a:pt x="2018704" y="1141751"/>
                    <a:pt x="2600946" y="886162"/>
                    <a:pt x="2600946" y="570876"/>
                  </a:cubicBezTo>
                  <a:cubicBezTo>
                    <a:pt x="2600946" y="255590"/>
                    <a:pt x="2018704" y="0"/>
                    <a:pt x="1300473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43839" y="49889"/>
              <a:ext cx="2113269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89055" y="2773192"/>
            <a:ext cx="8296800" cy="4485748"/>
            <a:chOff x="0" y="0"/>
            <a:chExt cx="11062399" cy="5980998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1062399" cy="5980998"/>
              <a:chOff x="0" y="0"/>
              <a:chExt cx="1527248" cy="82572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527248" cy="825722"/>
              </a:xfrm>
              <a:custGeom>
                <a:avLst/>
                <a:gdLst/>
                <a:ahLst/>
                <a:cxnLst/>
                <a:rect r="r" b="b" t="t" l="l"/>
                <a:pathLst>
                  <a:path h="825722" w="1527248">
                    <a:moveTo>
                      <a:pt x="27061" y="0"/>
                    </a:moveTo>
                    <a:lnTo>
                      <a:pt x="1500187" y="0"/>
                    </a:lnTo>
                    <a:cubicBezTo>
                      <a:pt x="1507364" y="0"/>
                      <a:pt x="1514247" y="2851"/>
                      <a:pt x="1519322" y="7926"/>
                    </a:cubicBezTo>
                    <a:cubicBezTo>
                      <a:pt x="1524397" y="13001"/>
                      <a:pt x="1527248" y="19884"/>
                      <a:pt x="1527248" y="27061"/>
                    </a:cubicBezTo>
                    <a:lnTo>
                      <a:pt x="1527248" y="798661"/>
                    </a:lnTo>
                    <a:cubicBezTo>
                      <a:pt x="1527248" y="805838"/>
                      <a:pt x="1524397" y="812721"/>
                      <a:pt x="1519322" y="817796"/>
                    </a:cubicBezTo>
                    <a:cubicBezTo>
                      <a:pt x="1514247" y="822871"/>
                      <a:pt x="1507364" y="825722"/>
                      <a:pt x="1500187" y="825722"/>
                    </a:cubicBezTo>
                    <a:lnTo>
                      <a:pt x="27061" y="825722"/>
                    </a:lnTo>
                    <a:cubicBezTo>
                      <a:pt x="19884" y="825722"/>
                      <a:pt x="13001" y="822871"/>
                      <a:pt x="7926" y="817796"/>
                    </a:cubicBezTo>
                    <a:cubicBezTo>
                      <a:pt x="2851" y="812721"/>
                      <a:pt x="0" y="805838"/>
                      <a:pt x="0" y="798661"/>
                    </a:cubicBezTo>
                    <a:lnTo>
                      <a:pt x="0" y="27061"/>
                    </a:lnTo>
                    <a:cubicBezTo>
                      <a:pt x="0" y="19884"/>
                      <a:pt x="2851" y="13001"/>
                      <a:pt x="7926" y="7926"/>
                    </a:cubicBezTo>
                    <a:cubicBezTo>
                      <a:pt x="13001" y="2851"/>
                      <a:pt x="19884" y="0"/>
                      <a:pt x="27061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1527248" cy="882872"/>
              </a:xfrm>
              <a:prstGeom prst="rect">
                <a:avLst/>
              </a:prstGeom>
            </p:spPr>
            <p:txBody>
              <a:bodyPr anchor="ctr" rtlCol="false" tIns="72684" lIns="72684" bIns="72684" rIns="72684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11474" y="258881"/>
              <a:ext cx="10439451" cy="54251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3"/>
                </a:lnSpc>
              </a:pPr>
              <a:r>
                <a:rPr lang="en-US" sz="1481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Objetivo:</a:t>
              </a:r>
            </a:p>
            <a:p>
              <a:pPr algn="l" marL="319748" indent="-159874" lvl="1">
                <a:lnSpc>
                  <a:spcPts val="2073"/>
                </a:lnSpc>
                <a:buFont typeface="Arial"/>
                <a:buChar char="•"/>
              </a:pPr>
              <a:r>
                <a:rPr lang="en-US" sz="148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Evaluar vulnerabilidades comunes en la plataforma usando OWASP ZAP.</a:t>
              </a:r>
            </a:p>
            <a:p>
              <a:pPr algn="l">
                <a:lnSpc>
                  <a:spcPts val="2073"/>
                </a:lnSpc>
              </a:pPr>
              <a:r>
                <a:rPr lang="en-US" sz="1481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Procedimiento:</a:t>
              </a:r>
            </a:p>
            <a:p>
              <a:pPr algn="l" marL="319748" indent="-159874" lvl="1">
                <a:lnSpc>
                  <a:spcPts val="2073"/>
                </a:lnSpc>
                <a:buFont typeface="Arial"/>
                <a:buChar char="•"/>
              </a:pPr>
              <a:r>
                <a:rPr lang="en-US" sz="148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Ejecutar Django local en http://127.0.0.1:8000/.</a:t>
              </a:r>
            </a:p>
            <a:p>
              <a:pPr algn="l" marL="319748" indent="-159874" lvl="1">
                <a:lnSpc>
                  <a:spcPts val="2073"/>
                </a:lnSpc>
                <a:buFont typeface="Arial"/>
                <a:buChar char="•"/>
              </a:pPr>
              <a:r>
                <a:rPr lang="en-US" sz="148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Usar Automated Scan en OWASP ZAP: Spider + Active Scan (XSS, CSRF, inyección, cabeceras).</a:t>
              </a:r>
            </a:p>
            <a:p>
              <a:pPr algn="l">
                <a:lnSpc>
                  <a:spcPts val="2073"/>
                </a:lnSpc>
              </a:pPr>
              <a:r>
                <a:rPr lang="en-US" sz="1481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Resultados:</a:t>
              </a:r>
            </a:p>
            <a:p>
              <a:pPr algn="l" marL="319748" indent="-159874" lvl="1">
                <a:lnSpc>
                  <a:spcPts val="2073"/>
                </a:lnSpc>
                <a:buFont typeface="Arial"/>
                <a:buChar char="•"/>
              </a:pPr>
              <a:r>
                <a:rPr lang="en-US" sz="148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Vulnerabilidades detectadas:</a:t>
              </a:r>
            </a:p>
            <a:p>
              <a:pPr algn="l" marL="639497" indent="-213166" lvl="2">
                <a:lnSpc>
                  <a:spcPts val="2073"/>
                </a:lnSpc>
                <a:buFont typeface="Arial"/>
                <a:buChar char="⚬"/>
              </a:pPr>
              <a:r>
                <a:rPr lang="en-US" sz="148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Cabeceras de seguridad no configuradas (X-Frame-Options, X-Content-Type-Options, CSP).</a:t>
              </a:r>
            </a:p>
            <a:p>
              <a:pPr algn="l" marL="639497" indent="-213166" lvl="2">
                <a:lnSpc>
                  <a:spcPts val="2073"/>
                </a:lnSpc>
                <a:buFont typeface="Arial"/>
                <a:buChar char="⚬"/>
              </a:pPr>
              <a:r>
                <a:rPr lang="en-US" sz="148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Cookies sin atributos de seguridad (Secure, HttpOnly).</a:t>
              </a:r>
            </a:p>
            <a:p>
              <a:pPr algn="l" marL="639497" indent="-213166" lvl="2">
                <a:lnSpc>
                  <a:spcPts val="2073"/>
                </a:lnSpc>
                <a:buFont typeface="Arial"/>
                <a:buChar char="⚬"/>
              </a:pPr>
              <a:r>
                <a:rPr lang="en-US" sz="148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Avisos informativos sobre comportamiento de la app.</a:t>
              </a:r>
            </a:p>
            <a:p>
              <a:pPr algn="l">
                <a:lnSpc>
                  <a:spcPts val="2073"/>
                </a:lnSpc>
              </a:pPr>
              <a:r>
                <a:rPr lang="en-US" sz="1481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 se detectaron vulnerabilidades críticas: </a:t>
              </a:r>
            </a:p>
            <a:p>
              <a:pPr algn="l" marL="319748" indent="-159874" lvl="1">
                <a:lnSpc>
                  <a:spcPts val="2073"/>
                </a:lnSpc>
                <a:buFont typeface="Arial"/>
                <a:buChar char="•"/>
              </a:pPr>
              <a:r>
                <a:rPr lang="en-US" sz="148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48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nyección SQL, XSS explotable, acceso no autorizado, fallas de autenticación o escalada de privilegios.</a:t>
              </a:r>
            </a:p>
            <a:p>
              <a:pPr algn="l">
                <a:lnSpc>
                  <a:spcPts val="2073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215792" y="5261683"/>
            <a:ext cx="383992" cy="288474"/>
          </a:xfrm>
          <a:custGeom>
            <a:avLst/>
            <a:gdLst/>
            <a:ahLst/>
            <a:cxnLst/>
            <a:rect r="r" b="b" t="t" l="l"/>
            <a:pathLst>
              <a:path h="288474" w="383992">
                <a:moveTo>
                  <a:pt x="0" y="0"/>
                </a:moveTo>
                <a:lnTo>
                  <a:pt x="383991" y="0"/>
                </a:lnTo>
                <a:lnTo>
                  <a:pt x="383991" y="288474"/>
                </a:lnTo>
                <a:lnTo>
                  <a:pt x="0" y="288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215792" y="6692884"/>
            <a:ext cx="383992" cy="288474"/>
          </a:xfrm>
          <a:custGeom>
            <a:avLst/>
            <a:gdLst/>
            <a:ahLst/>
            <a:cxnLst/>
            <a:rect r="r" b="b" t="t" l="l"/>
            <a:pathLst>
              <a:path h="288474" w="383992">
                <a:moveTo>
                  <a:pt x="0" y="0"/>
                </a:moveTo>
                <a:lnTo>
                  <a:pt x="383991" y="0"/>
                </a:lnTo>
                <a:lnTo>
                  <a:pt x="383991" y="288474"/>
                </a:lnTo>
                <a:lnTo>
                  <a:pt x="0" y="288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550645" y="3889669"/>
            <a:ext cx="8969529" cy="5606429"/>
            <a:chOff x="0" y="0"/>
            <a:chExt cx="11959372" cy="747523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1012461"/>
              <a:ext cx="11959372" cy="6462778"/>
              <a:chOff x="0" y="0"/>
              <a:chExt cx="5145721" cy="278071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145721" cy="2780719"/>
              </a:xfrm>
              <a:custGeom>
                <a:avLst/>
                <a:gdLst/>
                <a:ahLst/>
                <a:cxnLst/>
                <a:rect r="r" b="b" t="t" l="l"/>
                <a:pathLst>
                  <a:path h="2780719" w="5145721">
                    <a:moveTo>
                      <a:pt x="0" y="0"/>
                    </a:moveTo>
                    <a:lnTo>
                      <a:pt x="5145721" y="0"/>
                    </a:lnTo>
                    <a:lnTo>
                      <a:pt x="5145721" y="2780719"/>
                    </a:lnTo>
                    <a:lnTo>
                      <a:pt x="0" y="278071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5145721" cy="2818819"/>
              </a:xfrm>
              <a:prstGeom prst="rect">
                <a:avLst/>
              </a:prstGeom>
            </p:spPr>
            <p:txBody>
              <a:bodyPr anchor="ctr" rtlCol="false" tIns="23322" lIns="23322" bIns="23322" rIns="2332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430441" y="1302750"/>
              <a:ext cx="11098491" cy="5882200"/>
            </a:xfrm>
            <a:custGeom>
              <a:avLst/>
              <a:gdLst/>
              <a:ahLst/>
              <a:cxnLst/>
              <a:rect r="r" b="b" t="t" l="l"/>
              <a:pathLst>
                <a:path h="5882200" w="11098491">
                  <a:moveTo>
                    <a:pt x="0" y="0"/>
                  </a:moveTo>
                  <a:lnTo>
                    <a:pt x="11098491" y="0"/>
                  </a:lnTo>
                  <a:lnTo>
                    <a:pt x="11098491" y="5882200"/>
                  </a:lnTo>
                  <a:lnTo>
                    <a:pt x="0" y="588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0" y="-57150"/>
              <a:ext cx="11959372" cy="798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81"/>
                </a:lnSpc>
              </a:pPr>
              <a:r>
                <a:rPr lang="en-US" b="true" sz="3764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Lista de Alertas generadas por ZAP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582304" y="686912"/>
            <a:ext cx="9123392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Pruebas de seguridad</a:t>
            </a:r>
          </a:p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(Automatizada) 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121504">
            <a:off x="-4231754" y="-3645983"/>
            <a:ext cx="10520908" cy="5229784"/>
            <a:chOff x="0" y="0"/>
            <a:chExt cx="2296894" cy="1141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6894" cy="1141751"/>
            </a:xfrm>
            <a:custGeom>
              <a:avLst/>
              <a:gdLst/>
              <a:ahLst/>
              <a:cxnLst/>
              <a:rect r="r" b="b" t="t" l="l"/>
              <a:pathLst>
                <a:path h="1141751" w="2296894">
                  <a:moveTo>
                    <a:pt x="1148447" y="0"/>
                  </a:moveTo>
                  <a:cubicBezTo>
                    <a:pt x="514177" y="0"/>
                    <a:pt x="0" y="255590"/>
                    <a:pt x="0" y="570876"/>
                  </a:cubicBezTo>
                  <a:cubicBezTo>
                    <a:pt x="0" y="886162"/>
                    <a:pt x="514177" y="1141751"/>
                    <a:pt x="1148447" y="1141751"/>
                  </a:cubicBezTo>
                  <a:cubicBezTo>
                    <a:pt x="1782717" y="1141751"/>
                    <a:pt x="2296894" y="886162"/>
                    <a:pt x="2296894" y="570876"/>
                  </a:cubicBezTo>
                  <a:cubicBezTo>
                    <a:pt x="2296894" y="255590"/>
                    <a:pt x="1782717" y="0"/>
                    <a:pt x="1148447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15334" y="49889"/>
              <a:ext cx="1866226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829832">
            <a:off x="12321567" y="8433725"/>
            <a:ext cx="9875467" cy="4335087"/>
            <a:chOff x="0" y="0"/>
            <a:chExt cx="2600946" cy="11417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00946" cy="1141751"/>
            </a:xfrm>
            <a:custGeom>
              <a:avLst/>
              <a:gdLst/>
              <a:ahLst/>
              <a:cxnLst/>
              <a:rect r="r" b="b" t="t" l="l"/>
              <a:pathLst>
                <a:path h="1141751" w="2600946">
                  <a:moveTo>
                    <a:pt x="1300473" y="0"/>
                  </a:moveTo>
                  <a:cubicBezTo>
                    <a:pt x="582242" y="0"/>
                    <a:pt x="0" y="255590"/>
                    <a:pt x="0" y="570876"/>
                  </a:cubicBezTo>
                  <a:cubicBezTo>
                    <a:pt x="0" y="886162"/>
                    <a:pt x="582242" y="1141751"/>
                    <a:pt x="1300473" y="1141751"/>
                  </a:cubicBezTo>
                  <a:cubicBezTo>
                    <a:pt x="2018704" y="1141751"/>
                    <a:pt x="2600946" y="886162"/>
                    <a:pt x="2600946" y="570876"/>
                  </a:cubicBezTo>
                  <a:cubicBezTo>
                    <a:pt x="2600946" y="255590"/>
                    <a:pt x="2018704" y="0"/>
                    <a:pt x="1300473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43839" y="49889"/>
              <a:ext cx="2113269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29047" y="2832692"/>
            <a:ext cx="10099955" cy="4621617"/>
            <a:chOff x="0" y="0"/>
            <a:chExt cx="13466606" cy="616215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3466606" cy="6162155"/>
              <a:chOff x="0" y="0"/>
              <a:chExt cx="1302519" cy="59601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02519" cy="596017"/>
              </a:xfrm>
              <a:custGeom>
                <a:avLst/>
                <a:gdLst/>
                <a:ahLst/>
                <a:cxnLst/>
                <a:rect r="r" b="b" t="t" l="l"/>
                <a:pathLst>
                  <a:path h="596017" w="1302519">
                    <a:moveTo>
                      <a:pt x="25047" y="0"/>
                    </a:moveTo>
                    <a:lnTo>
                      <a:pt x="1277472" y="0"/>
                    </a:lnTo>
                    <a:cubicBezTo>
                      <a:pt x="1284115" y="0"/>
                      <a:pt x="1290485" y="2639"/>
                      <a:pt x="1295183" y="7336"/>
                    </a:cubicBezTo>
                    <a:cubicBezTo>
                      <a:pt x="1299880" y="12033"/>
                      <a:pt x="1302519" y="18404"/>
                      <a:pt x="1302519" y="25047"/>
                    </a:cubicBezTo>
                    <a:lnTo>
                      <a:pt x="1302519" y="570970"/>
                    </a:lnTo>
                    <a:cubicBezTo>
                      <a:pt x="1302519" y="584803"/>
                      <a:pt x="1291305" y="596017"/>
                      <a:pt x="1277472" y="596017"/>
                    </a:cubicBezTo>
                    <a:lnTo>
                      <a:pt x="25047" y="596017"/>
                    </a:lnTo>
                    <a:cubicBezTo>
                      <a:pt x="11214" y="596017"/>
                      <a:pt x="0" y="584803"/>
                      <a:pt x="0" y="570970"/>
                    </a:cubicBezTo>
                    <a:lnTo>
                      <a:pt x="0" y="25047"/>
                    </a:lnTo>
                    <a:cubicBezTo>
                      <a:pt x="0" y="11214"/>
                      <a:pt x="11214" y="0"/>
                      <a:pt x="25047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1302519" cy="653167"/>
              </a:xfrm>
              <a:prstGeom prst="rect">
                <a:avLst/>
              </a:prstGeom>
            </p:spPr>
            <p:txBody>
              <a:bodyPr anchor="ctr" rtlCol="false" tIns="72628" lIns="72628" bIns="72628" rIns="72628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73771" y="405659"/>
              <a:ext cx="12719065" cy="52841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90"/>
                </a:lnSpc>
              </a:pPr>
              <a:r>
                <a:rPr lang="en-US" sz="2278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Objetivo: </a:t>
              </a:r>
            </a:p>
            <a:p>
              <a:pPr algn="l" marL="491957" indent="-245979" lvl="1">
                <a:lnSpc>
                  <a:spcPts val="3190"/>
                </a:lnSpc>
                <a:buFont typeface="Arial"/>
                <a:buChar char="•"/>
              </a:pPr>
              <a:r>
                <a:rPr lang="en-US" sz="227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Evaluar el comportamiento del sistema bajo alta concurrencia en /ots/.</a:t>
              </a:r>
            </a:p>
            <a:p>
              <a:pPr algn="l">
                <a:lnSpc>
                  <a:spcPts val="3190"/>
                </a:lnSpc>
              </a:pPr>
              <a:r>
                <a:rPr lang="en-US" sz="2278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Procedimiento: </a:t>
              </a:r>
            </a:p>
            <a:p>
              <a:pPr algn="l" marL="491957" indent="-245979" lvl="1">
                <a:lnSpc>
                  <a:spcPts val="3190"/>
                </a:lnSpc>
                <a:buFont typeface="Arial"/>
                <a:buChar char="•"/>
              </a:pPr>
              <a:r>
                <a:rPr lang="en-US" sz="227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Prueba de estrés con k6, aumentando usuarios virtuales a 1, 10, 30, 50 </a:t>
              </a:r>
              <a:r>
                <a:rPr lang="en-US" sz="227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y 80, 30 s por nivel.</a:t>
              </a:r>
            </a:p>
            <a:p>
              <a:pPr algn="l">
                <a:lnSpc>
                  <a:spcPts val="3190"/>
                </a:lnSpc>
              </a:pPr>
              <a:r>
                <a:rPr lang="en-US" sz="2278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Resultados:</a:t>
              </a:r>
            </a:p>
            <a:p>
              <a:pPr algn="l" marL="491957" indent="-245979" lvl="1">
                <a:lnSpc>
                  <a:spcPts val="3190"/>
                </a:lnSpc>
                <a:buFont typeface="Arial"/>
                <a:buChar char="•"/>
              </a:pPr>
              <a:r>
                <a:rPr lang="en-US" sz="227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5.110 iteraciones, 10.220 solicitudes HTTP, 0% errores.</a:t>
              </a:r>
            </a:p>
            <a:p>
              <a:pPr algn="l" marL="491957" indent="-245979" lvl="1">
                <a:lnSpc>
                  <a:spcPts val="3190"/>
                </a:lnSpc>
                <a:buFont typeface="Arial"/>
                <a:buChar char="•"/>
              </a:pPr>
              <a:r>
                <a:rPr lang="en-US" sz="227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Tiempo promedio: 2,56 ms, p95: 5,99 ms, máximo: 61,31 ms (&lt; 5.000 ms).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3438" y="1532649"/>
            <a:ext cx="7378839" cy="7948103"/>
            <a:chOff x="0" y="0"/>
            <a:chExt cx="9838452" cy="105974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547048" y="2031550"/>
              <a:ext cx="427885" cy="321448"/>
            </a:xfrm>
            <a:custGeom>
              <a:avLst/>
              <a:gdLst/>
              <a:ahLst/>
              <a:cxnLst/>
              <a:rect r="r" b="b" t="t" l="l"/>
              <a:pathLst>
                <a:path h="321448" w="427885">
                  <a:moveTo>
                    <a:pt x="0" y="0"/>
                  </a:moveTo>
                  <a:lnTo>
                    <a:pt x="427885" y="0"/>
                  </a:lnTo>
                  <a:lnTo>
                    <a:pt x="427885" y="321448"/>
                  </a:lnTo>
                  <a:lnTo>
                    <a:pt x="0" y="321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547048" y="3626345"/>
              <a:ext cx="427885" cy="321448"/>
            </a:xfrm>
            <a:custGeom>
              <a:avLst/>
              <a:gdLst/>
              <a:ahLst/>
              <a:cxnLst/>
              <a:rect r="r" b="b" t="t" l="l"/>
              <a:pathLst>
                <a:path h="321448" w="427885">
                  <a:moveTo>
                    <a:pt x="0" y="0"/>
                  </a:moveTo>
                  <a:lnTo>
                    <a:pt x="427885" y="0"/>
                  </a:lnTo>
                  <a:lnTo>
                    <a:pt x="427885" y="321448"/>
                  </a:lnTo>
                  <a:lnTo>
                    <a:pt x="0" y="321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0">
              <a:off x="0" y="794036"/>
              <a:ext cx="9838452" cy="5940085"/>
              <a:chOff x="0" y="0"/>
              <a:chExt cx="5065225" cy="305819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065225" cy="3058192"/>
              </a:xfrm>
              <a:custGeom>
                <a:avLst/>
                <a:gdLst/>
                <a:ahLst/>
                <a:cxnLst/>
                <a:rect r="r" b="b" t="t" l="l"/>
                <a:pathLst>
                  <a:path h="3058192" w="5065225">
                    <a:moveTo>
                      <a:pt x="0" y="0"/>
                    </a:moveTo>
                    <a:lnTo>
                      <a:pt x="5065225" y="0"/>
                    </a:lnTo>
                    <a:lnTo>
                      <a:pt x="5065225" y="3058192"/>
                    </a:lnTo>
                    <a:lnTo>
                      <a:pt x="0" y="305819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5065225" cy="3096292"/>
              </a:xfrm>
              <a:prstGeom prst="rect">
                <a:avLst/>
              </a:prstGeom>
            </p:spPr>
            <p:txBody>
              <a:bodyPr anchor="ctr" rtlCol="false" tIns="32429" lIns="32429" bIns="32429" rIns="3242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392601" y="1286874"/>
              <a:ext cx="9056503" cy="4935794"/>
            </a:xfrm>
            <a:custGeom>
              <a:avLst/>
              <a:gdLst/>
              <a:ahLst/>
              <a:cxnLst/>
              <a:rect r="r" b="b" t="t" l="l"/>
              <a:pathLst>
                <a:path h="4935794" w="9056503">
                  <a:moveTo>
                    <a:pt x="0" y="0"/>
                  </a:moveTo>
                  <a:lnTo>
                    <a:pt x="9056504" y="0"/>
                  </a:lnTo>
                  <a:lnTo>
                    <a:pt x="9056504" y="4935795"/>
                  </a:lnTo>
                  <a:lnTo>
                    <a:pt x="0" y="4935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0" y="-38100"/>
              <a:ext cx="9838452" cy="65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6"/>
                </a:lnSpc>
              </a:pPr>
              <a:r>
                <a:rPr lang="en-US" b="true" sz="314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Sobre carga en lista de OTs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6547048" y="7449720"/>
              <a:ext cx="427885" cy="321448"/>
            </a:xfrm>
            <a:custGeom>
              <a:avLst/>
              <a:gdLst/>
              <a:ahLst/>
              <a:cxnLst/>
              <a:rect r="r" b="b" t="t" l="l"/>
              <a:pathLst>
                <a:path h="321448" w="427885">
                  <a:moveTo>
                    <a:pt x="0" y="0"/>
                  </a:moveTo>
                  <a:lnTo>
                    <a:pt x="427885" y="0"/>
                  </a:lnTo>
                  <a:lnTo>
                    <a:pt x="427885" y="321448"/>
                  </a:lnTo>
                  <a:lnTo>
                    <a:pt x="0" y="321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547048" y="9044515"/>
              <a:ext cx="427885" cy="321448"/>
            </a:xfrm>
            <a:custGeom>
              <a:avLst/>
              <a:gdLst/>
              <a:ahLst/>
              <a:cxnLst/>
              <a:rect r="r" b="b" t="t" l="l"/>
              <a:pathLst>
                <a:path h="321448" w="427885">
                  <a:moveTo>
                    <a:pt x="0" y="0"/>
                  </a:moveTo>
                  <a:lnTo>
                    <a:pt x="427885" y="0"/>
                  </a:lnTo>
                  <a:lnTo>
                    <a:pt x="427885" y="321449"/>
                  </a:lnTo>
                  <a:lnTo>
                    <a:pt x="0" y="321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3" id="23"/>
            <p:cNvGrpSpPr/>
            <p:nvPr/>
          </p:nvGrpSpPr>
          <p:grpSpPr>
            <a:xfrm rot="0">
              <a:off x="0" y="6401478"/>
              <a:ext cx="9838452" cy="4195993"/>
              <a:chOff x="0" y="0"/>
              <a:chExt cx="5065225" cy="216026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065225" cy="2160264"/>
              </a:xfrm>
              <a:custGeom>
                <a:avLst/>
                <a:gdLst/>
                <a:ahLst/>
                <a:cxnLst/>
                <a:rect r="r" b="b" t="t" l="l"/>
                <a:pathLst>
                  <a:path h="2160264" w="5065225">
                    <a:moveTo>
                      <a:pt x="0" y="0"/>
                    </a:moveTo>
                    <a:lnTo>
                      <a:pt x="5065225" y="0"/>
                    </a:lnTo>
                    <a:lnTo>
                      <a:pt x="5065225" y="2160264"/>
                    </a:lnTo>
                    <a:lnTo>
                      <a:pt x="0" y="216026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CDFFD8">
                      <a:alpha val="100000"/>
                    </a:srgbClr>
                  </a:gs>
                  <a:gs pos="100000">
                    <a:srgbClr val="94B9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5065225" cy="2198364"/>
              </a:xfrm>
              <a:prstGeom prst="rect">
                <a:avLst/>
              </a:prstGeom>
            </p:spPr>
            <p:txBody>
              <a:bodyPr anchor="ctr" rtlCol="false" tIns="32429" lIns="32429" bIns="32429" rIns="3242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390974" y="6753705"/>
              <a:ext cx="9056503" cy="3396189"/>
            </a:xfrm>
            <a:custGeom>
              <a:avLst/>
              <a:gdLst/>
              <a:ahLst/>
              <a:cxnLst/>
              <a:rect r="r" b="b" t="t" l="l"/>
              <a:pathLst>
                <a:path h="3396189" w="9056503">
                  <a:moveTo>
                    <a:pt x="0" y="0"/>
                  </a:moveTo>
                  <a:lnTo>
                    <a:pt x="9056503" y="0"/>
                  </a:lnTo>
                  <a:lnTo>
                    <a:pt x="9056503" y="3396189"/>
                  </a:lnTo>
                  <a:lnTo>
                    <a:pt x="0" y="3396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4857161" y="333375"/>
            <a:ext cx="11588990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Pruebas de Estrés </a:t>
            </a:r>
          </a:p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(Stress Testing)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99879">
            <a:off x="6440407" y="-1370488"/>
            <a:ext cx="16291319" cy="4335087"/>
            <a:chOff x="0" y="0"/>
            <a:chExt cx="4290718" cy="1141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90718" cy="1141751"/>
            </a:xfrm>
            <a:custGeom>
              <a:avLst/>
              <a:gdLst/>
              <a:ahLst/>
              <a:cxnLst/>
              <a:rect r="r" b="b" t="t" l="l"/>
              <a:pathLst>
                <a:path h="1141751" w="4290718">
                  <a:moveTo>
                    <a:pt x="2145359" y="0"/>
                  </a:moveTo>
                  <a:cubicBezTo>
                    <a:pt x="960510" y="0"/>
                    <a:pt x="0" y="255590"/>
                    <a:pt x="0" y="570876"/>
                  </a:cubicBezTo>
                  <a:cubicBezTo>
                    <a:pt x="0" y="886162"/>
                    <a:pt x="960510" y="1141751"/>
                    <a:pt x="2145359" y="1141751"/>
                  </a:cubicBezTo>
                  <a:cubicBezTo>
                    <a:pt x="3330208" y="1141751"/>
                    <a:pt x="4290718" y="886162"/>
                    <a:pt x="4290718" y="570876"/>
                  </a:cubicBezTo>
                  <a:cubicBezTo>
                    <a:pt x="4290718" y="255590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402255" y="49889"/>
              <a:ext cx="3486208" cy="984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9672369">
            <a:off x="-4118858" y="-1813665"/>
            <a:ext cx="16291319" cy="4798912"/>
            <a:chOff x="0" y="0"/>
            <a:chExt cx="4290718" cy="12639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90718" cy="1263911"/>
            </a:xfrm>
            <a:custGeom>
              <a:avLst/>
              <a:gdLst/>
              <a:ahLst/>
              <a:cxnLst/>
              <a:rect r="r" b="b" t="t" l="l"/>
              <a:pathLst>
                <a:path h="1263911" w="4290718">
                  <a:moveTo>
                    <a:pt x="2145359" y="0"/>
                  </a:moveTo>
                  <a:cubicBezTo>
                    <a:pt x="960510" y="0"/>
                    <a:pt x="0" y="282936"/>
                    <a:pt x="0" y="631956"/>
                  </a:cubicBezTo>
                  <a:cubicBezTo>
                    <a:pt x="0" y="980975"/>
                    <a:pt x="960510" y="1263911"/>
                    <a:pt x="2145359" y="1263911"/>
                  </a:cubicBezTo>
                  <a:cubicBezTo>
                    <a:pt x="3330208" y="1263911"/>
                    <a:pt x="4290718" y="980975"/>
                    <a:pt x="4290718" y="631956"/>
                  </a:cubicBezTo>
                  <a:cubicBezTo>
                    <a:pt x="4290718" y="282936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402255" y="61342"/>
              <a:ext cx="3486208" cy="1084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034999" y="585792"/>
            <a:ext cx="4218001" cy="4218001"/>
          </a:xfrm>
          <a:custGeom>
            <a:avLst/>
            <a:gdLst/>
            <a:ahLst/>
            <a:cxnLst/>
            <a:rect r="r" b="b" t="t" l="l"/>
            <a:pathLst>
              <a:path h="4218001" w="4218001">
                <a:moveTo>
                  <a:pt x="0" y="0"/>
                </a:moveTo>
                <a:lnTo>
                  <a:pt x="4218002" y="0"/>
                </a:lnTo>
                <a:lnTo>
                  <a:pt x="4218002" y="4218001"/>
                </a:lnTo>
                <a:lnTo>
                  <a:pt x="0" y="4218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55581" y="5645448"/>
            <a:ext cx="16176837" cy="2564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29"/>
              </a:lnSpc>
              <a:spcBef>
                <a:spcPct val="0"/>
              </a:spcBef>
            </a:pPr>
            <a:r>
              <a:rPr lang="en-US" sz="1081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Fase 5 – Implementación y Cierre 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65929" y="212669"/>
            <a:ext cx="3055038" cy="2890829"/>
          </a:xfrm>
          <a:custGeom>
            <a:avLst/>
            <a:gdLst/>
            <a:ahLst/>
            <a:cxnLst/>
            <a:rect r="r" b="b" t="t" l="l"/>
            <a:pathLst>
              <a:path h="2890829" w="3055038">
                <a:moveTo>
                  <a:pt x="0" y="0"/>
                </a:moveTo>
                <a:lnTo>
                  <a:pt x="3055037" y="0"/>
                </a:lnTo>
                <a:lnTo>
                  <a:pt x="3055037" y="2890829"/>
                </a:lnTo>
                <a:lnTo>
                  <a:pt x="0" y="2890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87607" y="2977087"/>
            <a:ext cx="14712786" cy="4332826"/>
            <a:chOff x="0" y="0"/>
            <a:chExt cx="19617048" cy="577710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9617048" cy="5777102"/>
              <a:chOff x="0" y="0"/>
              <a:chExt cx="3662175" cy="107848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662175" cy="1078488"/>
              </a:xfrm>
              <a:custGeom>
                <a:avLst/>
                <a:gdLst/>
                <a:ahLst/>
                <a:cxnLst/>
                <a:rect r="r" b="b" t="t" l="l"/>
                <a:pathLst>
                  <a:path h="1078488" w="3662175">
                    <a:moveTo>
                      <a:pt x="15260" y="0"/>
                    </a:moveTo>
                    <a:lnTo>
                      <a:pt x="3646915" y="0"/>
                    </a:lnTo>
                    <a:cubicBezTo>
                      <a:pt x="3655342" y="0"/>
                      <a:pt x="3662175" y="6832"/>
                      <a:pt x="3662175" y="15260"/>
                    </a:cubicBezTo>
                    <a:lnTo>
                      <a:pt x="3662175" y="1063228"/>
                    </a:lnTo>
                    <a:cubicBezTo>
                      <a:pt x="3662175" y="1067276"/>
                      <a:pt x="3660567" y="1071157"/>
                      <a:pt x="3657705" y="1074019"/>
                    </a:cubicBezTo>
                    <a:cubicBezTo>
                      <a:pt x="3654843" y="1076880"/>
                      <a:pt x="3650962" y="1078488"/>
                      <a:pt x="3646915" y="1078488"/>
                    </a:cubicBezTo>
                    <a:lnTo>
                      <a:pt x="15260" y="1078488"/>
                    </a:lnTo>
                    <a:cubicBezTo>
                      <a:pt x="11213" y="1078488"/>
                      <a:pt x="7331" y="1076880"/>
                      <a:pt x="4470" y="1074019"/>
                    </a:cubicBezTo>
                    <a:cubicBezTo>
                      <a:pt x="1608" y="1071157"/>
                      <a:pt x="0" y="1067276"/>
                      <a:pt x="0" y="1063228"/>
                    </a:cubicBezTo>
                    <a:lnTo>
                      <a:pt x="0" y="15260"/>
                    </a:lnTo>
                    <a:cubicBezTo>
                      <a:pt x="0" y="11213"/>
                      <a:pt x="1608" y="7331"/>
                      <a:pt x="4470" y="4470"/>
                    </a:cubicBezTo>
                    <a:cubicBezTo>
                      <a:pt x="7331" y="1608"/>
                      <a:pt x="11213" y="0"/>
                      <a:pt x="15260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57150"/>
                <a:ext cx="3662175" cy="1135638"/>
              </a:xfrm>
              <a:prstGeom prst="rect">
                <a:avLst/>
              </a:prstGeom>
            </p:spPr>
            <p:txBody>
              <a:bodyPr anchor="ctr" rtlCol="false" tIns="53752" lIns="53752" bIns="53752" rIns="53752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776693" y="663462"/>
              <a:ext cx="18063661" cy="44692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3"/>
                </a:lnSpc>
              </a:pPr>
              <a:r>
                <a:rPr lang="en-US" sz="317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Estos son los documentos y actividades que realizaremos a continuación.</a:t>
              </a:r>
            </a:p>
            <a:p>
              <a:pPr algn="l">
                <a:lnSpc>
                  <a:spcPts val="3333"/>
                </a:lnSpc>
              </a:pPr>
              <a:r>
                <a:rPr lang="en-US" sz="3174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Documentación:</a:t>
              </a:r>
            </a:p>
            <a:p>
              <a:pPr algn="l" marL="685334" indent="-342667" lvl="1">
                <a:lnSpc>
                  <a:spcPts val="3333"/>
                </a:lnSpc>
                <a:buFont typeface="Arial"/>
                <a:buChar char="•"/>
              </a:pPr>
              <a:r>
                <a:rPr lang="en-US" sz="317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Documentación de resultados y correcciones.</a:t>
              </a:r>
            </a:p>
            <a:p>
              <a:pPr algn="l" marL="685334" indent="-342667" lvl="1">
                <a:lnSpc>
                  <a:spcPts val="3333"/>
                </a:lnSpc>
                <a:buFont typeface="Arial"/>
                <a:buChar char="•"/>
              </a:pPr>
              <a:r>
                <a:rPr lang="en-US" sz="317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Revisión de la documentación del proyecto.</a:t>
              </a:r>
            </a:p>
            <a:p>
              <a:pPr algn="l" marL="685334" indent="-342667" lvl="1">
                <a:lnSpc>
                  <a:spcPts val="3333"/>
                </a:lnSpc>
                <a:buFont typeface="Arial"/>
                <a:buChar char="•"/>
              </a:pPr>
              <a:r>
                <a:rPr lang="en-US" sz="317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Plan de implantación y soporte.</a:t>
              </a:r>
            </a:p>
            <a:p>
              <a:pPr algn="l" marL="685334" indent="-342667" lvl="1">
                <a:lnSpc>
                  <a:spcPts val="3333"/>
                </a:lnSpc>
                <a:buFont typeface="Arial"/>
                <a:buChar char="•"/>
              </a:pPr>
              <a:r>
                <a:rPr lang="en-US" sz="317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Manuales de usuario y administrador.</a:t>
              </a:r>
            </a:p>
            <a:p>
              <a:pPr algn="l">
                <a:lnSpc>
                  <a:spcPts val="333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443146" y="-973850"/>
            <a:ext cx="5224852" cy="2631933"/>
          </a:xfrm>
          <a:custGeom>
            <a:avLst/>
            <a:gdLst/>
            <a:ahLst/>
            <a:cxnLst/>
            <a:rect r="r" b="b" t="t" l="l"/>
            <a:pathLst>
              <a:path h="2631933" w="5224852">
                <a:moveTo>
                  <a:pt x="0" y="0"/>
                </a:moveTo>
                <a:lnTo>
                  <a:pt x="5224852" y="0"/>
                </a:lnTo>
                <a:lnTo>
                  <a:pt x="5224852" y="2631933"/>
                </a:lnTo>
                <a:lnTo>
                  <a:pt x="0" y="26319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66520" y="8805823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953926" y="8624848"/>
            <a:ext cx="4091100" cy="2060824"/>
          </a:xfrm>
          <a:custGeom>
            <a:avLst/>
            <a:gdLst/>
            <a:ahLst/>
            <a:cxnLst/>
            <a:rect r="r" b="b" t="t" l="l"/>
            <a:pathLst>
              <a:path h="2060824" w="4091100">
                <a:moveTo>
                  <a:pt x="0" y="0"/>
                </a:moveTo>
                <a:lnTo>
                  <a:pt x="4091100" y="0"/>
                </a:lnTo>
                <a:lnTo>
                  <a:pt x="4091100" y="2060824"/>
                </a:lnTo>
                <a:lnTo>
                  <a:pt x="0" y="2060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21576" t="0" r="-45714" b="-41536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667998" y="1393186"/>
            <a:ext cx="2453110" cy="1235714"/>
          </a:xfrm>
          <a:custGeom>
            <a:avLst/>
            <a:gdLst/>
            <a:ahLst/>
            <a:cxnLst/>
            <a:rect r="r" b="b" t="t" l="l"/>
            <a:pathLst>
              <a:path h="1235714" w="2453110">
                <a:moveTo>
                  <a:pt x="0" y="0"/>
                </a:moveTo>
                <a:lnTo>
                  <a:pt x="2453111" y="0"/>
                </a:lnTo>
                <a:lnTo>
                  <a:pt x="2453111" y="1235714"/>
                </a:lnTo>
                <a:lnTo>
                  <a:pt x="0" y="1235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21576" t="0" r="-45714" b="-415363"/>
            </a:stretch>
          </a:blipFill>
        </p:spPr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22733">
            <a:off x="-4280450" y="6963500"/>
            <a:ext cx="16617573" cy="6647001"/>
            <a:chOff x="0" y="0"/>
            <a:chExt cx="4376645" cy="1750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6645" cy="1750651"/>
            </a:xfrm>
            <a:custGeom>
              <a:avLst/>
              <a:gdLst/>
              <a:ahLst/>
              <a:cxnLst/>
              <a:rect r="r" b="b" t="t" l="l"/>
              <a:pathLst>
                <a:path h="1750651" w="4376645">
                  <a:moveTo>
                    <a:pt x="2188322" y="0"/>
                  </a:moveTo>
                  <a:cubicBezTo>
                    <a:pt x="979745" y="0"/>
                    <a:pt x="0" y="391896"/>
                    <a:pt x="0" y="875325"/>
                  </a:cubicBezTo>
                  <a:cubicBezTo>
                    <a:pt x="0" y="1358754"/>
                    <a:pt x="979745" y="1750651"/>
                    <a:pt x="2188322" y="1750651"/>
                  </a:cubicBezTo>
                  <a:cubicBezTo>
                    <a:pt x="3396900" y="1750651"/>
                    <a:pt x="4376645" y="1358754"/>
                    <a:pt x="4376645" y="875325"/>
                  </a:cubicBezTo>
                  <a:cubicBezTo>
                    <a:pt x="4376645" y="391896"/>
                    <a:pt x="3396900" y="0"/>
                    <a:pt x="2188322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410310" y="106973"/>
              <a:ext cx="3556024" cy="1479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92315">
            <a:off x="-5976628" y="-4215689"/>
            <a:ext cx="16617573" cy="6647001"/>
            <a:chOff x="0" y="0"/>
            <a:chExt cx="4376645" cy="1750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6645" cy="1750651"/>
            </a:xfrm>
            <a:custGeom>
              <a:avLst/>
              <a:gdLst/>
              <a:ahLst/>
              <a:cxnLst/>
              <a:rect r="r" b="b" t="t" l="l"/>
              <a:pathLst>
                <a:path h="1750651" w="4376645">
                  <a:moveTo>
                    <a:pt x="2188322" y="0"/>
                  </a:moveTo>
                  <a:cubicBezTo>
                    <a:pt x="979745" y="0"/>
                    <a:pt x="0" y="391896"/>
                    <a:pt x="0" y="875325"/>
                  </a:cubicBezTo>
                  <a:cubicBezTo>
                    <a:pt x="0" y="1358754"/>
                    <a:pt x="979745" y="1750651"/>
                    <a:pt x="2188322" y="1750651"/>
                  </a:cubicBezTo>
                  <a:cubicBezTo>
                    <a:pt x="3396900" y="1750651"/>
                    <a:pt x="4376645" y="1358754"/>
                    <a:pt x="4376645" y="875325"/>
                  </a:cubicBezTo>
                  <a:cubicBezTo>
                    <a:pt x="4376645" y="391896"/>
                    <a:pt x="3396900" y="0"/>
                    <a:pt x="2188322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410310" y="106973"/>
              <a:ext cx="3556024" cy="1479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2043422"/>
            <a:ext cx="6231313" cy="6200157"/>
          </a:xfrm>
          <a:custGeom>
            <a:avLst/>
            <a:gdLst/>
            <a:ahLst/>
            <a:cxnLst/>
            <a:rect r="r" b="b" t="t" l="l"/>
            <a:pathLst>
              <a:path h="6200157" w="6231313">
                <a:moveTo>
                  <a:pt x="0" y="0"/>
                </a:moveTo>
                <a:lnTo>
                  <a:pt x="6231313" y="0"/>
                </a:lnTo>
                <a:lnTo>
                  <a:pt x="6231313" y="6200156"/>
                </a:lnTo>
                <a:lnTo>
                  <a:pt x="0" y="6200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479655" y="3039572"/>
            <a:ext cx="10594576" cy="4207855"/>
            <a:chOff x="0" y="0"/>
            <a:chExt cx="14126101" cy="561047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1442184"/>
              <a:ext cx="14126101" cy="4168289"/>
              <a:chOff x="0" y="0"/>
              <a:chExt cx="2637107" cy="77815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637107" cy="778150"/>
              </a:xfrm>
              <a:custGeom>
                <a:avLst/>
                <a:gdLst/>
                <a:ahLst/>
                <a:cxnLst/>
                <a:rect r="r" b="b" t="t" l="l"/>
                <a:pathLst>
                  <a:path h="778150" w="2637107">
                    <a:moveTo>
                      <a:pt x="21192" y="0"/>
                    </a:moveTo>
                    <a:lnTo>
                      <a:pt x="2615915" y="0"/>
                    </a:lnTo>
                    <a:cubicBezTo>
                      <a:pt x="2627619" y="0"/>
                      <a:pt x="2637107" y="9488"/>
                      <a:pt x="2637107" y="21192"/>
                    </a:cubicBezTo>
                    <a:lnTo>
                      <a:pt x="2637107" y="756958"/>
                    </a:lnTo>
                    <a:cubicBezTo>
                      <a:pt x="2637107" y="768662"/>
                      <a:pt x="2627619" y="778150"/>
                      <a:pt x="2615915" y="778150"/>
                    </a:cubicBezTo>
                    <a:lnTo>
                      <a:pt x="21192" y="778150"/>
                    </a:lnTo>
                    <a:cubicBezTo>
                      <a:pt x="9488" y="778150"/>
                      <a:pt x="0" y="768662"/>
                      <a:pt x="0" y="756958"/>
                    </a:cubicBezTo>
                    <a:lnTo>
                      <a:pt x="0" y="21192"/>
                    </a:lnTo>
                    <a:cubicBezTo>
                      <a:pt x="0" y="9488"/>
                      <a:pt x="9488" y="0"/>
                      <a:pt x="21192" y="0"/>
                    </a:cubicBezTo>
                    <a:close/>
                  </a:path>
                </a:pathLst>
              </a:custGeom>
              <a:solidFill>
                <a:srgbClr val="D0EA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2637107" cy="835300"/>
              </a:xfrm>
              <a:prstGeom prst="rect">
                <a:avLst/>
              </a:prstGeom>
            </p:spPr>
            <p:txBody>
              <a:bodyPr anchor="ctr" rtlCol="false" tIns="53752" lIns="53752" bIns="53752" rIns="53752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678920" y="104775"/>
              <a:ext cx="8768261" cy="1114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Conclusión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06217" y="2087207"/>
              <a:ext cx="13513668" cy="28115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84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La plataforma desarrollada moderniza y digitaliza el ingreso y gestión de vehículos en los talleres de PepsiCo Chile, integrando funcionalidades clave como control de OTs, inventario, reportes y seguridad. Gracias a un proceso de análisis, diseño, desarrollo y pruebas completo, el sistema demuestra estabilidad, buen rendimiento y cumplimiento de los requerimientos operativos, quedando preparado para su implementación en el taller piloto.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76527">
            <a:off x="6952427" y="6880168"/>
            <a:ext cx="16291319" cy="6272655"/>
            <a:chOff x="0" y="0"/>
            <a:chExt cx="4290718" cy="16520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90718" cy="1652057"/>
            </a:xfrm>
            <a:custGeom>
              <a:avLst/>
              <a:gdLst/>
              <a:ahLst/>
              <a:cxnLst/>
              <a:rect r="r" b="b" t="t" l="l"/>
              <a:pathLst>
                <a:path h="1652057" w="4290718">
                  <a:moveTo>
                    <a:pt x="2145359" y="0"/>
                  </a:moveTo>
                  <a:cubicBezTo>
                    <a:pt x="960510" y="0"/>
                    <a:pt x="0" y="369826"/>
                    <a:pt x="0" y="826029"/>
                  </a:cubicBezTo>
                  <a:cubicBezTo>
                    <a:pt x="0" y="1282232"/>
                    <a:pt x="960510" y="1652057"/>
                    <a:pt x="2145359" y="1652057"/>
                  </a:cubicBezTo>
                  <a:cubicBezTo>
                    <a:pt x="3330208" y="1652057"/>
                    <a:pt x="4290718" y="1282232"/>
                    <a:pt x="4290718" y="826029"/>
                  </a:cubicBezTo>
                  <a:cubicBezTo>
                    <a:pt x="4290718" y="369826"/>
                    <a:pt x="3330208" y="0"/>
                    <a:pt x="2145359" y="0"/>
                  </a:cubicBezTo>
                  <a:close/>
                </a:path>
              </a:pathLst>
            </a:custGeom>
            <a:solidFill>
              <a:srgbClr val="D0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402255" y="97730"/>
              <a:ext cx="3486208" cy="1399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931256" y="2964223"/>
            <a:ext cx="6333662" cy="6294077"/>
          </a:xfrm>
          <a:custGeom>
            <a:avLst/>
            <a:gdLst/>
            <a:ahLst/>
            <a:cxnLst/>
            <a:rect r="r" b="b" t="t" l="l"/>
            <a:pathLst>
              <a:path h="6294077" w="6333662">
                <a:moveTo>
                  <a:pt x="0" y="0"/>
                </a:moveTo>
                <a:lnTo>
                  <a:pt x="6333662" y="0"/>
                </a:lnTo>
                <a:lnTo>
                  <a:pt x="6333662" y="6294077"/>
                </a:lnTo>
                <a:lnTo>
                  <a:pt x="0" y="6294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47868" y="3285520"/>
            <a:ext cx="8162588" cy="2825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99"/>
              </a:lnSpc>
              <a:spcBef>
                <a:spcPct val="0"/>
              </a:spcBef>
            </a:pPr>
            <a:r>
              <a:rPr lang="en-US" sz="99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¡Gracias por su atencion!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DAG4nxA18wY</dc:identifier>
  <dcterms:modified xsi:type="dcterms:W3CDTF">2011-08-01T06:04:30Z</dcterms:modified>
  <cp:revision>1</cp:revision>
  <dc:title>EVA3</dc:title>
</cp:coreProperties>
</file>